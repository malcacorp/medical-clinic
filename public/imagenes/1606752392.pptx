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omments/comment1.xml" ContentType="application/vnd.openxmlformats-officedocument.presentationml.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79" r:id="rId7"/>
    <p:sldId id="261" r:id="rId8"/>
    <p:sldId id="262" r:id="rId9"/>
    <p:sldId id="263" r:id="rId10"/>
    <p:sldId id="264" r:id="rId11"/>
    <p:sldId id="265" r:id="rId12"/>
    <p:sldId id="266" r:id="rId13"/>
    <p:sldId id="280" r:id="rId14"/>
    <p:sldId id="268" r:id="rId15"/>
    <p:sldId id="281" r:id="rId16"/>
    <p:sldId id="286" r:id="rId17"/>
    <p:sldId id="289" r:id="rId18"/>
    <p:sldId id="290" r:id="rId19"/>
    <p:sldId id="291" r:id="rId20"/>
    <p:sldId id="269" r:id="rId21"/>
    <p:sldId id="283" r:id="rId22"/>
    <p:sldId id="270" r:id="rId23"/>
    <p:sldId id="282" r:id="rId24"/>
    <p:sldId id="271" r:id="rId25"/>
    <p:sldId id="284" r:id="rId26"/>
    <p:sldId id="272" r:id="rId27"/>
    <p:sldId id="285" r:id="rId28"/>
    <p:sldId id="273" r:id="rId29"/>
    <p:sldId id="274" r:id="rId30"/>
    <p:sldId id="275" r:id="rId31"/>
    <p:sldId id="292" r:id="rId32"/>
    <p:sldId id="297" r:id="rId33"/>
    <p:sldId id="293" r:id="rId34"/>
    <p:sldId id="294" r:id="rId35"/>
    <p:sldId id="295" r:id="rId36"/>
    <p:sldId id="296" r:id="rId37"/>
    <p:sldId id="298" r:id="rId38"/>
    <p:sldId id="300" r:id="rId39"/>
    <p:sldId id="301" r:id="rId40"/>
    <p:sldId id="302" r:id="rId41"/>
    <p:sldId id="304" r:id="rId42"/>
    <p:sldId id="305" r:id="rId43"/>
    <p:sldId id="307" r:id="rId44"/>
    <p:sldId id="308" r:id="rId45"/>
    <p:sldId id="309" r:id="rId46"/>
    <p:sldId id="310" r:id="rId47"/>
    <p:sldId id="311" r:id="rId48"/>
    <p:sldId id="312" r:id="rId49"/>
    <p:sldId id="318" r:id="rId50"/>
    <p:sldId id="313" r:id="rId51"/>
    <p:sldId id="315" r:id="rId52"/>
    <p:sldId id="316" r:id="rId53"/>
    <p:sldId id="317" r:id="rId54"/>
    <p:sldId id="319" r:id="rId55"/>
    <p:sldId id="320" r:id="rId56"/>
    <p:sldId id="321" r:id="rId57"/>
    <p:sldId id="322" r:id="rId58"/>
    <p:sldId id="324" r:id="rId59"/>
    <p:sldId id="326" r:id="rId60"/>
    <p:sldId id="323" r:id="rId61"/>
    <p:sldId id="327" r:id="rId62"/>
    <p:sldId id="328" r:id="rId63"/>
    <p:sldId id="325" r:id="rId64"/>
    <p:sldId id="329" r:id="rId6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22B491A2-B530-4595-A6EA-7E5C2D2B2522}">
          <p14:sldIdLst>
            <p14:sldId id="256"/>
            <p14:sldId id="257"/>
            <p14:sldId id="258"/>
            <p14:sldId id="259"/>
            <p14:sldId id="260"/>
            <p14:sldId id="279"/>
            <p14:sldId id="261"/>
            <p14:sldId id="262"/>
            <p14:sldId id="263"/>
            <p14:sldId id="264"/>
            <p14:sldId id="265"/>
            <p14:sldId id="266"/>
            <p14:sldId id="280"/>
            <p14:sldId id="268"/>
            <p14:sldId id="281"/>
            <p14:sldId id="286"/>
            <p14:sldId id="289"/>
            <p14:sldId id="290"/>
            <p14:sldId id="291"/>
            <p14:sldId id="269"/>
            <p14:sldId id="283"/>
            <p14:sldId id="270"/>
            <p14:sldId id="282"/>
            <p14:sldId id="271"/>
            <p14:sldId id="284"/>
            <p14:sldId id="272"/>
            <p14:sldId id="285"/>
            <p14:sldId id="273"/>
            <p14:sldId id="274"/>
            <p14:sldId id="275"/>
          </p14:sldIdLst>
        </p14:section>
        <p14:section name="Sección sin título" id="{0A6369E0-AD90-46B1-A611-472A5672717A}">
          <p14:sldIdLst>
            <p14:sldId id="292"/>
            <p14:sldId id="297"/>
            <p14:sldId id="293"/>
            <p14:sldId id="294"/>
            <p14:sldId id="295"/>
            <p14:sldId id="296"/>
            <p14:sldId id="298"/>
            <p14:sldId id="300"/>
            <p14:sldId id="301"/>
            <p14:sldId id="302"/>
            <p14:sldId id="304"/>
            <p14:sldId id="305"/>
            <p14:sldId id="307"/>
            <p14:sldId id="308"/>
            <p14:sldId id="309"/>
            <p14:sldId id="310"/>
            <p14:sldId id="311"/>
            <p14:sldId id="312"/>
            <p14:sldId id="318"/>
            <p14:sldId id="313"/>
            <p14:sldId id="315"/>
            <p14:sldId id="316"/>
            <p14:sldId id="317"/>
            <p14:sldId id="319"/>
            <p14:sldId id="320"/>
            <p14:sldId id="321"/>
            <p14:sldId id="322"/>
            <p14:sldId id="324"/>
            <p14:sldId id="326"/>
            <p14:sldId id="323"/>
            <p14:sldId id="327"/>
            <p14:sldId id="328"/>
            <p14:sldId id="325"/>
            <p14:sldId id="329"/>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uario" initials="u" lastIdx="3" clrIdx="0">
    <p:extLst>
      <p:ext uri="{19B8F6BF-5375-455C-9EA6-DF929625EA0E}">
        <p15:presenceInfo xmlns:p15="http://schemas.microsoft.com/office/powerpoint/2012/main" userId="usuari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3" autoAdjust="0"/>
    <p:restoredTop sz="94394" autoAdjust="0"/>
  </p:normalViewPr>
  <p:slideViewPr>
    <p:cSldViewPr snapToGrid="0">
      <p:cViewPr varScale="1">
        <p:scale>
          <a:sx n="70" d="100"/>
          <a:sy n="70" d="100"/>
        </p:scale>
        <p:origin x="64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0-11-22T19:29:21.238" idx="1">
    <p:pos x="7796" y="2596"/>
    <p:text/>
    <p:extLst>
      <p:ext uri="{C676402C-5697-4E1C-873F-D02D1690AC5C}">
        <p15:threadingInfo xmlns:p15="http://schemas.microsoft.com/office/powerpoint/2012/main" timeZoneBias="240"/>
      </p:ext>
    </p:extLst>
  </p:cm>
</p: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EF90980-8C9C-462E-9A37-ADB689521720}" type="doc">
      <dgm:prSet loTypeId="urn:microsoft.com/office/officeart/2005/8/layout/hProcess9" loCatId="process" qsTypeId="urn:microsoft.com/office/officeart/2005/8/quickstyle/simple1" qsCatId="simple" csTypeId="urn:microsoft.com/office/officeart/2005/8/colors/accent1_2" csCatId="accent1" phldr="1"/>
      <dgm:spPr/>
    </dgm:pt>
    <dgm:pt modelId="{2FE33E53-12A8-449C-99F2-C4395CB13BB2}">
      <dgm:prSet phldrT="[Texto]"/>
      <dgm:spPr/>
      <dgm:t>
        <a:bodyPr/>
        <a:lstStyle/>
        <a:p>
          <a:r>
            <a:rPr lang="es-ES" dirty="0"/>
            <a:t> Determinar claramente cuáles son las funciones a desarrollar por parte de los profesionales médicos implicados en el servicio de telemedicina propuesto y cuáles son los perﬁles que llevarán a cabo dichas funciones</a:t>
          </a:r>
          <a:endParaRPr lang="es-US" dirty="0"/>
        </a:p>
      </dgm:t>
    </dgm:pt>
    <dgm:pt modelId="{FAAE5884-BEB8-4300-B385-CB515CB36AA3}" type="parTrans" cxnId="{BF0F4A2C-8DB6-442B-9355-3B4C720B90BE}">
      <dgm:prSet/>
      <dgm:spPr/>
      <dgm:t>
        <a:bodyPr/>
        <a:lstStyle/>
        <a:p>
          <a:endParaRPr lang="es-US"/>
        </a:p>
      </dgm:t>
    </dgm:pt>
    <dgm:pt modelId="{2F816F16-B7F1-47BE-9F66-0FDCF1D631D1}" type="sibTrans" cxnId="{BF0F4A2C-8DB6-442B-9355-3B4C720B90BE}">
      <dgm:prSet/>
      <dgm:spPr/>
      <dgm:t>
        <a:bodyPr/>
        <a:lstStyle/>
        <a:p>
          <a:endParaRPr lang="es-US"/>
        </a:p>
      </dgm:t>
    </dgm:pt>
    <dgm:pt modelId="{AE4E36D7-AF42-4ADC-9F5D-ABC55253D240}">
      <dgm:prSet phldrT="[Texto]"/>
      <dgm:spPr/>
      <dgm:t>
        <a:bodyPr/>
        <a:lstStyle/>
        <a:p>
          <a:r>
            <a:rPr lang="es-ES" dirty="0"/>
            <a:t>Establecer un plan de formación completo que incluya todas las habilidades y conocimientos que el equipo de trabajo necesita para llevar a cabo su tarea, incluyendo todos los aspectos comunicativos, éticos, técnicos y sanitarios que lo componen</a:t>
          </a:r>
          <a:endParaRPr lang="es-US" dirty="0"/>
        </a:p>
      </dgm:t>
    </dgm:pt>
    <dgm:pt modelId="{73D7036F-F6EB-4E51-B701-46C89390BA4F}" type="parTrans" cxnId="{D0DBDB1F-DAED-40B4-91E3-1C71F11509CA}">
      <dgm:prSet/>
      <dgm:spPr/>
      <dgm:t>
        <a:bodyPr/>
        <a:lstStyle/>
        <a:p>
          <a:endParaRPr lang="es-US"/>
        </a:p>
      </dgm:t>
    </dgm:pt>
    <dgm:pt modelId="{606ADAB5-2991-4825-8256-CA5D30DDE330}" type="sibTrans" cxnId="{D0DBDB1F-DAED-40B4-91E3-1C71F11509CA}">
      <dgm:prSet/>
      <dgm:spPr/>
      <dgm:t>
        <a:bodyPr/>
        <a:lstStyle/>
        <a:p>
          <a:endParaRPr lang="es-US"/>
        </a:p>
      </dgm:t>
    </dgm:pt>
    <dgm:pt modelId="{B7DF2629-89DE-4C80-8843-02A709EAC50D}">
      <dgm:prSet phldrT="[Texto]"/>
      <dgm:spPr/>
      <dgm:t>
        <a:bodyPr/>
        <a:lstStyle/>
        <a:p>
          <a:r>
            <a:rPr lang="es-ES" dirty="0"/>
            <a:t> Uso de formatos de información y comunicación completos, sistemáticos y estandarizados que permitan la intervención compartida</a:t>
          </a:r>
          <a:endParaRPr lang="es-US" dirty="0"/>
        </a:p>
      </dgm:t>
    </dgm:pt>
    <dgm:pt modelId="{E5002C51-F3F3-43EB-9A54-5428B372B578}" type="parTrans" cxnId="{154D6665-FA8A-41CF-B014-715845B80160}">
      <dgm:prSet/>
      <dgm:spPr/>
      <dgm:t>
        <a:bodyPr/>
        <a:lstStyle/>
        <a:p>
          <a:endParaRPr lang="es-US"/>
        </a:p>
      </dgm:t>
    </dgm:pt>
    <dgm:pt modelId="{926288F1-8CC9-4C7B-9784-3624520BA502}" type="sibTrans" cxnId="{154D6665-FA8A-41CF-B014-715845B80160}">
      <dgm:prSet/>
      <dgm:spPr/>
      <dgm:t>
        <a:bodyPr/>
        <a:lstStyle/>
        <a:p>
          <a:endParaRPr lang="es-US"/>
        </a:p>
      </dgm:t>
    </dgm:pt>
    <dgm:pt modelId="{F650DBEC-A437-40A8-9CE3-6C6DAD96028A}" type="pres">
      <dgm:prSet presAssocID="{2EF90980-8C9C-462E-9A37-ADB689521720}" presName="CompostProcess" presStyleCnt="0">
        <dgm:presLayoutVars>
          <dgm:dir/>
          <dgm:resizeHandles val="exact"/>
        </dgm:presLayoutVars>
      </dgm:prSet>
      <dgm:spPr/>
    </dgm:pt>
    <dgm:pt modelId="{0DC652E4-AFF9-4B4A-9DE4-84C0F5FE3D6F}" type="pres">
      <dgm:prSet presAssocID="{2EF90980-8C9C-462E-9A37-ADB689521720}" presName="arrow" presStyleLbl="bgShp" presStyleIdx="0" presStyleCnt="1"/>
      <dgm:spPr/>
    </dgm:pt>
    <dgm:pt modelId="{83D44C4F-3BE5-4E6B-BB92-0DB5BC469479}" type="pres">
      <dgm:prSet presAssocID="{2EF90980-8C9C-462E-9A37-ADB689521720}" presName="linearProcess" presStyleCnt="0"/>
      <dgm:spPr/>
    </dgm:pt>
    <dgm:pt modelId="{67B6D413-FA6A-471C-8B44-ED74DD1EBBAF}" type="pres">
      <dgm:prSet presAssocID="{2FE33E53-12A8-449C-99F2-C4395CB13BB2}" presName="textNode" presStyleLbl="node1" presStyleIdx="0" presStyleCnt="3" custScaleX="104840" custScaleY="112390">
        <dgm:presLayoutVars>
          <dgm:bulletEnabled val="1"/>
        </dgm:presLayoutVars>
      </dgm:prSet>
      <dgm:spPr/>
    </dgm:pt>
    <dgm:pt modelId="{CFEFEADD-49DB-44C8-93AF-86A0C19DB679}" type="pres">
      <dgm:prSet presAssocID="{2F816F16-B7F1-47BE-9F66-0FDCF1D631D1}" presName="sibTrans" presStyleCnt="0"/>
      <dgm:spPr/>
    </dgm:pt>
    <dgm:pt modelId="{B503910B-0773-4FFB-A3B4-B2FF072D1087}" type="pres">
      <dgm:prSet presAssocID="{AE4E36D7-AF42-4ADC-9F5D-ABC55253D240}" presName="textNode" presStyleLbl="node1" presStyleIdx="1" presStyleCnt="3" custScaleY="109615">
        <dgm:presLayoutVars>
          <dgm:bulletEnabled val="1"/>
        </dgm:presLayoutVars>
      </dgm:prSet>
      <dgm:spPr/>
    </dgm:pt>
    <dgm:pt modelId="{78DF8B48-8152-4B7C-8166-BA6BE13CE3EF}" type="pres">
      <dgm:prSet presAssocID="{606ADAB5-2991-4825-8256-CA5D30DDE330}" presName="sibTrans" presStyleCnt="0"/>
      <dgm:spPr/>
    </dgm:pt>
    <dgm:pt modelId="{57BD5372-2903-4545-B2FC-8A5598E0BB75}" type="pres">
      <dgm:prSet presAssocID="{B7DF2629-89DE-4C80-8843-02A709EAC50D}" presName="textNode" presStyleLbl="node1" presStyleIdx="2" presStyleCnt="3">
        <dgm:presLayoutVars>
          <dgm:bulletEnabled val="1"/>
        </dgm:presLayoutVars>
      </dgm:prSet>
      <dgm:spPr/>
    </dgm:pt>
  </dgm:ptLst>
  <dgm:cxnLst>
    <dgm:cxn modelId="{D0DBDB1F-DAED-40B4-91E3-1C71F11509CA}" srcId="{2EF90980-8C9C-462E-9A37-ADB689521720}" destId="{AE4E36D7-AF42-4ADC-9F5D-ABC55253D240}" srcOrd="1" destOrd="0" parTransId="{73D7036F-F6EB-4E51-B701-46C89390BA4F}" sibTransId="{606ADAB5-2991-4825-8256-CA5D30DDE330}"/>
    <dgm:cxn modelId="{BF0F4A2C-8DB6-442B-9355-3B4C720B90BE}" srcId="{2EF90980-8C9C-462E-9A37-ADB689521720}" destId="{2FE33E53-12A8-449C-99F2-C4395CB13BB2}" srcOrd="0" destOrd="0" parTransId="{FAAE5884-BEB8-4300-B385-CB515CB36AA3}" sibTransId="{2F816F16-B7F1-47BE-9F66-0FDCF1D631D1}"/>
    <dgm:cxn modelId="{154D6665-FA8A-41CF-B014-715845B80160}" srcId="{2EF90980-8C9C-462E-9A37-ADB689521720}" destId="{B7DF2629-89DE-4C80-8843-02A709EAC50D}" srcOrd="2" destOrd="0" parTransId="{E5002C51-F3F3-43EB-9A54-5428B372B578}" sibTransId="{926288F1-8CC9-4C7B-9784-3624520BA502}"/>
    <dgm:cxn modelId="{095B2E66-DF62-400B-8488-FD465C0AD545}" type="presOf" srcId="{2EF90980-8C9C-462E-9A37-ADB689521720}" destId="{F650DBEC-A437-40A8-9CE3-6C6DAD96028A}" srcOrd="0" destOrd="0" presId="urn:microsoft.com/office/officeart/2005/8/layout/hProcess9"/>
    <dgm:cxn modelId="{35E064B8-FCE8-4F2E-9E5D-D3929BC49430}" type="presOf" srcId="{AE4E36D7-AF42-4ADC-9F5D-ABC55253D240}" destId="{B503910B-0773-4FFB-A3B4-B2FF072D1087}" srcOrd="0" destOrd="0" presId="urn:microsoft.com/office/officeart/2005/8/layout/hProcess9"/>
    <dgm:cxn modelId="{527CCEC3-779C-4601-BC74-13A9428626F2}" type="presOf" srcId="{B7DF2629-89DE-4C80-8843-02A709EAC50D}" destId="{57BD5372-2903-4545-B2FC-8A5598E0BB75}" srcOrd="0" destOrd="0" presId="urn:microsoft.com/office/officeart/2005/8/layout/hProcess9"/>
    <dgm:cxn modelId="{3C4D33DE-56F1-4A48-845A-1FA9F0EAB23E}" type="presOf" srcId="{2FE33E53-12A8-449C-99F2-C4395CB13BB2}" destId="{67B6D413-FA6A-471C-8B44-ED74DD1EBBAF}" srcOrd="0" destOrd="0" presId="urn:microsoft.com/office/officeart/2005/8/layout/hProcess9"/>
    <dgm:cxn modelId="{CEFBC5AD-F0AA-4DF5-B842-A843712673F2}" type="presParOf" srcId="{F650DBEC-A437-40A8-9CE3-6C6DAD96028A}" destId="{0DC652E4-AFF9-4B4A-9DE4-84C0F5FE3D6F}" srcOrd="0" destOrd="0" presId="urn:microsoft.com/office/officeart/2005/8/layout/hProcess9"/>
    <dgm:cxn modelId="{78D73EE7-C5CB-4146-B5D8-80D71823E872}" type="presParOf" srcId="{F650DBEC-A437-40A8-9CE3-6C6DAD96028A}" destId="{83D44C4F-3BE5-4E6B-BB92-0DB5BC469479}" srcOrd="1" destOrd="0" presId="urn:microsoft.com/office/officeart/2005/8/layout/hProcess9"/>
    <dgm:cxn modelId="{72D6D47D-DBBB-46E4-9F66-456E1A33D4F5}" type="presParOf" srcId="{83D44C4F-3BE5-4E6B-BB92-0DB5BC469479}" destId="{67B6D413-FA6A-471C-8B44-ED74DD1EBBAF}" srcOrd="0" destOrd="0" presId="urn:microsoft.com/office/officeart/2005/8/layout/hProcess9"/>
    <dgm:cxn modelId="{89856B83-6681-4954-B8D7-1E9CE0D84485}" type="presParOf" srcId="{83D44C4F-3BE5-4E6B-BB92-0DB5BC469479}" destId="{CFEFEADD-49DB-44C8-93AF-86A0C19DB679}" srcOrd="1" destOrd="0" presId="urn:microsoft.com/office/officeart/2005/8/layout/hProcess9"/>
    <dgm:cxn modelId="{2A6A2C68-13DF-40E2-9C75-FD16A6250F96}" type="presParOf" srcId="{83D44C4F-3BE5-4E6B-BB92-0DB5BC469479}" destId="{B503910B-0773-4FFB-A3B4-B2FF072D1087}" srcOrd="2" destOrd="0" presId="urn:microsoft.com/office/officeart/2005/8/layout/hProcess9"/>
    <dgm:cxn modelId="{706E51C0-EE17-4A97-AF5F-432E2D61BE7E}" type="presParOf" srcId="{83D44C4F-3BE5-4E6B-BB92-0DB5BC469479}" destId="{78DF8B48-8152-4B7C-8166-BA6BE13CE3EF}" srcOrd="3" destOrd="0" presId="urn:microsoft.com/office/officeart/2005/8/layout/hProcess9"/>
    <dgm:cxn modelId="{A2B951EC-940F-4C66-B10D-5ADEA2323958}" type="presParOf" srcId="{83D44C4F-3BE5-4E6B-BB92-0DB5BC469479}" destId="{57BD5372-2903-4545-B2FC-8A5598E0BB75}" srcOrd="4"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C652E4-AFF9-4B4A-9DE4-84C0F5FE3D6F}">
      <dsp:nvSpPr>
        <dsp:cNvPr id="0" name=""/>
        <dsp:cNvSpPr/>
      </dsp:nvSpPr>
      <dsp:spPr>
        <a:xfrm>
          <a:off x="825656" y="0"/>
          <a:ext cx="9357445" cy="3774960"/>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B6D413-FA6A-471C-8B44-ED74DD1EBBAF}">
      <dsp:nvSpPr>
        <dsp:cNvPr id="0" name=""/>
        <dsp:cNvSpPr/>
      </dsp:nvSpPr>
      <dsp:spPr>
        <a:xfrm>
          <a:off x="4139" y="1038944"/>
          <a:ext cx="3663100" cy="169707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s-ES" sz="1300" kern="1200" dirty="0"/>
            <a:t> Determinar claramente cuáles son las funciones a desarrollar por parte de los profesionales médicos implicados en el servicio de telemedicina propuesto y cuáles son los perﬁles que llevarán a cabo dichas funciones</a:t>
          </a:r>
          <a:endParaRPr lang="es-US" sz="1300" kern="1200" dirty="0"/>
        </a:p>
      </dsp:txBody>
      <dsp:txXfrm>
        <a:off x="86983" y="1121788"/>
        <a:ext cx="3497412" cy="1531383"/>
      </dsp:txXfrm>
    </dsp:sp>
    <dsp:sp modelId="{B503910B-0773-4FFB-A3B4-B2FF072D1087}">
      <dsp:nvSpPr>
        <dsp:cNvPr id="0" name=""/>
        <dsp:cNvSpPr/>
      </dsp:nvSpPr>
      <dsp:spPr>
        <a:xfrm>
          <a:off x="3841938" y="1059895"/>
          <a:ext cx="3493990" cy="165516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s-ES" sz="1300" kern="1200" dirty="0"/>
            <a:t>Establecer un plan de formación completo que incluya todas las habilidades y conocimientos que el equipo de trabajo necesita para llevar a cabo su tarea, incluyendo todos los aspectos comunicativos, éticos, técnicos y sanitarios que lo componen</a:t>
          </a:r>
          <a:endParaRPr lang="es-US" sz="1300" kern="1200" dirty="0"/>
        </a:p>
      </dsp:txBody>
      <dsp:txXfrm>
        <a:off x="3922737" y="1140694"/>
        <a:ext cx="3332392" cy="1493570"/>
      </dsp:txXfrm>
    </dsp:sp>
    <dsp:sp modelId="{57BD5372-2903-4545-B2FC-8A5598E0BB75}">
      <dsp:nvSpPr>
        <dsp:cNvPr id="0" name=""/>
        <dsp:cNvSpPr/>
      </dsp:nvSpPr>
      <dsp:spPr>
        <a:xfrm>
          <a:off x="7510629" y="1132488"/>
          <a:ext cx="3493990" cy="150998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s-ES" sz="1300" kern="1200" dirty="0"/>
            <a:t> Uso de formatos de información y comunicación completos, sistemáticos y estandarizados que permitan la intervención compartida</a:t>
          </a:r>
          <a:endParaRPr lang="es-US" sz="1300" kern="1200" dirty="0"/>
        </a:p>
      </dsp:txBody>
      <dsp:txXfrm>
        <a:off x="7584340" y="1206199"/>
        <a:ext cx="3346568" cy="1362562"/>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AF239A9A-B4B0-4B32-B8CD-2E25E95134C4}" type="datetimeFigureOut">
              <a:rPr lang="en-US" dirty="0"/>
              <a:t>11/22/2020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255346" y="2750337"/>
            <a:ext cx="1171888" cy="1356442"/>
          </a:xfrm>
        </p:spPr>
        <p:txBody>
          <a:bodyPr/>
          <a:lstStyle/>
          <a:p>
            <a:fld id="{6D22F896-40B5-4ADD-8801-0D06FADFA095}" type="slidenum">
              <a:rPr lang="en-US" dirty="0"/>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ormAutofit/>
          </a:bodyPr>
          <a:lstStyle>
            <a:lvl1pPr>
              <a:defRPr sz="2400"/>
            </a:lvl1pPr>
            <a:lvl2pPr>
              <a:defRPr sz="2000"/>
            </a:lvl2pPr>
            <a:lvl3pPr>
              <a:defRPr sz="1800"/>
            </a:lvl3pPr>
            <a:lvl4pPr>
              <a:defRPr sz="1600"/>
            </a:lvl4pPr>
            <a:lvl5pPr>
              <a:defRPr sz="16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91E21DC-8981-44E6-BC8C-2BA8F673FFBB}" type="datetimeFigureOut">
              <a:rPr lang="en-US" dirty="0"/>
              <a:t>11/22/2020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EB9C5D3-0140-4E75-8D7F-C0623D06DFD7}" type="datetimeFigureOut">
              <a:rPr lang="en-US" dirty="0"/>
              <a:t>11/22/2020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729455" y="2869895"/>
            <a:ext cx="1154151" cy="1090789"/>
          </a:xfrm>
        </p:spPr>
        <p:txBody>
          <a:bodyPr/>
          <a:lstStyle/>
          <a:p>
            <a:fld id="{6D22F896-40B5-4ADD-8801-0D06FADFA095}" type="slidenum">
              <a:rPr lang="en-US" dirty="0"/>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3A5666F9-5B40-48E0-8DFD-99EF944CDD22}" type="datetimeFigureOut">
              <a:rPr lang="en-US" dirty="0"/>
              <a:t>11/22/2020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80322" y="3030008"/>
            <a:ext cx="4698355" cy="290617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594123" y="3030008"/>
            <a:ext cx="4700059" cy="290617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2A698D6B-2C72-4E21-9893-A649C6E2A47D}" type="datetimeFigureOut">
              <a:rPr lang="en-US" dirty="0"/>
              <a:t>11/22/2020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C86811C9-A66C-49F0-970E-F7B68D9109A0}" type="datetimeFigureOut">
              <a:rPr lang="en-US" dirty="0"/>
              <a:t>11/22/2020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6C01AE78-96A2-4A23-B183-3B6DB4374FE7}" type="datetimeFigureOut">
              <a:rPr lang="en-US" dirty="0"/>
              <a:t>11/22/2020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3AE0757-B101-4811-9189-10EB2F458E2D}" type="datetimeFigureOut">
              <a:rPr lang="en-US" dirty="0"/>
              <a:t>11/22/2020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EBDC078-589F-40E3-816C-EE21D62B5BBA}" type="datetimeFigureOut">
              <a:rPr lang="en-US" dirty="0"/>
              <a:t>11/22/2020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F25518A9-B687-4302-9395-2322403C6656}" type="datetimeFigureOut">
              <a:rPr lang="en-US" dirty="0"/>
              <a:t>11/22/2020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309"/>
            <a:ext cx="1154151" cy="1090789"/>
          </a:xfrm>
        </p:spPr>
        <p:txBody>
          <a:bodyPr/>
          <a:lstStyle/>
          <a:p>
            <a:fld id="{6D22F896-40B5-4ADD-8801-0D06FADFA095}"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A99A684-0CB7-41E9-A4DF-5D1C2CA5BF6F}" type="datetimeFigureOut">
              <a:rPr lang="en-US" dirty="0"/>
              <a:t>11/22/2020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615"/>
            <a:ext cx="1154151" cy="1090789"/>
          </a:xfrm>
        </p:spPr>
        <p:txBody>
          <a:bodyPr/>
          <a:lstStyle/>
          <a:p>
            <a:fld id="{6D22F896-40B5-4ADD-8801-0D06FADFA095}" type="slidenum">
              <a:rPr lang="en-US" dirty="0"/>
              <a:t>‹Nº›</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FEDD7C35-9E19-4518-A4B2-3B09CD8CC756}" type="datetimeFigureOut">
              <a:rPr lang="en-US" dirty="0"/>
              <a:t>11/22/2020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‹Nº›</a:t>
            </a:fld>
            <a:endParaRPr lang="en-US" dirty="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26196DA8-8897-4DDF-BFB6-5D83863C837A}" type="datetimeFigureOut">
              <a:rPr lang="en-US" dirty="0"/>
              <a:t>11/22/2020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‹Nº›</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DCBBA708-C5F0-412D-90E2-1919F0D196AE}" type="datetimeFigureOut">
              <a:rPr lang="en-US" dirty="0"/>
              <a:t>11/22/2020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A9C8F8FA-EF43-4642-9368-3F4E33039BD9}" type="datetimeFigureOut">
              <a:rPr lang="en-US" dirty="0"/>
              <a:t>11/22/2020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B61E721-B01C-4D5D-A3CA-2E5518383F10}" type="datetimeFigureOut">
              <a:rPr lang="en-US" dirty="0"/>
              <a:t>11/22/2020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6513FEF9-69D0-4F8C-A336-59491FBEDC47}" type="datetimeFigureOut">
              <a:rPr lang="en-US" dirty="0"/>
              <a:t>11/22/2020</a:t>
            </a:fld>
            <a:endParaRPr lang="en-US" dirty="0"/>
          </a:p>
        </p:txBody>
      </p:sp>
      <p:sp>
        <p:nvSpPr>
          <p:cNvPr id="5" name="Footer Placeholder 4"/>
          <p:cNvSpPr>
            <a:spLocks noGrp="1"/>
          </p:cNvSpPr>
          <p:nvPr>
            <p:ph type="ftr" sz="quarter" idx="11"/>
          </p:nvPr>
        </p:nvSpPr>
        <p:spPr>
          <a:xfrm>
            <a:off x="680321" y="5936188"/>
            <a:ext cx="6126805" cy="365125"/>
          </a:xfrm>
        </p:spPr>
        <p:txBody>
          <a:bodyPr/>
          <a:lstStyle/>
          <a:p>
            <a:endParaRPr lang="en-US" dirty="0"/>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6D22F896-40B5-4ADD-8801-0D06FADFA09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7004436-CA73-4D53-89B4-2A5C7347BF2F}" type="datetimeFigureOut">
              <a:rPr lang="en-US" dirty="0"/>
              <a:t>11/22/2020</a:t>
            </a:fld>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6D22F896-40B5-4ADD-8801-0D06FADFA095}" type="slidenum">
              <a:rPr lang="en-US" dirty="0"/>
              <a:pPr/>
              <a:t>‹Nº›</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effectLst>
            <a:outerShdw blurRad="228600" algn="ctr" rotWithShape="0">
              <a:prstClr val="black">
                <a:alpha val="53000"/>
              </a:prstClr>
            </a:outerShdw>
          </a:effectLst>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effectLst>
            <a:outerShdw blurRad="228600" algn="ctr" rotWithShape="0">
              <a:prstClr val="black">
                <a:alpha val="53000"/>
              </a:prstClr>
            </a:outerShdw>
          </a:effectLst>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effectLst>
            <a:outerShdw blurRad="228600" algn="ctr" rotWithShape="0">
              <a:prstClr val="black">
                <a:alpha val="53000"/>
              </a:prstClr>
            </a:outerShdw>
          </a:effectLst>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effectLst>
            <a:outerShdw blurRad="228600" algn="ctr" rotWithShape="0">
              <a:prstClr val="black">
                <a:alpha val="53000"/>
              </a:prstClr>
            </a:outerShdw>
          </a:effectLst>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effectLst>
            <a:outerShdw blurRad="228600" algn="ctr" rotWithShape="0">
              <a:prstClr val="black">
                <a:alpha val="53000"/>
              </a:prstClr>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hyperlink" Target="https://noshemr.wordpress.com/" TargetMode="External"/><Relationship Id="rId2" Type="http://schemas.openxmlformats.org/officeDocument/2006/relationships/hyperlink" Target="http://freemedsoftware.org/" TargetMode="External"/><Relationship Id="rId1" Type="http://schemas.openxmlformats.org/officeDocument/2006/relationships/slideLayout" Target="../slideLayouts/slideLayout4.xml"/><Relationship Id="rId4" Type="http://schemas.openxmlformats.org/officeDocument/2006/relationships/hyperlink" Target="https://www.open-emr.org/" TargetMode="External"/></Relationships>
</file>

<file path=ppt/slides/_rels/slide48.xml.rels><?xml version="1.0" encoding="UTF-8" standalone="yes"?>
<Relationships xmlns="http://schemas.openxmlformats.org/package/2006/relationships"><Relationship Id="rId3" Type="http://schemas.openxmlformats.org/officeDocument/2006/relationships/hyperlink" Target="https://smartehis.com/" TargetMode="External"/><Relationship Id="rId2" Type="http://schemas.openxmlformats.org/officeDocument/2006/relationships/hyperlink" Target="https://www.solismed.com/" TargetMode="External"/><Relationship Id="rId1" Type="http://schemas.openxmlformats.org/officeDocument/2006/relationships/slideLayout" Target="../slideLayouts/slideLayout4.xml"/><Relationship Id="rId4" Type="http://schemas.openxmlformats.org/officeDocument/2006/relationships/hyperlink" Target="http://worldvista.org/AboutVistA"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C2A1BA-F53A-49E8-8063-B97B899F6486}"/>
              </a:ext>
            </a:extLst>
          </p:cNvPr>
          <p:cNvSpPr>
            <a:spLocks noGrp="1"/>
          </p:cNvSpPr>
          <p:nvPr>
            <p:ph type="ctrTitle"/>
          </p:nvPr>
        </p:nvSpPr>
        <p:spPr/>
        <p:txBody>
          <a:bodyPr/>
          <a:lstStyle/>
          <a:p>
            <a:r>
              <a:rPr lang="es-ES" dirty="0"/>
              <a:t>Telemedicina Tema #4</a:t>
            </a:r>
            <a:endParaRPr lang="es-US" dirty="0"/>
          </a:p>
        </p:txBody>
      </p:sp>
      <p:sp>
        <p:nvSpPr>
          <p:cNvPr id="3" name="Subtítulo 2">
            <a:extLst>
              <a:ext uri="{FF2B5EF4-FFF2-40B4-BE49-F238E27FC236}">
                <a16:creationId xmlns:a16="http://schemas.microsoft.com/office/drawing/2014/main" id="{5D4491FE-9602-45C6-8114-CE07DE27699A}"/>
              </a:ext>
            </a:extLst>
          </p:cNvPr>
          <p:cNvSpPr>
            <a:spLocks noGrp="1"/>
          </p:cNvSpPr>
          <p:nvPr>
            <p:ph type="subTitle" idx="1"/>
          </p:nvPr>
        </p:nvSpPr>
        <p:spPr/>
        <p:txBody>
          <a:bodyPr/>
          <a:lstStyle/>
          <a:p>
            <a:r>
              <a:rPr lang="es-US" dirty="0">
                <a:solidFill>
                  <a:schemeClr val="bg1"/>
                </a:solidFill>
              </a:rPr>
              <a:t>Las Redes de Telemedicina </a:t>
            </a:r>
          </a:p>
        </p:txBody>
      </p:sp>
      <p:sp>
        <p:nvSpPr>
          <p:cNvPr id="4" name="Subtítulo 2">
            <a:extLst>
              <a:ext uri="{FF2B5EF4-FFF2-40B4-BE49-F238E27FC236}">
                <a16:creationId xmlns:a16="http://schemas.microsoft.com/office/drawing/2014/main" id="{EA48387B-145D-4792-90EA-82659D90579B}"/>
              </a:ext>
            </a:extLst>
          </p:cNvPr>
          <p:cNvSpPr txBox="1">
            <a:spLocks/>
          </p:cNvSpPr>
          <p:nvPr/>
        </p:nvSpPr>
        <p:spPr>
          <a:xfrm>
            <a:off x="3753342" y="5798986"/>
            <a:ext cx="8144134" cy="1117687"/>
          </a:xfrm>
          <a:prstGeom prst="rect">
            <a:avLst/>
          </a:prstGeom>
        </p:spPr>
        <p:txBody>
          <a:bodyPr vert="horz" lIns="91440" tIns="45720" rIns="91440" bIns="45720" rtlCol="0">
            <a:normAutofit/>
          </a:bodyPr>
          <a:lstStyle>
            <a:lvl1pPr marL="0" indent="0" algn="r" defTabSz="914400" rtl="0" eaLnBrk="1" latinLnBrk="0" hangingPunct="1">
              <a:lnSpc>
                <a:spcPct val="90000"/>
              </a:lnSpc>
              <a:spcBef>
                <a:spcPts val="1000"/>
              </a:spcBef>
              <a:buFont typeface="Arial" panose="020B0604020202020204" pitchFamily="34" charset="0"/>
              <a:buNone/>
              <a:defRPr sz="2000" kern="1200">
                <a:solidFill>
                  <a:schemeClr val="tx1"/>
                </a:solidFill>
                <a:effectLst>
                  <a:outerShdw blurRad="228600" algn="ctr" rotWithShape="0">
                    <a:prstClr val="black">
                      <a:alpha val="53000"/>
                    </a:prstClr>
                  </a:outerShdw>
                </a:effectLst>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effectLst>
                  <a:outerShdw blurRad="228600" algn="ctr" rotWithShape="0">
                    <a:prstClr val="black">
                      <a:alpha val="53000"/>
                    </a:prstClr>
                  </a:outerShdw>
                </a:effectLst>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effectLst>
                  <a:outerShdw blurRad="228600" algn="ctr" rotWithShape="0">
                    <a:prstClr val="black">
                      <a:alpha val="53000"/>
                    </a:prstClr>
                  </a:outerShdw>
                </a:effectLst>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effectLst>
                  <a:outerShdw blurRad="228600" algn="ctr" rotWithShape="0">
                    <a:prstClr val="black">
                      <a:alpha val="53000"/>
                    </a:prstClr>
                  </a:outerShdw>
                </a:effectLst>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effectLst>
                  <a:outerShdw blurRad="228600" algn="ctr" rotWithShape="0">
                    <a:prstClr val="black">
                      <a:alpha val="53000"/>
                    </a:prstClr>
                  </a:outerShdw>
                </a:effectLst>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s-US" dirty="0">
                <a:solidFill>
                  <a:schemeClr val="bg1"/>
                </a:solidFill>
              </a:rPr>
              <a:t>Hernández Joshua </a:t>
            </a:r>
          </a:p>
          <a:p>
            <a:r>
              <a:rPr lang="es-US" dirty="0">
                <a:solidFill>
                  <a:schemeClr val="bg1"/>
                </a:solidFill>
              </a:rPr>
              <a:t>24347135</a:t>
            </a:r>
          </a:p>
        </p:txBody>
      </p:sp>
    </p:spTree>
    <p:extLst>
      <p:ext uri="{BB962C8B-B14F-4D97-AF65-F5344CB8AC3E}">
        <p14:creationId xmlns:p14="http://schemas.microsoft.com/office/powerpoint/2010/main" val="25383101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38E8ED-B8A7-45AD-AAEC-39D2342D026A}"/>
              </a:ext>
            </a:extLst>
          </p:cNvPr>
          <p:cNvSpPr>
            <a:spLocks noGrp="1"/>
          </p:cNvSpPr>
          <p:nvPr>
            <p:ph type="title"/>
          </p:nvPr>
        </p:nvSpPr>
        <p:spPr/>
        <p:txBody>
          <a:bodyPr/>
          <a:lstStyle/>
          <a:p>
            <a:r>
              <a:rPr lang="es-ES" dirty="0"/>
              <a:t>INDICE DE CONTENIDOS</a:t>
            </a:r>
            <a:endParaRPr lang="es-US" dirty="0"/>
          </a:p>
        </p:txBody>
      </p:sp>
      <p:sp>
        <p:nvSpPr>
          <p:cNvPr id="4" name="Marcador de texto 3">
            <a:extLst>
              <a:ext uri="{FF2B5EF4-FFF2-40B4-BE49-F238E27FC236}">
                <a16:creationId xmlns:a16="http://schemas.microsoft.com/office/drawing/2014/main" id="{0CB1FA3E-2821-480C-A061-BEB6B21D381E}"/>
              </a:ext>
            </a:extLst>
          </p:cNvPr>
          <p:cNvSpPr>
            <a:spLocks noGrp="1"/>
          </p:cNvSpPr>
          <p:nvPr>
            <p:ph type="body" sz="half" idx="2"/>
          </p:nvPr>
        </p:nvSpPr>
        <p:spPr>
          <a:xfrm>
            <a:off x="816582" y="2336873"/>
            <a:ext cx="7477412" cy="3599315"/>
          </a:xfrm>
        </p:spPr>
        <p:txBody>
          <a:bodyPr>
            <a:normAutofit/>
          </a:bodyPr>
          <a:lstStyle/>
          <a:p>
            <a:pPr marL="342900" marR="0" indent="-342900">
              <a:lnSpc>
                <a:spcPct val="107000"/>
              </a:lnSpc>
              <a:spcBef>
                <a:spcPts val="0"/>
              </a:spcBef>
              <a:spcAft>
                <a:spcPts val="0"/>
              </a:spcAft>
              <a:buFont typeface="Arial" panose="020B0604020202020204" pitchFamily="34" charset="0"/>
              <a:buChar char="•"/>
            </a:pPr>
            <a:r>
              <a:rPr lang="es-US" sz="2000" b="1" dirty="0">
                <a:solidFill>
                  <a:schemeClr val="bg1"/>
                </a:solidFill>
                <a:effectLst/>
                <a:latin typeface="+mj-lt"/>
                <a:ea typeface="Times New Roman" panose="02020603050405020304" pitchFamily="18" charset="0"/>
                <a:cs typeface="Calibri" panose="020F0502020204030204" pitchFamily="34" charset="0"/>
              </a:rPr>
              <a:t>Integración de Estándares.</a:t>
            </a:r>
          </a:p>
          <a:p>
            <a:pPr marL="342900" marR="0" indent="-342900">
              <a:lnSpc>
                <a:spcPct val="107000"/>
              </a:lnSpc>
              <a:spcBef>
                <a:spcPts val="0"/>
              </a:spcBef>
              <a:spcAft>
                <a:spcPts val="0"/>
              </a:spcAft>
              <a:buFont typeface="Arial" panose="020B0604020202020204" pitchFamily="34" charset="0"/>
              <a:buChar char="•"/>
            </a:pPr>
            <a:r>
              <a:rPr lang="es-US" sz="2000" b="1" dirty="0">
                <a:solidFill>
                  <a:schemeClr val="bg1"/>
                </a:solidFill>
                <a:effectLst/>
                <a:latin typeface="+mj-lt"/>
                <a:ea typeface="Times New Roman" panose="02020603050405020304" pitchFamily="18" charset="0"/>
                <a:cs typeface="Calibri" panose="020F0502020204030204" pitchFamily="34" charset="0"/>
              </a:rPr>
              <a:t>Innovación e interoperabilidad. </a:t>
            </a:r>
          </a:p>
          <a:p>
            <a:pPr marL="342900" marR="0" indent="-342900">
              <a:lnSpc>
                <a:spcPct val="107000"/>
              </a:lnSpc>
              <a:spcBef>
                <a:spcPts val="0"/>
              </a:spcBef>
              <a:spcAft>
                <a:spcPts val="0"/>
              </a:spcAft>
              <a:buFont typeface="Arial" panose="020B0604020202020204" pitchFamily="34" charset="0"/>
              <a:buChar char="•"/>
            </a:pPr>
            <a:r>
              <a:rPr lang="es-US" sz="2000" b="1" dirty="0">
                <a:solidFill>
                  <a:schemeClr val="bg1"/>
                </a:solidFill>
                <a:effectLst/>
                <a:latin typeface="+mj-lt"/>
                <a:ea typeface="Times New Roman" panose="02020603050405020304" pitchFamily="18" charset="0"/>
                <a:cs typeface="Calibri" panose="020F0502020204030204" pitchFamily="34" charset="0"/>
              </a:rPr>
              <a:t>Criterios de evaluación y selección de Plataformas de Telemedicina. </a:t>
            </a:r>
          </a:p>
          <a:p>
            <a:pPr marL="342900" marR="0" indent="-342900">
              <a:lnSpc>
                <a:spcPct val="107000"/>
              </a:lnSpc>
              <a:spcBef>
                <a:spcPts val="0"/>
              </a:spcBef>
              <a:spcAft>
                <a:spcPts val="0"/>
              </a:spcAft>
              <a:buFont typeface="Arial" panose="020B0604020202020204" pitchFamily="34" charset="0"/>
              <a:buChar char="•"/>
            </a:pPr>
            <a:r>
              <a:rPr lang="es-US" sz="2000" b="1" dirty="0">
                <a:solidFill>
                  <a:schemeClr val="bg1"/>
                </a:solidFill>
                <a:effectLst/>
                <a:latin typeface="+mj-lt"/>
                <a:ea typeface="Times New Roman" panose="02020603050405020304" pitchFamily="18" charset="0"/>
                <a:cs typeface="Calibri" panose="020F0502020204030204" pitchFamily="34" charset="0"/>
              </a:rPr>
              <a:t>Herramientas para uso en Telemedicina. </a:t>
            </a:r>
          </a:p>
          <a:p>
            <a:pPr marL="342900" marR="0" indent="-342900">
              <a:lnSpc>
                <a:spcPct val="107000"/>
              </a:lnSpc>
              <a:spcBef>
                <a:spcPts val="0"/>
              </a:spcBef>
              <a:spcAft>
                <a:spcPts val="0"/>
              </a:spcAft>
              <a:buFont typeface="Arial" panose="020B0604020202020204" pitchFamily="34" charset="0"/>
              <a:buChar char="•"/>
            </a:pPr>
            <a:r>
              <a:rPr lang="es-US" sz="2000" b="1" dirty="0">
                <a:solidFill>
                  <a:schemeClr val="bg1"/>
                </a:solidFill>
                <a:effectLst/>
                <a:latin typeface="+mj-lt"/>
                <a:ea typeface="Times New Roman" panose="02020603050405020304" pitchFamily="18" charset="0"/>
                <a:cs typeface="Calibri" panose="020F0502020204030204" pitchFamily="34" charset="0"/>
              </a:rPr>
              <a:t>Seguridad y Control. </a:t>
            </a:r>
          </a:p>
          <a:p>
            <a:pPr marL="342900" marR="0" indent="-342900">
              <a:lnSpc>
                <a:spcPct val="107000"/>
              </a:lnSpc>
              <a:spcBef>
                <a:spcPts val="0"/>
              </a:spcBef>
              <a:spcAft>
                <a:spcPts val="0"/>
              </a:spcAft>
              <a:buFont typeface="Arial" panose="020B0604020202020204" pitchFamily="34" charset="0"/>
              <a:buChar char="•"/>
            </a:pPr>
            <a:r>
              <a:rPr lang="es-US" sz="2000" b="1" dirty="0">
                <a:solidFill>
                  <a:schemeClr val="bg1"/>
                </a:solidFill>
                <a:effectLst/>
                <a:latin typeface="+mj-lt"/>
                <a:ea typeface="Times New Roman" panose="02020603050405020304" pitchFamily="18" charset="0"/>
                <a:cs typeface="Calibri" panose="020F0502020204030204" pitchFamily="34" charset="0"/>
              </a:rPr>
              <a:t>Telecirugía y Robótica. </a:t>
            </a:r>
          </a:p>
          <a:p>
            <a:pPr marL="342900" marR="0" indent="-342900">
              <a:lnSpc>
                <a:spcPct val="107000"/>
              </a:lnSpc>
              <a:spcBef>
                <a:spcPts val="0"/>
              </a:spcBef>
              <a:spcAft>
                <a:spcPts val="0"/>
              </a:spcAft>
              <a:buFont typeface="Arial" panose="020B0604020202020204" pitchFamily="34" charset="0"/>
              <a:buChar char="•"/>
            </a:pPr>
            <a:r>
              <a:rPr lang="es-US" sz="2000" b="1" dirty="0">
                <a:solidFill>
                  <a:schemeClr val="bg1"/>
                </a:solidFill>
                <a:effectLst/>
                <a:latin typeface="+mj-lt"/>
                <a:ea typeface="Times New Roman" panose="02020603050405020304" pitchFamily="18" charset="0"/>
                <a:cs typeface="Calibri" panose="020F0502020204030204" pitchFamily="34" charset="0"/>
              </a:rPr>
              <a:t>Historias Clínicas Electrónicas. </a:t>
            </a:r>
          </a:p>
          <a:p>
            <a:pPr marL="342900" marR="0" indent="-342900">
              <a:lnSpc>
                <a:spcPct val="107000"/>
              </a:lnSpc>
              <a:spcBef>
                <a:spcPts val="0"/>
              </a:spcBef>
              <a:spcAft>
                <a:spcPts val="0"/>
              </a:spcAft>
              <a:buFont typeface="Arial" panose="020B0604020202020204" pitchFamily="34" charset="0"/>
              <a:buChar char="•"/>
            </a:pPr>
            <a:r>
              <a:rPr lang="es-US" sz="2000" b="1" dirty="0">
                <a:solidFill>
                  <a:schemeClr val="bg1"/>
                </a:solidFill>
                <a:effectLst/>
                <a:latin typeface="+mj-lt"/>
                <a:ea typeface="Times New Roman" panose="02020603050405020304" pitchFamily="18" charset="0"/>
                <a:cs typeface="Calibri" panose="020F0502020204030204" pitchFamily="34" charset="0"/>
              </a:rPr>
              <a:t>Estudio de Casos.</a:t>
            </a:r>
            <a:endParaRPr lang="es-US" sz="2000" b="1" dirty="0">
              <a:solidFill>
                <a:schemeClr val="bg1"/>
              </a:solidFill>
              <a:effectLst/>
              <a:latin typeface="+mj-lt"/>
              <a:ea typeface="Times New Roman" panose="02020603050405020304" pitchFamily="18" charset="0"/>
              <a:cs typeface="Times New Roman" panose="02020603050405020304" pitchFamily="18" charset="0"/>
            </a:endParaRPr>
          </a:p>
          <a:p>
            <a:pPr marL="342900" indent="-342900">
              <a:buFont typeface="+mj-lt"/>
              <a:buAutoNum type="arabicPeriod"/>
            </a:pPr>
            <a:endParaRPr lang="es-US" dirty="0"/>
          </a:p>
        </p:txBody>
      </p:sp>
      <p:pic>
        <p:nvPicPr>
          <p:cNvPr id="5" name="Imagen 4">
            <a:extLst>
              <a:ext uri="{FF2B5EF4-FFF2-40B4-BE49-F238E27FC236}">
                <a16:creationId xmlns:a16="http://schemas.microsoft.com/office/drawing/2014/main" id="{2E5AE019-FADB-4E82-A344-C51936395559}"/>
              </a:ext>
            </a:extLst>
          </p:cNvPr>
          <p:cNvPicPr>
            <a:picLocks noChangeAspect="1"/>
          </p:cNvPicPr>
          <p:nvPr/>
        </p:nvPicPr>
        <p:blipFill>
          <a:blip r:embed="rId2"/>
          <a:stretch>
            <a:fillRect/>
          </a:stretch>
        </p:blipFill>
        <p:spPr>
          <a:xfrm>
            <a:off x="9212941" y="3830869"/>
            <a:ext cx="2162477" cy="2105319"/>
          </a:xfrm>
          <a:prstGeom prst="rect">
            <a:avLst/>
          </a:prstGeom>
        </p:spPr>
      </p:pic>
    </p:spTree>
    <p:extLst>
      <p:ext uri="{BB962C8B-B14F-4D97-AF65-F5344CB8AC3E}">
        <p14:creationId xmlns:p14="http://schemas.microsoft.com/office/powerpoint/2010/main" val="11721584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38E8ED-B8A7-45AD-AAEC-39D2342D026A}"/>
              </a:ext>
            </a:extLst>
          </p:cNvPr>
          <p:cNvSpPr>
            <a:spLocks noGrp="1"/>
          </p:cNvSpPr>
          <p:nvPr>
            <p:ph type="title"/>
          </p:nvPr>
        </p:nvSpPr>
        <p:spPr>
          <a:xfrm>
            <a:off x="680323" y="794171"/>
            <a:ext cx="9613857" cy="1080938"/>
          </a:xfrm>
        </p:spPr>
        <p:txBody>
          <a:bodyPr/>
          <a:lstStyle/>
          <a:p>
            <a:r>
              <a:rPr lang="es-ES" dirty="0"/>
              <a:t>¿Qué son los sistemas de telemedicina?</a:t>
            </a:r>
            <a:br>
              <a:rPr lang="es-ES" dirty="0"/>
            </a:br>
            <a:endParaRPr lang="es-US" dirty="0"/>
          </a:p>
        </p:txBody>
      </p:sp>
      <p:sp>
        <p:nvSpPr>
          <p:cNvPr id="4" name="Marcador de texto 3">
            <a:extLst>
              <a:ext uri="{FF2B5EF4-FFF2-40B4-BE49-F238E27FC236}">
                <a16:creationId xmlns:a16="http://schemas.microsoft.com/office/drawing/2014/main" id="{0CB1FA3E-2821-480C-A061-BEB6B21D381E}"/>
              </a:ext>
            </a:extLst>
          </p:cNvPr>
          <p:cNvSpPr>
            <a:spLocks noGrp="1"/>
          </p:cNvSpPr>
          <p:nvPr>
            <p:ph type="body" sz="half" idx="2"/>
          </p:nvPr>
        </p:nvSpPr>
        <p:spPr>
          <a:xfrm>
            <a:off x="680323" y="2129051"/>
            <a:ext cx="6361922" cy="3807137"/>
          </a:xfrm>
        </p:spPr>
        <p:txBody>
          <a:bodyPr>
            <a:normAutofit/>
          </a:bodyPr>
          <a:lstStyle/>
          <a:p>
            <a:pPr marR="0">
              <a:lnSpc>
                <a:spcPct val="107000"/>
              </a:lnSpc>
              <a:spcBef>
                <a:spcPts val="0"/>
              </a:spcBef>
              <a:spcAft>
                <a:spcPts val="0"/>
              </a:spcAft>
            </a:pPr>
            <a:endParaRPr lang="es-US" sz="24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a:p>
            <a:pPr marL="342900" indent="-342900">
              <a:buFont typeface="+mj-lt"/>
              <a:buAutoNum type="arabicPeriod"/>
            </a:pPr>
            <a:endParaRPr lang="es-US" dirty="0"/>
          </a:p>
        </p:txBody>
      </p:sp>
      <p:sp>
        <p:nvSpPr>
          <p:cNvPr id="6" name="CuadroTexto 5">
            <a:extLst>
              <a:ext uri="{FF2B5EF4-FFF2-40B4-BE49-F238E27FC236}">
                <a16:creationId xmlns:a16="http://schemas.microsoft.com/office/drawing/2014/main" id="{DBF57C45-FE87-4768-96B4-C1DD8B9DDAA1}"/>
              </a:ext>
            </a:extLst>
          </p:cNvPr>
          <p:cNvSpPr txBox="1"/>
          <p:nvPr/>
        </p:nvSpPr>
        <p:spPr>
          <a:xfrm>
            <a:off x="596470" y="2110647"/>
            <a:ext cx="11013639" cy="4308872"/>
          </a:xfrm>
          <a:prstGeom prst="rect">
            <a:avLst/>
          </a:prstGeom>
          <a:noFill/>
        </p:spPr>
        <p:txBody>
          <a:bodyPr wrap="square">
            <a:spAutoFit/>
          </a:bodyPr>
          <a:lstStyle/>
          <a:p>
            <a:endParaRPr lang="es-US" sz="1600" dirty="0">
              <a:solidFill>
                <a:schemeClr val="bg1"/>
              </a:solidFill>
            </a:endParaRPr>
          </a:p>
          <a:p>
            <a:pPr fontAlgn="base"/>
            <a:r>
              <a:rPr lang="es-ES" sz="1600" dirty="0">
                <a:solidFill>
                  <a:schemeClr val="bg1"/>
                </a:solidFill>
                <a:effectLst/>
              </a:rPr>
              <a:t>¿Qué es telemedicina? Es cualquier acto médico realizado sin contacto físico directo entre el profesional y el paciente, o entre profesionales entre sí, por medio de algún sistema telemático. En otras palabras, la telemedicina utiliza las tecnologías de la información y las telecomunicaciones (por medio de los sistemas telemáticos) para proporcionar o soportar la asistencia médica, independientemente de la distancia que separa a los que ofrecen el servicio.</a:t>
            </a:r>
          </a:p>
          <a:p>
            <a:pPr fontAlgn="base"/>
            <a:endParaRPr lang="es-ES" sz="1600" dirty="0">
              <a:solidFill>
                <a:schemeClr val="bg1"/>
              </a:solidFill>
              <a:effectLst/>
            </a:endParaRPr>
          </a:p>
          <a:p>
            <a:pPr fontAlgn="base"/>
            <a:r>
              <a:rPr lang="es-ES" sz="1600" dirty="0">
                <a:solidFill>
                  <a:schemeClr val="bg1"/>
                </a:solidFill>
                <a:latin typeface="Inika"/>
              </a:rPr>
              <a:t>El uso de servicios de telemedicina ha vivido un incremento en los últimos tiempos, especialmente tras la huella que ha dejado la pandemia del Covid-19. La telemedicina se está convirtiendo, cada vez más, en una alternativa a la asistencia sanitaria presencial.</a:t>
            </a:r>
            <a:br>
              <a:rPr lang="es-ES" sz="1600" dirty="0">
                <a:solidFill>
                  <a:schemeClr val="bg1"/>
                </a:solidFill>
              </a:rPr>
            </a:br>
            <a:endParaRPr lang="es-US" sz="1600" dirty="0">
              <a:solidFill>
                <a:schemeClr val="bg1"/>
              </a:solidFill>
            </a:endParaRPr>
          </a:p>
          <a:p>
            <a:pPr fontAlgn="base"/>
            <a:r>
              <a:rPr lang="es-ES" sz="1600" b="0" i="0" dirty="0">
                <a:solidFill>
                  <a:schemeClr val="bg1"/>
                </a:solidFill>
                <a:effectLst/>
                <a:latin typeface="Inika"/>
              </a:rPr>
              <a:t>La OMS publicó el pasado abril de 2019 las primeras directrices sobre la prestación de servicios de telemedicina a través de tecnologías digitales. En las mismas, se define la telemedicina como: </a:t>
            </a:r>
            <a:r>
              <a:rPr lang="es-ES" sz="1600" b="0" i="1" dirty="0">
                <a:solidFill>
                  <a:schemeClr val="bg1"/>
                </a:solidFill>
                <a:effectLst/>
                <a:latin typeface="Inika"/>
              </a:rPr>
              <a:t>“la prestación de servicios de salud (en los que la distancia es un factor determinante) por parte de profesionales </a:t>
            </a:r>
            <a:r>
              <a:rPr lang="es-ES" sz="1600" b="1" i="1" dirty="0">
                <a:solidFill>
                  <a:schemeClr val="bg1"/>
                </a:solidFill>
                <a:effectLst/>
                <a:latin typeface="Inika"/>
              </a:rPr>
              <a:t>sanitarios a través de la utilización de tecnologías de la información</a:t>
            </a:r>
            <a:r>
              <a:rPr lang="es-ES" sz="1600" b="0" i="1" dirty="0">
                <a:solidFill>
                  <a:schemeClr val="bg1"/>
                </a:solidFill>
                <a:effectLst/>
                <a:latin typeface="Inika"/>
              </a:rPr>
              <a:t> y la comunicación para el intercambio de información válida para el diagnóstico, el tratamiento, la prevención de enfermedades, la investigación y la evaluación y para la formación continuada de profesionales sanitarios, todo ello con el objetivo final de mejorar la salud de la población y de las comunidades”.</a:t>
            </a:r>
            <a:endParaRPr lang="es-ES" sz="1600" dirty="0">
              <a:solidFill>
                <a:schemeClr val="bg1"/>
              </a:solidFill>
              <a:effectLst/>
            </a:endParaRPr>
          </a:p>
          <a:p>
            <a:endParaRPr lang="es-US" dirty="0"/>
          </a:p>
        </p:txBody>
      </p:sp>
    </p:spTree>
    <p:extLst>
      <p:ext uri="{BB962C8B-B14F-4D97-AF65-F5344CB8AC3E}">
        <p14:creationId xmlns:p14="http://schemas.microsoft.com/office/powerpoint/2010/main" val="2979917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967DBD-11B4-44FF-B9F0-49A36B3E1C70}"/>
              </a:ext>
            </a:extLst>
          </p:cNvPr>
          <p:cNvSpPr>
            <a:spLocks noGrp="1"/>
          </p:cNvSpPr>
          <p:nvPr>
            <p:ph type="title"/>
          </p:nvPr>
        </p:nvSpPr>
        <p:spPr/>
        <p:txBody>
          <a:bodyPr>
            <a:normAutofit/>
          </a:bodyPr>
          <a:lstStyle/>
          <a:p>
            <a:r>
              <a:rPr lang="es-ES" dirty="0"/>
              <a:t>Como operan básicamente </a:t>
            </a:r>
            <a:br>
              <a:rPr lang="es-ES" dirty="0"/>
            </a:br>
            <a:endParaRPr lang="es-US" dirty="0"/>
          </a:p>
        </p:txBody>
      </p:sp>
      <p:sp>
        <p:nvSpPr>
          <p:cNvPr id="4" name="Marcador de texto 3">
            <a:extLst>
              <a:ext uri="{FF2B5EF4-FFF2-40B4-BE49-F238E27FC236}">
                <a16:creationId xmlns:a16="http://schemas.microsoft.com/office/drawing/2014/main" id="{56428D26-96A4-4D52-96FE-C469886C0D2C}"/>
              </a:ext>
            </a:extLst>
          </p:cNvPr>
          <p:cNvSpPr>
            <a:spLocks noGrp="1"/>
          </p:cNvSpPr>
          <p:nvPr>
            <p:ph type="body" sz="half" idx="2"/>
          </p:nvPr>
        </p:nvSpPr>
        <p:spPr>
          <a:xfrm>
            <a:off x="680322" y="2336873"/>
            <a:ext cx="9613857" cy="3599315"/>
          </a:xfrm>
        </p:spPr>
        <p:txBody>
          <a:bodyPr>
            <a:normAutofit/>
          </a:bodyPr>
          <a:lstStyle/>
          <a:p>
            <a:pPr fontAlgn="base"/>
            <a:r>
              <a:rPr lang="es-ES" dirty="0">
                <a:solidFill>
                  <a:schemeClr val="bg1"/>
                </a:solidFill>
                <a:effectLst/>
              </a:rPr>
              <a:t>Cualquier sistema de telemedicina, sin importar el número de servicios donde se implemente, debe operar sobre intranet y no sobre internet. Como rezan las diferentes leyes y la jurisprudencia a nivel mundial, la información médica de los pacientes pertenece a ellos y no a los gobiernos, las instituciones de salud o el médico, y es totalmente confidencial. </a:t>
            </a:r>
          </a:p>
          <a:p>
            <a:pPr fontAlgn="base"/>
            <a:endParaRPr lang="es-ES" dirty="0">
              <a:solidFill>
                <a:schemeClr val="bg1"/>
              </a:solidFill>
              <a:effectLst/>
            </a:endParaRPr>
          </a:p>
          <a:p>
            <a:pPr fontAlgn="base"/>
            <a:r>
              <a:rPr lang="es-ES" dirty="0">
                <a:solidFill>
                  <a:schemeClr val="bg1"/>
                </a:solidFill>
                <a:effectLst/>
              </a:rPr>
              <a:t>Como hoy no existe un sistema de internet que no sea vulnerable, surge la pregunta: ¿qué institución de salud se puede dar el lujo de tener una penetración espuria en los servidores donde tenga almacenada la información médica confidencial relacionada con historias clínicas, exámenes, interconsultas, imágenes diagnósticas, etc.?</a:t>
            </a:r>
          </a:p>
          <a:p>
            <a:br>
              <a:rPr lang="es-ES" sz="1800" dirty="0">
                <a:solidFill>
                  <a:schemeClr val="bg1"/>
                </a:solidFill>
                <a:effectLst/>
              </a:rPr>
            </a:br>
            <a:endParaRPr lang="es-US" sz="1800" dirty="0">
              <a:solidFill>
                <a:schemeClr val="bg1"/>
              </a:solidFill>
            </a:endParaRPr>
          </a:p>
        </p:txBody>
      </p:sp>
    </p:spTree>
    <p:extLst>
      <p:ext uri="{BB962C8B-B14F-4D97-AF65-F5344CB8AC3E}">
        <p14:creationId xmlns:p14="http://schemas.microsoft.com/office/powerpoint/2010/main" val="6934257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74AF65-9DEF-4D8C-A480-F83CB2BC7D55}"/>
              </a:ext>
            </a:extLst>
          </p:cNvPr>
          <p:cNvSpPr>
            <a:spLocks noGrp="1"/>
          </p:cNvSpPr>
          <p:nvPr>
            <p:ph type="title"/>
          </p:nvPr>
        </p:nvSpPr>
        <p:spPr/>
        <p:txBody>
          <a:bodyPr/>
          <a:lstStyle/>
          <a:p>
            <a:r>
              <a:rPr lang="es-ES" dirty="0"/>
              <a:t>Beneﬁcios de un sistema de telemedicina:</a:t>
            </a:r>
            <a:br>
              <a:rPr lang="es-ES" dirty="0"/>
            </a:br>
            <a:endParaRPr lang="es-US" dirty="0"/>
          </a:p>
        </p:txBody>
      </p:sp>
      <p:sp>
        <p:nvSpPr>
          <p:cNvPr id="4" name="Marcador de texto 3">
            <a:extLst>
              <a:ext uri="{FF2B5EF4-FFF2-40B4-BE49-F238E27FC236}">
                <a16:creationId xmlns:a16="http://schemas.microsoft.com/office/drawing/2014/main" id="{B695F64A-70FF-40FD-9A3D-0AD220108601}"/>
              </a:ext>
            </a:extLst>
          </p:cNvPr>
          <p:cNvSpPr>
            <a:spLocks noGrp="1"/>
          </p:cNvSpPr>
          <p:nvPr>
            <p:ph type="body" sz="half" idx="2"/>
          </p:nvPr>
        </p:nvSpPr>
        <p:spPr>
          <a:xfrm>
            <a:off x="680322" y="2336873"/>
            <a:ext cx="10933923" cy="4323234"/>
          </a:xfrm>
        </p:spPr>
        <p:txBody>
          <a:bodyPr>
            <a:normAutofit/>
          </a:bodyPr>
          <a:lstStyle/>
          <a:p>
            <a:pPr fontAlgn="base"/>
            <a:r>
              <a:rPr lang="es-ES" b="1" dirty="0">
                <a:solidFill>
                  <a:schemeClr val="bg1"/>
                </a:solidFill>
                <a:effectLst/>
              </a:rPr>
              <a:t>Accesibilidad a la atención especializada</a:t>
            </a:r>
            <a:r>
              <a:rPr lang="es-ES" dirty="0">
                <a:solidFill>
                  <a:schemeClr val="bg1"/>
                </a:solidFill>
                <a:effectLst/>
              </a:rPr>
              <a:t>, con médicos pertenecientes a los hospitales de mayor complejidad, de forma inmediata por parte de la población, sin importar dónde se encuentre ubicada, gracias a que este tipo de tecnología permite conectividad permanente con los hospitales de atención primaria, como se dijo antes.</a:t>
            </a:r>
            <a:br>
              <a:rPr lang="es-ES" dirty="0">
                <a:solidFill>
                  <a:schemeClr val="bg1"/>
                </a:solidFill>
                <a:effectLst/>
              </a:rPr>
            </a:br>
            <a:endParaRPr lang="es-ES" dirty="0">
              <a:solidFill>
                <a:schemeClr val="bg1"/>
              </a:solidFill>
              <a:effectLst/>
            </a:endParaRPr>
          </a:p>
          <a:p>
            <a:pPr fontAlgn="base"/>
            <a:r>
              <a:rPr lang="es-ES" b="1" dirty="0">
                <a:solidFill>
                  <a:schemeClr val="bg1"/>
                </a:solidFill>
                <a:effectLst/>
              </a:rPr>
              <a:t>Mejor calidad en la atención médica a la población</a:t>
            </a:r>
            <a:r>
              <a:rPr lang="es-ES" dirty="0">
                <a:solidFill>
                  <a:schemeClr val="bg1"/>
                </a:solidFill>
                <a:effectLst/>
              </a:rPr>
              <a:t>, puesto que los médicos de asistencia primaria pueden tener comunicación efectiva y rápida con los especialistas ubicados en los hospitales de mayor complejidad.</a:t>
            </a:r>
            <a:br>
              <a:rPr lang="es-ES" dirty="0">
                <a:solidFill>
                  <a:schemeClr val="bg1"/>
                </a:solidFill>
                <a:effectLst/>
              </a:rPr>
            </a:br>
            <a:br>
              <a:rPr lang="es-ES" b="0" i="0" dirty="0">
                <a:solidFill>
                  <a:schemeClr val="bg1"/>
                </a:solidFill>
                <a:effectLst/>
                <a:latin typeface="Tahoma" panose="020B0604030504040204" pitchFamily="34" charset="0"/>
              </a:rPr>
            </a:br>
            <a:endParaRPr lang="es-ES" b="0" i="0" dirty="0">
              <a:solidFill>
                <a:schemeClr val="bg1"/>
              </a:solidFill>
              <a:effectLst/>
              <a:latin typeface="Tahoma" panose="020B0604030504040204" pitchFamily="34" charset="0"/>
            </a:endParaRPr>
          </a:p>
          <a:p>
            <a:pPr algn="l" fontAlgn="base"/>
            <a:r>
              <a:rPr lang="es-ES" b="1" i="0" dirty="0">
                <a:solidFill>
                  <a:schemeClr val="bg1"/>
                </a:solidFill>
                <a:effectLst/>
                <a:latin typeface="Tahoma" panose="020B0604030504040204" pitchFamily="34" charset="0"/>
              </a:rPr>
              <a:t>Mayor efectividad y disminución de costos al momento de remitir pacientes</a:t>
            </a:r>
            <a:r>
              <a:rPr lang="es-ES" b="0" i="0" dirty="0">
                <a:solidFill>
                  <a:schemeClr val="bg1"/>
                </a:solidFill>
                <a:effectLst/>
                <a:latin typeface="Tahoma" panose="020B0604030504040204" pitchFamily="34" charset="0"/>
              </a:rPr>
              <a:t>, desde establecimientos primarios de atención (hospitales de primero o segundo nivel, centros o puestos de salud), a hospitales de mediana y alta complejidad, para manejo de patologías críticas. Se puede tomar, en conjunto con los especialistas ubicados en el hospital de mayor complejidad, la decisión de remitir un paciente, previa estabilización correcta del mismo gracias a los sistemas de telemedicina, y disminuir ostensiblemente las complicaciones y la mortalidad. Así mismo, al momento de remitir al paciente al hospital de mayor complejidad, los especialistas saben de antemano a qué patología se van a enfrentar cuando lo reciban.</a:t>
            </a:r>
          </a:p>
          <a:p>
            <a:br>
              <a:rPr lang="es-ES" dirty="0">
                <a:solidFill>
                  <a:schemeClr val="bg1"/>
                </a:solidFill>
                <a:effectLst/>
              </a:rPr>
            </a:br>
            <a:endParaRPr lang="es-US" dirty="0">
              <a:solidFill>
                <a:schemeClr val="bg1"/>
              </a:solidFill>
            </a:endParaRPr>
          </a:p>
        </p:txBody>
      </p:sp>
    </p:spTree>
    <p:extLst>
      <p:ext uri="{BB962C8B-B14F-4D97-AF65-F5344CB8AC3E}">
        <p14:creationId xmlns:p14="http://schemas.microsoft.com/office/powerpoint/2010/main" val="18376665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407020-08DA-4C08-A125-D3A22AE68427}"/>
              </a:ext>
            </a:extLst>
          </p:cNvPr>
          <p:cNvSpPr>
            <a:spLocks noGrp="1"/>
          </p:cNvSpPr>
          <p:nvPr>
            <p:ph type="title"/>
          </p:nvPr>
        </p:nvSpPr>
        <p:spPr/>
        <p:txBody>
          <a:bodyPr/>
          <a:lstStyle/>
          <a:p>
            <a:r>
              <a:rPr lang="es-ES" dirty="0"/>
              <a:t>Beneﬁcios de un sistema de telemedicina:</a:t>
            </a:r>
            <a:br>
              <a:rPr lang="es-ES" dirty="0"/>
            </a:br>
            <a:endParaRPr lang="es-US" dirty="0"/>
          </a:p>
        </p:txBody>
      </p:sp>
      <p:sp>
        <p:nvSpPr>
          <p:cNvPr id="4" name="Marcador de texto 3">
            <a:extLst>
              <a:ext uri="{FF2B5EF4-FFF2-40B4-BE49-F238E27FC236}">
                <a16:creationId xmlns:a16="http://schemas.microsoft.com/office/drawing/2014/main" id="{C0E9F078-B6F4-4DAC-AB1D-06B9934E37E7}"/>
              </a:ext>
            </a:extLst>
          </p:cNvPr>
          <p:cNvSpPr>
            <a:spLocks noGrp="1"/>
          </p:cNvSpPr>
          <p:nvPr>
            <p:ph type="body" sz="half" idx="2"/>
          </p:nvPr>
        </p:nvSpPr>
        <p:spPr>
          <a:xfrm>
            <a:off x="648062" y="2200657"/>
            <a:ext cx="10895875" cy="3599315"/>
          </a:xfrm>
        </p:spPr>
        <p:txBody>
          <a:bodyPr>
            <a:noAutofit/>
          </a:bodyPr>
          <a:lstStyle/>
          <a:p>
            <a:pPr fontAlgn="base"/>
            <a:r>
              <a:rPr lang="es-ES" b="1" dirty="0">
                <a:solidFill>
                  <a:schemeClr val="bg1"/>
                </a:solidFill>
                <a:effectLst/>
              </a:rPr>
              <a:t>Disminución de costos económicos y sociales en cuanto al traslado de pacientes</a:t>
            </a:r>
            <a:r>
              <a:rPr lang="es-ES" dirty="0">
                <a:solidFill>
                  <a:schemeClr val="bg1"/>
                </a:solidFill>
                <a:effectLst/>
              </a:rPr>
              <a:t>, puesto que se evita la remisión innecesaria de enfermos con diferentes patologías a instituciones de mediana y alta complejidad, las cuales, con una buena orientación por parte de los especialistas, a través del sistema de telemedicina, científica y tecnológicamente bien estructurado, se pueden tratar en el sitio primario de atención. El traslado de pacientes entre diferentes puntos es usual cuando las enfermedades que se presentan no permiten realizar atención especializada, de acuerdo con la capacidad instalada en los centros, puestos de salud y hospitales de atención primaria. Esto eleva los costos, puesto que el traslado de los pacientes críticos pocas veces se hace por vía aérea y requiere, mínimo, la compañía de un médico y/o enfermera y un acompañante.</a:t>
            </a:r>
            <a:br>
              <a:rPr lang="es-ES" dirty="0">
                <a:solidFill>
                  <a:schemeClr val="bg1"/>
                </a:solidFill>
                <a:effectLst/>
              </a:rPr>
            </a:br>
            <a:endParaRPr lang="es-ES" dirty="0">
              <a:solidFill>
                <a:schemeClr val="bg1"/>
              </a:solidFill>
              <a:effectLst/>
            </a:endParaRPr>
          </a:p>
          <a:p>
            <a:pPr fontAlgn="base"/>
            <a:r>
              <a:rPr lang="es-ES" b="1" dirty="0">
                <a:solidFill>
                  <a:schemeClr val="bg1"/>
                </a:solidFill>
                <a:effectLst/>
              </a:rPr>
              <a:t>Reducción en tiempo para la toma de decisiones terapéuticas de ciertos pacientes</a:t>
            </a:r>
            <a:r>
              <a:rPr lang="es-ES" dirty="0">
                <a:solidFill>
                  <a:schemeClr val="bg1"/>
                </a:solidFill>
                <a:effectLst/>
              </a:rPr>
              <a:t>, que en un momento determinado se pueden atender en una institución primaria de salud.</a:t>
            </a:r>
            <a:br>
              <a:rPr lang="es-ES" dirty="0">
                <a:solidFill>
                  <a:schemeClr val="bg1"/>
                </a:solidFill>
                <a:effectLst/>
              </a:rPr>
            </a:br>
            <a:endParaRPr lang="es-ES" dirty="0">
              <a:solidFill>
                <a:schemeClr val="bg1"/>
              </a:solidFill>
              <a:effectLst/>
            </a:endParaRPr>
          </a:p>
        </p:txBody>
      </p:sp>
    </p:spTree>
    <p:extLst>
      <p:ext uri="{BB962C8B-B14F-4D97-AF65-F5344CB8AC3E}">
        <p14:creationId xmlns:p14="http://schemas.microsoft.com/office/powerpoint/2010/main" val="33174180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407020-08DA-4C08-A125-D3A22AE68427}"/>
              </a:ext>
            </a:extLst>
          </p:cNvPr>
          <p:cNvSpPr>
            <a:spLocks noGrp="1"/>
          </p:cNvSpPr>
          <p:nvPr>
            <p:ph type="title"/>
          </p:nvPr>
        </p:nvSpPr>
        <p:spPr/>
        <p:txBody>
          <a:bodyPr/>
          <a:lstStyle/>
          <a:p>
            <a:r>
              <a:rPr lang="es-ES" dirty="0"/>
              <a:t>Beneﬁcios de un sistema de telemedicina:</a:t>
            </a:r>
            <a:br>
              <a:rPr lang="es-ES" dirty="0"/>
            </a:br>
            <a:endParaRPr lang="es-US" dirty="0"/>
          </a:p>
        </p:txBody>
      </p:sp>
      <p:sp>
        <p:nvSpPr>
          <p:cNvPr id="4" name="Marcador de texto 3">
            <a:extLst>
              <a:ext uri="{FF2B5EF4-FFF2-40B4-BE49-F238E27FC236}">
                <a16:creationId xmlns:a16="http://schemas.microsoft.com/office/drawing/2014/main" id="{C0E9F078-B6F4-4DAC-AB1D-06B9934E37E7}"/>
              </a:ext>
            </a:extLst>
          </p:cNvPr>
          <p:cNvSpPr>
            <a:spLocks noGrp="1"/>
          </p:cNvSpPr>
          <p:nvPr>
            <p:ph type="body" sz="half" idx="2"/>
          </p:nvPr>
        </p:nvSpPr>
        <p:spPr>
          <a:xfrm>
            <a:off x="680323" y="2505457"/>
            <a:ext cx="10310667" cy="3599315"/>
          </a:xfrm>
        </p:spPr>
        <p:txBody>
          <a:bodyPr>
            <a:noAutofit/>
          </a:bodyPr>
          <a:lstStyle/>
          <a:p>
            <a:pPr algn="l" fontAlgn="base"/>
            <a:r>
              <a:rPr lang="es-ES" b="1" i="0" dirty="0">
                <a:solidFill>
                  <a:srgbClr val="000000"/>
                </a:solidFill>
                <a:effectLst/>
                <a:latin typeface="Tahoma" panose="020B0604030504040204" pitchFamily="34" charset="0"/>
              </a:rPr>
              <a:t>Disminución ostensible de errores diagnósticos y terapéuticos en los centros de atención primaria</a:t>
            </a:r>
            <a:r>
              <a:rPr lang="es-ES" i="0" dirty="0">
                <a:solidFill>
                  <a:srgbClr val="000000"/>
                </a:solidFill>
                <a:effectLst/>
                <a:latin typeface="Tahoma" panose="020B0604030504040204" pitchFamily="34" charset="0"/>
              </a:rPr>
              <a:t>, al tener el médico de atención primaria, con un sistema de telemedicina, como ya se dijo, el staff de especialistas en su mano, lo que además se traduce en un ahorro significativo en costos para las diferentes instituciones de salud.</a:t>
            </a:r>
            <a:br>
              <a:rPr lang="es-ES" i="0" dirty="0">
                <a:solidFill>
                  <a:srgbClr val="000000"/>
                </a:solidFill>
                <a:effectLst/>
                <a:latin typeface="Tahoma" panose="020B0604030504040204" pitchFamily="34" charset="0"/>
              </a:rPr>
            </a:br>
            <a:endParaRPr lang="es-ES" i="0" dirty="0">
              <a:solidFill>
                <a:srgbClr val="000000"/>
              </a:solidFill>
              <a:effectLst/>
              <a:latin typeface="Tahoma" panose="020B0604030504040204" pitchFamily="34" charset="0"/>
            </a:endParaRPr>
          </a:p>
          <a:p>
            <a:pPr algn="l" fontAlgn="base"/>
            <a:r>
              <a:rPr lang="es-ES" b="1" i="0" dirty="0">
                <a:solidFill>
                  <a:srgbClr val="000000"/>
                </a:solidFill>
                <a:effectLst/>
                <a:latin typeface="Tahoma" panose="020B0604030504040204" pitchFamily="34" charset="0"/>
              </a:rPr>
              <a:t>Mayor universo de cobertura</a:t>
            </a:r>
            <a:r>
              <a:rPr lang="es-ES" i="0" dirty="0">
                <a:solidFill>
                  <a:srgbClr val="000000"/>
                </a:solidFill>
                <a:effectLst/>
                <a:latin typeface="Tahoma" panose="020B0604030504040204" pitchFamily="34" charset="0"/>
              </a:rPr>
              <a:t>, puesto que con un sistema de telemedicina bien instalado se benefician de una buena atención en salud adultos, niños y niñas de todos los estratos socioeconómicos.</a:t>
            </a:r>
          </a:p>
          <a:p>
            <a:pPr algn="l" fontAlgn="base"/>
            <a:endParaRPr lang="es-ES" i="0" dirty="0">
              <a:solidFill>
                <a:srgbClr val="000000"/>
              </a:solidFill>
              <a:effectLst/>
              <a:latin typeface="Tahoma" panose="020B0604030504040204" pitchFamily="34" charset="0"/>
            </a:endParaRPr>
          </a:p>
          <a:p>
            <a:pPr algn="l" fontAlgn="base"/>
            <a:r>
              <a:rPr lang="es-ES" sz="1600" b="1" i="0" dirty="0">
                <a:solidFill>
                  <a:schemeClr val="bg1"/>
                </a:solidFill>
                <a:effectLst/>
                <a:latin typeface="Tahoma" panose="020B0604030504040204" pitchFamily="34" charset="0"/>
              </a:rPr>
              <a:t>Ahorro sustancial en medios diagnósticos</a:t>
            </a:r>
            <a:r>
              <a:rPr lang="es-ES" sz="1600" b="0" i="0" dirty="0">
                <a:solidFill>
                  <a:schemeClr val="bg1"/>
                </a:solidFill>
                <a:effectLst/>
                <a:latin typeface="Tahoma" panose="020B0604030504040204" pitchFamily="34" charset="0"/>
              </a:rPr>
              <a:t>, ya que se evitaría, en las instituciones de salud, privadas y públicas, la duplicidad de exámenes cuando los pacientes son remitidos a una entidad hospitalaria de mediana y alta complejidad.</a:t>
            </a:r>
            <a:endParaRPr lang="es-ES" i="0" dirty="0">
              <a:solidFill>
                <a:srgbClr val="000000"/>
              </a:solidFill>
              <a:effectLst/>
              <a:latin typeface="Tahoma" panose="020B0604030504040204" pitchFamily="34" charset="0"/>
            </a:endParaRPr>
          </a:p>
        </p:txBody>
      </p:sp>
    </p:spTree>
    <p:extLst>
      <p:ext uri="{BB962C8B-B14F-4D97-AF65-F5344CB8AC3E}">
        <p14:creationId xmlns:p14="http://schemas.microsoft.com/office/powerpoint/2010/main" val="3776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A90FCB-8945-4C88-B9EA-FA603CE1C349}"/>
              </a:ext>
            </a:extLst>
          </p:cNvPr>
          <p:cNvSpPr>
            <a:spLocks noGrp="1"/>
          </p:cNvSpPr>
          <p:nvPr>
            <p:ph type="title"/>
          </p:nvPr>
        </p:nvSpPr>
        <p:spPr/>
        <p:txBody>
          <a:bodyPr/>
          <a:lstStyle/>
          <a:p>
            <a:r>
              <a:rPr lang="es-ES" dirty="0"/>
              <a:t>Objetivos de los sistemas de telemedicina:</a:t>
            </a:r>
            <a:br>
              <a:rPr lang="es-ES" dirty="0"/>
            </a:br>
            <a:endParaRPr lang="es-US" dirty="0"/>
          </a:p>
        </p:txBody>
      </p:sp>
      <p:sp>
        <p:nvSpPr>
          <p:cNvPr id="4" name="Marcador de texto 3">
            <a:extLst>
              <a:ext uri="{FF2B5EF4-FFF2-40B4-BE49-F238E27FC236}">
                <a16:creationId xmlns:a16="http://schemas.microsoft.com/office/drawing/2014/main" id="{3F1A3D7A-3774-4059-9DEE-C92B7E87A300}"/>
              </a:ext>
            </a:extLst>
          </p:cNvPr>
          <p:cNvSpPr>
            <a:spLocks noGrp="1"/>
          </p:cNvSpPr>
          <p:nvPr>
            <p:ph type="body" sz="half" idx="2"/>
          </p:nvPr>
        </p:nvSpPr>
        <p:spPr>
          <a:xfrm>
            <a:off x="680322" y="2336873"/>
            <a:ext cx="10694260" cy="3599315"/>
          </a:xfrm>
        </p:spPr>
        <p:txBody>
          <a:bodyPr>
            <a:normAutofit/>
          </a:bodyPr>
          <a:lstStyle/>
          <a:p>
            <a:r>
              <a:rPr lang="es-ES" dirty="0">
                <a:solidFill>
                  <a:schemeClr val="bg1"/>
                </a:solidFill>
              </a:rPr>
              <a:t>Mejorar la salud de los ciudadanos al proporcionar información vital, posiblemente también entre países, utilizando servicios electrónicos de salud</a:t>
            </a:r>
          </a:p>
          <a:p>
            <a:endParaRPr lang="es-US" dirty="0">
              <a:solidFill>
                <a:schemeClr val="bg1"/>
              </a:solidFill>
            </a:endParaRPr>
          </a:p>
          <a:p>
            <a:r>
              <a:rPr lang="es-ES" dirty="0">
                <a:solidFill>
                  <a:schemeClr val="bg1"/>
                </a:solidFill>
              </a:rPr>
              <a:t>Mejorar la calidad y la accesibilidad de la atención médica mediante la integración de los servicios electrónicos de salud en las políticas sanitarias y la coordinación de las estrategias políticas, ﬁnancieras y técnicas de los países</a:t>
            </a:r>
            <a:r>
              <a:rPr lang="es-US" dirty="0">
                <a:solidFill>
                  <a:schemeClr val="bg1"/>
                </a:solidFill>
              </a:rPr>
              <a:t>s.</a:t>
            </a:r>
          </a:p>
          <a:p>
            <a:endParaRPr lang="es-US" dirty="0">
              <a:solidFill>
                <a:schemeClr val="bg1"/>
              </a:solidFill>
            </a:endParaRPr>
          </a:p>
          <a:p>
            <a:r>
              <a:rPr lang="es-ES" dirty="0">
                <a:solidFill>
                  <a:schemeClr val="bg1"/>
                </a:solidFill>
              </a:rPr>
              <a:t>Crear de servicios de salud electrónicos eﬁcientes, fáciles de usar y ampliamente aceptados a través de la participación de profesionales y pacientes en la estrategia, diseño e implementación.</a:t>
            </a:r>
            <a:endParaRPr lang="es-US" dirty="0">
              <a:solidFill>
                <a:schemeClr val="bg1"/>
              </a:solidFill>
            </a:endParaRPr>
          </a:p>
        </p:txBody>
      </p:sp>
    </p:spTree>
    <p:extLst>
      <p:ext uri="{BB962C8B-B14F-4D97-AF65-F5344CB8AC3E}">
        <p14:creationId xmlns:p14="http://schemas.microsoft.com/office/powerpoint/2010/main" val="4107367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5B86BD-EDE1-4765-BCE6-F3861F14936A}"/>
              </a:ext>
            </a:extLst>
          </p:cNvPr>
          <p:cNvSpPr>
            <a:spLocks noGrp="1"/>
          </p:cNvSpPr>
          <p:nvPr>
            <p:ph type="title"/>
          </p:nvPr>
        </p:nvSpPr>
        <p:spPr/>
        <p:txBody>
          <a:bodyPr/>
          <a:lstStyle/>
          <a:p>
            <a:r>
              <a:rPr lang="es-ES" dirty="0"/>
              <a:t>Requerimientos que debe cubrir un sistema de telemedicina:</a:t>
            </a:r>
            <a:endParaRPr lang="es-US" dirty="0"/>
          </a:p>
        </p:txBody>
      </p:sp>
      <p:sp>
        <p:nvSpPr>
          <p:cNvPr id="4" name="Marcador de texto 3">
            <a:extLst>
              <a:ext uri="{FF2B5EF4-FFF2-40B4-BE49-F238E27FC236}">
                <a16:creationId xmlns:a16="http://schemas.microsoft.com/office/drawing/2014/main" id="{EA3447DA-2544-4E83-B714-75758F6C6AC5}"/>
              </a:ext>
            </a:extLst>
          </p:cNvPr>
          <p:cNvSpPr>
            <a:spLocks noGrp="1"/>
          </p:cNvSpPr>
          <p:nvPr>
            <p:ph type="body" sz="half" idx="2"/>
          </p:nvPr>
        </p:nvSpPr>
        <p:spPr>
          <a:xfrm>
            <a:off x="680323" y="2505457"/>
            <a:ext cx="9978578" cy="3599315"/>
          </a:xfrm>
        </p:spPr>
        <p:txBody>
          <a:bodyPr>
            <a:normAutofit fontScale="70000" lnSpcReduction="20000"/>
          </a:bodyPr>
          <a:lstStyle/>
          <a:p>
            <a:pPr marL="457200" indent="-457200" fontAlgn="base">
              <a:buFont typeface="+mj-lt"/>
              <a:buAutoNum type="arabicPeriod"/>
            </a:pPr>
            <a:r>
              <a:rPr lang="es-ES" sz="2300" b="1" dirty="0">
                <a:solidFill>
                  <a:schemeClr val="bg1"/>
                </a:solidFill>
                <a:effectLst/>
              </a:rPr>
              <a:t>Prestar servicios interactivos de diagnóstico y videoconferencia.</a:t>
            </a:r>
            <a:br>
              <a:rPr lang="es-ES" sz="2300" b="1" dirty="0">
                <a:solidFill>
                  <a:schemeClr val="bg1"/>
                </a:solidFill>
                <a:effectLst/>
              </a:rPr>
            </a:br>
            <a:endParaRPr lang="es-ES" sz="2300" b="1" dirty="0">
              <a:solidFill>
                <a:schemeClr val="bg1"/>
              </a:solidFill>
              <a:effectLst/>
            </a:endParaRPr>
          </a:p>
          <a:p>
            <a:pPr marL="457200" indent="-457200" fontAlgn="base">
              <a:buFont typeface="+mj-lt"/>
              <a:buAutoNum type="arabicPeriod"/>
            </a:pPr>
            <a:r>
              <a:rPr lang="es-ES" sz="2300" b="1" dirty="0">
                <a:solidFill>
                  <a:schemeClr val="bg1"/>
                </a:solidFill>
                <a:effectLst/>
              </a:rPr>
              <a:t>Recibir y enviar imágenes diagnósticas en el mejor tiempo posible.</a:t>
            </a:r>
            <a:br>
              <a:rPr lang="es-ES" sz="2300" b="1" dirty="0">
                <a:solidFill>
                  <a:schemeClr val="bg1"/>
                </a:solidFill>
                <a:effectLst/>
              </a:rPr>
            </a:br>
            <a:endParaRPr lang="es-ES" sz="2300" b="1" dirty="0">
              <a:solidFill>
                <a:schemeClr val="bg1"/>
              </a:solidFill>
              <a:effectLst/>
            </a:endParaRPr>
          </a:p>
          <a:p>
            <a:pPr marL="457200" indent="-457200" fontAlgn="base">
              <a:buFont typeface="+mj-lt"/>
              <a:buAutoNum type="arabicPeriod"/>
            </a:pPr>
            <a:r>
              <a:rPr lang="es-ES" sz="2300" b="1" dirty="0">
                <a:solidFill>
                  <a:schemeClr val="bg1"/>
                </a:solidFill>
                <a:effectLst/>
              </a:rPr>
              <a:t>Agilizar el diagnóstico por parte de los especialistas.</a:t>
            </a:r>
            <a:br>
              <a:rPr lang="es-ES" sz="2300" b="1" dirty="0">
                <a:solidFill>
                  <a:schemeClr val="bg1"/>
                </a:solidFill>
                <a:effectLst/>
              </a:rPr>
            </a:br>
            <a:endParaRPr lang="es-ES" sz="2300" b="1" dirty="0">
              <a:solidFill>
                <a:schemeClr val="bg1"/>
              </a:solidFill>
              <a:effectLst/>
            </a:endParaRPr>
          </a:p>
          <a:p>
            <a:pPr marL="457200" indent="-457200" fontAlgn="base">
              <a:buFont typeface="+mj-lt"/>
              <a:buAutoNum type="arabicPeriod"/>
            </a:pPr>
            <a:r>
              <a:rPr lang="es-ES" sz="2300" b="1" dirty="0">
                <a:solidFill>
                  <a:schemeClr val="bg1"/>
                </a:solidFill>
                <a:effectLst/>
              </a:rPr>
              <a:t>Impactar con una alta calidad médica la precisión diagnóstica.</a:t>
            </a:r>
            <a:br>
              <a:rPr lang="es-ES" sz="2300" b="1" dirty="0">
                <a:solidFill>
                  <a:schemeClr val="bg1"/>
                </a:solidFill>
                <a:effectLst/>
              </a:rPr>
            </a:br>
            <a:endParaRPr lang="es-ES" sz="2300" b="1" dirty="0">
              <a:solidFill>
                <a:schemeClr val="bg1"/>
              </a:solidFill>
              <a:effectLst/>
            </a:endParaRPr>
          </a:p>
          <a:p>
            <a:pPr marL="457200" indent="-457200" fontAlgn="base">
              <a:buFont typeface="+mj-lt"/>
              <a:buAutoNum type="arabicPeriod"/>
            </a:pPr>
            <a:r>
              <a:rPr lang="es-ES" sz="2300" b="1" dirty="0">
                <a:solidFill>
                  <a:schemeClr val="bg1"/>
                </a:solidFill>
                <a:effectLst/>
              </a:rPr>
              <a:t>Impactar con una alta calidad médica la decisión terapéutica.</a:t>
            </a:r>
            <a:br>
              <a:rPr lang="es-ES" sz="2300" b="1" dirty="0">
                <a:solidFill>
                  <a:schemeClr val="bg1"/>
                </a:solidFill>
                <a:effectLst/>
              </a:rPr>
            </a:br>
            <a:endParaRPr lang="es-ES" sz="2300" b="1" dirty="0">
              <a:solidFill>
                <a:schemeClr val="bg1"/>
              </a:solidFill>
              <a:effectLst/>
            </a:endParaRPr>
          </a:p>
          <a:p>
            <a:pPr marL="457200" indent="-457200" fontAlgn="base">
              <a:buFont typeface="+mj-lt"/>
              <a:buAutoNum type="arabicPeriod"/>
            </a:pPr>
            <a:r>
              <a:rPr lang="es-ES" sz="2300" b="1" dirty="0">
                <a:solidFill>
                  <a:schemeClr val="bg1"/>
                </a:solidFill>
                <a:effectLst/>
              </a:rPr>
              <a:t>Segunda opinión en diagnóstico y tratamiento.</a:t>
            </a:r>
            <a:br>
              <a:rPr lang="es-ES" sz="2300" b="1" dirty="0">
                <a:solidFill>
                  <a:schemeClr val="bg1"/>
                </a:solidFill>
                <a:effectLst/>
              </a:rPr>
            </a:br>
            <a:endParaRPr lang="es-ES" sz="2300" b="1" dirty="0">
              <a:solidFill>
                <a:schemeClr val="bg1"/>
              </a:solidFill>
              <a:effectLst/>
            </a:endParaRPr>
          </a:p>
          <a:p>
            <a:pPr marL="457200" indent="-457200" fontAlgn="base">
              <a:buFont typeface="+mj-lt"/>
              <a:buAutoNum type="arabicPeriod"/>
            </a:pPr>
            <a:r>
              <a:rPr lang="es-ES" sz="2300" b="1" dirty="0">
                <a:solidFill>
                  <a:schemeClr val="bg1"/>
                </a:solidFill>
                <a:effectLst/>
              </a:rPr>
              <a:t>Aumentar la eficiencia de los centros de autorización para remisión.</a:t>
            </a:r>
            <a:br>
              <a:rPr lang="es-ES" sz="1800" dirty="0">
                <a:solidFill>
                  <a:schemeClr val="bg1"/>
                </a:solidFill>
                <a:effectLst/>
              </a:rPr>
            </a:br>
            <a:endParaRPr lang="es-ES" sz="1800" dirty="0">
              <a:solidFill>
                <a:schemeClr val="bg1"/>
              </a:solidFill>
              <a:effectLst/>
            </a:endParaRPr>
          </a:p>
          <a:p>
            <a:br>
              <a:rPr lang="es-ES" dirty="0">
                <a:effectLst/>
              </a:rPr>
            </a:br>
            <a:endParaRPr lang="es-US" dirty="0"/>
          </a:p>
        </p:txBody>
      </p:sp>
    </p:spTree>
    <p:extLst>
      <p:ext uri="{BB962C8B-B14F-4D97-AF65-F5344CB8AC3E}">
        <p14:creationId xmlns:p14="http://schemas.microsoft.com/office/powerpoint/2010/main" val="24526116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24D008-1598-4875-98B3-C9275FC094C1}"/>
              </a:ext>
            </a:extLst>
          </p:cNvPr>
          <p:cNvSpPr>
            <a:spLocks noGrp="1"/>
          </p:cNvSpPr>
          <p:nvPr>
            <p:ph type="title"/>
          </p:nvPr>
        </p:nvSpPr>
        <p:spPr/>
        <p:txBody>
          <a:bodyPr/>
          <a:lstStyle/>
          <a:p>
            <a:r>
              <a:rPr lang="es-US" dirty="0"/>
              <a:t>Elementos que componen a un sistema de telemedicina: </a:t>
            </a:r>
          </a:p>
        </p:txBody>
      </p:sp>
      <p:sp>
        <p:nvSpPr>
          <p:cNvPr id="4" name="Marcador de texto 3">
            <a:extLst>
              <a:ext uri="{FF2B5EF4-FFF2-40B4-BE49-F238E27FC236}">
                <a16:creationId xmlns:a16="http://schemas.microsoft.com/office/drawing/2014/main" id="{3066114C-C680-4908-861C-FFBFDCD482FD}"/>
              </a:ext>
            </a:extLst>
          </p:cNvPr>
          <p:cNvSpPr>
            <a:spLocks noGrp="1"/>
          </p:cNvSpPr>
          <p:nvPr>
            <p:ph type="body" sz="half" idx="2"/>
          </p:nvPr>
        </p:nvSpPr>
        <p:spPr>
          <a:xfrm>
            <a:off x="680323" y="2505457"/>
            <a:ext cx="8865459" cy="3599315"/>
          </a:xfr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a:lstStyle/>
          <a:p>
            <a:pPr marL="285750" indent="-285750" algn="just">
              <a:buFont typeface="Arial" panose="020B0604020202020204" pitchFamily="34" charset="0"/>
              <a:buChar char="•"/>
            </a:pPr>
            <a:r>
              <a:rPr lang="es-ES" i="0" dirty="0">
                <a:solidFill>
                  <a:schemeClr val="bg1"/>
                </a:solidFill>
                <a:effectLst/>
                <a:latin typeface="arial" panose="020B0604020202020204" pitchFamily="34" charset="0"/>
              </a:rPr>
              <a:t>Equipos capaces de comunicarse (preferiblemente videoconferencia).</a:t>
            </a:r>
          </a:p>
          <a:p>
            <a:pPr marL="285750" indent="-285750" algn="just">
              <a:buFont typeface="Arial" panose="020B0604020202020204" pitchFamily="34" charset="0"/>
              <a:buChar char="•"/>
            </a:pPr>
            <a:endParaRPr lang="es-ES" i="0" dirty="0">
              <a:solidFill>
                <a:schemeClr val="bg1"/>
              </a:solidFill>
              <a:effectLst/>
              <a:latin typeface="Arial" panose="020B0604020202020204" pitchFamily="34" charset="0"/>
            </a:endParaRPr>
          </a:p>
          <a:p>
            <a:pPr marL="285750" indent="-285750" algn="just">
              <a:buFont typeface="Arial" panose="020B0604020202020204" pitchFamily="34" charset="0"/>
              <a:buChar char="•"/>
            </a:pPr>
            <a:r>
              <a:rPr lang="es-ES" i="0" dirty="0">
                <a:solidFill>
                  <a:schemeClr val="bg1"/>
                </a:solidFill>
                <a:effectLst/>
                <a:latin typeface="arial" panose="020B0604020202020204" pitchFamily="34" charset="0"/>
              </a:rPr>
              <a:t>Medio de comunicación (satelital, Internet, etc.).</a:t>
            </a:r>
          </a:p>
          <a:p>
            <a:pPr marL="285750" indent="-285750" algn="just">
              <a:buFont typeface="Arial" panose="020B0604020202020204" pitchFamily="34" charset="0"/>
              <a:buChar char="•"/>
            </a:pPr>
            <a:endParaRPr lang="es-ES" i="0" dirty="0">
              <a:solidFill>
                <a:schemeClr val="bg1"/>
              </a:solidFill>
              <a:effectLst/>
              <a:latin typeface="Arial" panose="020B0604020202020204" pitchFamily="34" charset="0"/>
            </a:endParaRPr>
          </a:p>
          <a:p>
            <a:pPr marL="285750" indent="-285750" algn="just">
              <a:buFont typeface="Arial" panose="020B0604020202020204" pitchFamily="34" charset="0"/>
              <a:buChar char="•"/>
            </a:pPr>
            <a:r>
              <a:rPr lang="es-ES" i="0" dirty="0">
                <a:solidFill>
                  <a:schemeClr val="bg1"/>
                </a:solidFill>
                <a:effectLst/>
                <a:latin typeface="arial" panose="020B0604020202020204" pitchFamily="34" charset="0"/>
              </a:rPr>
              <a:t>Estándares y protocolos de interoperabilidad de información (HL7 y DICOM).</a:t>
            </a:r>
          </a:p>
          <a:p>
            <a:pPr marL="285750" indent="-285750" algn="just">
              <a:buFont typeface="Arial" panose="020B0604020202020204" pitchFamily="34" charset="0"/>
              <a:buChar char="•"/>
            </a:pPr>
            <a:endParaRPr lang="es-ES" i="0" dirty="0">
              <a:solidFill>
                <a:schemeClr val="bg1"/>
              </a:solidFill>
              <a:effectLst/>
              <a:latin typeface="Arial" panose="020B0604020202020204" pitchFamily="34" charset="0"/>
            </a:endParaRPr>
          </a:p>
          <a:p>
            <a:pPr marL="285750" indent="-285750" algn="just">
              <a:buFont typeface="Arial" panose="020B0604020202020204" pitchFamily="34" charset="0"/>
              <a:buChar char="•"/>
            </a:pPr>
            <a:r>
              <a:rPr lang="es-ES" i="0" dirty="0">
                <a:solidFill>
                  <a:schemeClr val="bg1"/>
                </a:solidFill>
                <a:effectLst/>
                <a:latin typeface="arial" panose="020B0604020202020204" pitchFamily="34" charset="0"/>
              </a:rPr>
              <a:t>El hospital o clínica de apoyo que debe gestionar los recursos necesarios (infraestructura, tiempo y especialmente especialistas) para prestar los servicios médicos.</a:t>
            </a:r>
            <a:endParaRPr lang="es-ES" i="0" dirty="0">
              <a:solidFill>
                <a:schemeClr val="bg1"/>
              </a:solidFill>
              <a:effectLst/>
              <a:latin typeface="Arial" panose="020B0604020202020204" pitchFamily="34" charset="0"/>
            </a:endParaRPr>
          </a:p>
          <a:p>
            <a:endParaRPr lang="es-US" dirty="0"/>
          </a:p>
        </p:txBody>
      </p:sp>
    </p:spTree>
    <p:extLst>
      <p:ext uri="{BB962C8B-B14F-4D97-AF65-F5344CB8AC3E}">
        <p14:creationId xmlns:p14="http://schemas.microsoft.com/office/powerpoint/2010/main" val="775922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4C0C7F-4A9F-4B7D-9BD5-42A69E97D024}"/>
              </a:ext>
            </a:extLst>
          </p:cNvPr>
          <p:cNvSpPr>
            <a:spLocks noGrp="1"/>
          </p:cNvSpPr>
          <p:nvPr>
            <p:ph type="title"/>
          </p:nvPr>
        </p:nvSpPr>
        <p:spPr>
          <a:xfrm>
            <a:off x="193965" y="753228"/>
            <a:ext cx="10100218" cy="1080938"/>
          </a:xfrm>
        </p:spPr>
        <p:txBody>
          <a:bodyPr/>
          <a:lstStyle/>
          <a:p>
            <a:r>
              <a:rPr lang="es-US" dirty="0"/>
              <a:t>Estándares Internacionales de Sistemas de   </a:t>
            </a:r>
            <a:br>
              <a:rPr lang="es-US" dirty="0"/>
            </a:br>
            <a:r>
              <a:rPr lang="es-US" dirty="0"/>
              <a:t>                       telemedicina             </a:t>
            </a:r>
          </a:p>
        </p:txBody>
      </p:sp>
      <p:sp>
        <p:nvSpPr>
          <p:cNvPr id="3" name="Marcador de contenido 2">
            <a:extLst>
              <a:ext uri="{FF2B5EF4-FFF2-40B4-BE49-F238E27FC236}">
                <a16:creationId xmlns:a16="http://schemas.microsoft.com/office/drawing/2014/main" id="{39921190-CAFB-4AE7-BADC-D2F0802833FC}"/>
              </a:ext>
            </a:extLst>
          </p:cNvPr>
          <p:cNvSpPr>
            <a:spLocks noGrp="1"/>
          </p:cNvSpPr>
          <p:nvPr>
            <p:ph sz="half" idx="1"/>
          </p:nvPr>
        </p:nvSpPr>
        <p:spPr>
          <a:xfrm>
            <a:off x="540912" y="2323993"/>
            <a:ext cx="11024315" cy="3999533"/>
          </a:xfrm>
        </p:spPr>
        <p:txBody>
          <a:bodyPr>
            <a:normAutofit fontScale="85000" lnSpcReduction="20000"/>
          </a:bodyPr>
          <a:lstStyle/>
          <a:p>
            <a:pPr marL="0" indent="0">
              <a:buNone/>
            </a:pPr>
            <a:r>
              <a:rPr lang="es-ES" sz="1900" i="0" dirty="0">
                <a:solidFill>
                  <a:schemeClr val="bg1"/>
                </a:solidFill>
                <a:effectLst/>
                <a:latin typeface="+mj-lt"/>
              </a:rPr>
              <a:t>La Telemedicina hace posible realizar de forma remota, varios procedimientos médicos y clínicos como: </a:t>
            </a:r>
            <a:r>
              <a:rPr lang="es-ES" sz="1900" b="0" i="0" dirty="0">
                <a:solidFill>
                  <a:srgbClr val="333333"/>
                </a:solidFill>
                <a:effectLst/>
                <a:latin typeface="+mj-lt"/>
              </a:rPr>
              <a:t>exámenes, diagnósticos y supervisión de tratamientos, utilizando recursos tele informáticos como computadores, servidores, equipos de procesamiento de imágenes, Internet y equipos de transmisión y recepción de información. </a:t>
            </a:r>
          </a:p>
          <a:p>
            <a:pPr marL="0" indent="0">
              <a:buNone/>
            </a:pPr>
            <a:r>
              <a:rPr lang="es-ES" sz="1900" b="0" i="0" dirty="0">
                <a:solidFill>
                  <a:srgbClr val="333333"/>
                </a:solidFill>
                <a:effectLst/>
                <a:latin typeface="+mj-lt"/>
              </a:rPr>
              <a:t>La transmisión de la información de los pacientes crece día con día, vinculando otra serie de problemas relacionados con el tráfico y seguridad de los datos. En el tema de la seguridad, aún existe divergencia en los criterios de almacenamiento, acceso y transmisión de información de los pacientes porque los requerimientos físicos y lógicos varían para cada empresa, equipo desarrollador o intereses particulares.</a:t>
            </a:r>
          </a:p>
          <a:p>
            <a:pPr marL="0" indent="0">
              <a:buNone/>
            </a:pPr>
            <a:endParaRPr lang="es-ES" sz="1900" b="0" i="0" dirty="0">
              <a:solidFill>
                <a:srgbClr val="333333"/>
              </a:solidFill>
              <a:effectLst/>
              <a:latin typeface="+mj-lt"/>
            </a:endParaRPr>
          </a:p>
          <a:p>
            <a:pPr marL="0" indent="0">
              <a:buNone/>
            </a:pPr>
            <a:r>
              <a:rPr lang="es-ES" sz="1900" dirty="0">
                <a:solidFill>
                  <a:srgbClr val="333333"/>
                </a:solidFill>
                <a:effectLst/>
                <a:latin typeface="+mj-lt"/>
              </a:rPr>
              <a:t>Para una correcta administración de la seguridad de la información médica, se debe establecer controles y procedimientos que la preserven. Las diferentes regulaciones buscan mantener la conﬁdencialidad, integridad y disponibilidad de la información médica.</a:t>
            </a:r>
          </a:p>
          <a:p>
            <a:pPr marL="0" indent="0">
              <a:buNone/>
            </a:pPr>
            <a:endParaRPr lang="es-ES" sz="1900" dirty="0">
              <a:solidFill>
                <a:srgbClr val="333333"/>
              </a:solidFill>
              <a:effectLst/>
              <a:latin typeface="+mj-lt"/>
            </a:endParaRPr>
          </a:p>
          <a:p>
            <a:pPr marL="0" indent="0">
              <a:buNone/>
            </a:pPr>
            <a:r>
              <a:rPr lang="es-ES" sz="1900" dirty="0">
                <a:solidFill>
                  <a:srgbClr val="333333"/>
                </a:solidFill>
                <a:effectLst/>
                <a:latin typeface="+mj-lt"/>
              </a:rPr>
              <a:t>La existencia de estándares regulatorios sobre el manejo de información médica, ha permitido que las entidades de salud alcancen mayores índices de conﬁabilidad en la transmisión de información. </a:t>
            </a:r>
          </a:p>
          <a:p>
            <a:pPr marL="0" indent="0">
              <a:buNone/>
            </a:pPr>
            <a:endParaRPr lang="es-ES" sz="1900" dirty="0">
              <a:solidFill>
                <a:srgbClr val="333333"/>
              </a:solidFill>
              <a:effectLst/>
              <a:latin typeface="+mj-lt"/>
            </a:endParaRPr>
          </a:p>
          <a:p>
            <a:pPr marL="0" indent="0">
              <a:buNone/>
            </a:pPr>
            <a:r>
              <a:rPr lang="es-ES" sz="1900" dirty="0">
                <a:solidFill>
                  <a:srgbClr val="333333"/>
                </a:solidFill>
                <a:effectLst/>
                <a:latin typeface="+mj-lt"/>
              </a:rPr>
              <a:t>Dentro de los estándares más representativos, se destacan HIPAA, COBIT, CALDICOTT, PIPEDA, ISO Y ITU-T. Estos estándares establecen parámetros para preservar la regulación de transmisión de información.</a:t>
            </a:r>
            <a:endParaRPr lang="es-ES" sz="1900" b="0" i="0" dirty="0">
              <a:solidFill>
                <a:srgbClr val="000000"/>
              </a:solidFill>
              <a:effectLst/>
              <a:latin typeface="+mj-lt"/>
            </a:endParaRPr>
          </a:p>
          <a:p>
            <a:pPr marL="0" indent="0" algn="l">
              <a:buNone/>
            </a:pPr>
            <a:endParaRPr lang="es-ES" b="0" i="0" dirty="0">
              <a:solidFill>
                <a:srgbClr val="000000"/>
              </a:solidFill>
              <a:effectLst/>
              <a:latin typeface="ff3"/>
            </a:endParaRPr>
          </a:p>
          <a:p>
            <a:endParaRPr lang="es-ES" dirty="0">
              <a:solidFill>
                <a:srgbClr val="333333"/>
              </a:solidFill>
              <a:effectLst/>
              <a:latin typeface="Roboto"/>
            </a:endParaRPr>
          </a:p>
          <a:p>
            <a:endParaRPr lang="es-ES" dirty="0">
              <a:solidFill>
                <a:srgbClr val="333333"/>
              </a:solidFill>
              <a:effectLst/>
              <a:latin typeface="Roboto"/>
            </a:endParaRPr>
          </a:p>
          <a:p>
            <a:endParaRPr lang="es-ES" dirty="0">
              <a:solidFill>
                <a:srgbClr val="333333"/>
              </a:solidFill>
              <a:effectLst/>
              <a:latin typeface="Roboto"/>
            </a:endParaRPr>
          </a:p>
          <a:p>
            <a:endParaRPr lang="es-US" dirty="0"/>
          </a:p>
        </p:txBody>
      </p:sp>
    </p:spTree>
    <p:extLst>
      <p:ext uri="{BB962C8B-B14F-4D97-AF65-F5344CB8AC3E}">
        <p14:creationId xmlns:p14="http://schemas.microsoft.com/office/powerpoint/2010/main" val="31071905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07669C-F3D7-4AF3-86A8-6B1C8CEB70DA}"/>
              </a:ext>
            </a:extLst>
          </p:cNvPr>
          <p:cNvSpPr>
            <a:spLocks noGrp="1"/>
          </p:cNvSpPr>
          <p:nvPr>
            <p:ph type="title"/>
          </p:nvPr>
        </p:nvSpPr>
        <p:spPr/>
        <p:txBody>
          <a:bodyPr/>
          <a:lstStyle/>
          <a:p>
            <a:r>
              <a:rPr lang="es-US" dirty="0"/>
              <a:t>Estándares Internacionales de Sistemas de   </a:t>
            </a:r>
            <a:br>
              <a:rPr lang="es-US" dirty="0"/>
            </a:br>
            <a:r>
              <a:rPr lang="es-US" dirty="0"/>
              <a:t>                       telemedicina </a:t>
            </a:r>
          </a:p>
        </p:txBody>
      </p:sp>
      <p:sp>
        <p:nvSpPr>
          <p:cNvPr id="3" name="Marcador de contenido 2">
            <a:extLst>
              <a:ext uri="{FF2B5EF4-FFF2-40B4-BE49-F238E27FC236}">
                <a16:creationId xmlns:a16="http://schemas.microsoft.com/office/drawing/2014/main" id="{D027D8A7-2F96-4D18-A290-BAA438AC45FA}"/>
              </a:ext>
            </a:extLst>
          </p:cNvPr>
          <p:cNvSpPr>
            <a:spLocks noGrp="1"/>
          </p:cNvSpPr>
          <p:nvPr>
            <p:ph sz="half" idx="1"/>
          </p:nvPr>
        </p:nvSpPr>
        <p:spPr>
          <a:xfrm>
            <a:off x="680320" y="2130810"/>
            <a:ext cx="10653087" cy="3973961"/>
          </a:xfrm>
        </p:spPr>
        <p:txBody>
          <a:bodyPr>
            <a:normAutofit fontScale="92500" lnSpcReduction="10000"/>
          </a:bodyPr>
          <a:lstStyle/>
          <a:p>
            <a:endParaRPr lang="es-ES" sz="2200" dirty="0">
              <a:solidFill>
                <a:schemeClr val="bg1"/>
              </a:solidFill>
            </a:endParaRPr>
          </a:p>
          <a:p>
            <a:pPr marL="0" indent="0">
              <a:buNone/>
            </a:pPr>
            <a:r>
              <a:rPr lang="es-ES" sz="2200" dirty="0">
                <a:solidFill>
                  <a:schemeClr val="bg1"/>
                </a:solidFill>
              </a:rPr>
              <a:t>HIPAA - La Ley de Transferibilidad y Responsabilidad de Seguros de Salud </a:t>
            </a:r>
          </a:p>
          <a:p>
            <a:endParaRPr lang="es-ES" sz="1700" dirty="0">
              <a:solidFill>
                <a:schemeClr val="bg1"/>
              </a:solidFill>
            </a:endParaRPr>
          </a:p>
          <a:p>
            <a:pPr marL="0" indent="0">
              <a:buNone/>
            </a:pPr>
            <a:r>
              <a:rPr lang="es-ES" sz="1700" dirty="0">
                <a:solidFill>
                  <a:schemeClr val="bg1"/>
                </a:solidFill>
              </a:rPr>
              <a:t>Es un conjunto de estándares que aseguran la protección de información médica en aspectos como la transmisión, almacenamiento y acceso a la información de salud. Esta Ley se fundamenta en dos documentos principales 45 CFR PART 160 y 45 CFR PART 164. </a:t>
            </a:r>
          </a:p>
          <a:p>
            <a:pPr marL="0" indent="0">
              <a:buNone/>
            </a:pPr>
            <a:r>
              <a:rPr lang="es-ES" sz="1700" dirty="0">
                <a:solidFill>
                  <a:schemeClr val="bg1"/>
                </a:solidFill>
              </a:rPr>
              <a:t>La primera parte </a:t>
            </a:r>
            <a:r>
              <a:rPr lang="es-ES" sz="1700" dirty="0" err="1">
                <a:solidFill>
                  <a:schemeClr val="bg1"/>
                </a:solidFill>
              </a:rPr>
              <a:t>especiﬁca</a:t>
            </a:r>
            <a:r>
              <a:rPr lang="es-ES" sz="1700" dirty="0">
                <a:solidFill>
                  <a:schemeClr val="bg1"/>
                </a:solidFill>
              </a:rPr>
              <a:t> los requerimientos administrativos generales y la segunda, requerimientos de seguridad para la información médica, registro médico electrónico, fundamentos del análisis de riesgos de seguridad, gestión de riesgos y requerimientos para proteger de la información médica.</a:t>
            </a:r>
          </a:p>
          <a:p>
            <a:pPr marL="0" indent="0">
              <a:buNone/>
            </a:pPr>
            <a:r>
              <a:rPr lang="es-ES" sz="1700" dirty="0">
                <a:solidFill>
                  <a:schemeClr val="bg1"/>
                </a:solidFill>
              </a:rPr>
              <a:t>Establece parámetros para permitir la protección de información relacionada con la identiﬁcación personal en servicios de salud. Por otra parte, deﬁne qué información es de alta calidad y debe ser protegida contra divulgación indebida e inapropiada. </a:t>
            </a:r>
          </a:p>
          <a:p>
            <a:pPr marL="0" indent="0">
              <a:buNone/>
            </a:pPr>
            <a:r>
              <a:rPr lang="es-ES" sz="1700" dirty="0">
                <a:solidFill>
                  <a:schemeClr val="bg1"/>
                </a:solidFill>
              </a:rPr>
              <a:t>Esta norma mediante documentos de conﬁdencialidad como reportes de cumplimiento de principios de protección de datos, políticas, procedimientos para la salud e informes sobre identiﬁcación del paciente, permite recopilar los requerimientos para mantener la integridad de la información médica de los pacientes</a:t>
            </a:r>
          </a:p>
          <a:p>
            <a:endParaRPr lang="es-ES" sz="1600" dirty="0">
              <a:solidFill>
                <a:schemeClr val="bg1"/>
              </a:solidFill>
            </a:endParaRPr>
          </a:p>
          <a:p>
            <a:endParaRPr lang="es-US" sz="1600" dirty="0">
              <a:solidFill>
                <a:schemeClr val="bg1"/>
              </a:solidFill>
            </a:endParaRPr>
          </a:p>
        </p:txBody>
      </p:sp>
    </p:spTree>
    <p:extLst>
      <p:ext uri="{BB962C8B-B14F-4D97-AF65-F5344CB8AC3E}">
        <p14:creationId xmlns:p14="http://schemas.microsoft.com/office/powerpoint/2010/main" val="19469966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5DF6EB-690F-4FB6-B8FA-B2592095A5FB}"/>
              </a:ext>
            </a:extLst>
          </p:cNvPr>
          <p:cNvSpPr>
            <a:spLocks noGrp="1"/>
          </p:cNvSpPr>
          <p:nvPr>
            <p:ph type="title"/>
          </p:nvPr>
        </p:nvSpPr>
        <p:spPr/>
        <p:txBody>
          <a:bodyPr/>
          <a:lstStyle/>
          <a:p>
            <a:r>
              <a:rPr lang="es-US" dirty="0"/>
              <a:t>Estándares Internacionales de Sistemas de   </a:t>
            </a:r>
            <a:br>
              <a:rPr lang="es-US" dirty="0"/>
            </a:br>
            <a:r>
              <a:rPr lang="es-US" dirty="0"/>
              <a:t>                       telemedicina </a:t>
            </a:r>
          </a:p>
        </p:txBody>
      </p:sp>
      <p:sp>
        <p:nvSpPr>
          <p:cNvPr id="3" name="Marcador de contenido 2">
            <a:extLst>
              <a:ext uri="{FF2B5EF4-FFF2-40B4-BE49-F238E27FC236}">
                <a16:creationId xmlns:a16="http://schemas.microsoft.com/office/drawing/2014/main" id="{46C6056C-76F8-4AD5-A842-67EC87948E0E}"/>
              </a:ext>
            </a:extLst>
          </p:cNvPr>
          <p:cNvSpPr>
            <a:spLocks noGrp="1"/>
          </p:cNvSpPr>
          <p:nvPr>
            <p:ph sz="half" idx="1"/>
          </p:nvPr>
        </p:nvSpPr>
        <p:spPr>
          <a:xfrm>
            <a:off x="680321" y="2519409"/>
            <a:ext cx="5243962" cy="3599316"/>
          </a:xfrm>
        </p:spPr>
        <p:txBody>
          <a:bodyPr>
            <a:normAutofit fontScale="92500"/>
          </a:bodyPr>
          <a:lstStyle/>
          <a:p>
            <a:pPr marL="0" indent="0">
              <a:buNone/>
            </a:pPr>
            <a:r>
              <a:rPr lang="es-US" sz="2000" dirty="0">
                <a:solidFill>
                  <a:schemeClr val="bg1"/>
                </a:solidFill>
              </a:rPr>
              <a:t>CALDICOTT Principles - NHS, Reino Unido</a:t>
            </a:r>
          </a:p>
          <a:p>
            <a:pPr marL="0" indent="0">
              <a:buNone/>
            </a:pPr>
            <a:r>
              <a:rPr lang="es-ES" sz="2000" dirty="0">
                <a:solidFill>
                  <a:schemeClr val="bg1"/>
                </a:solidFill>
              </a:rPr>
              <a:t>Establece parámetros para permitir la protección de información relacionada con la identiﬁcación personal en servicios de salud. Por otra parte, deﬁne qué información es de alta calidad y debe ser protegida contra divulgación indebida e inapropiada. </a:t>
            </a:r>
          </a:p>
          <a:p>
            <a:pPr marL="0" indent="0">
              <a:buNone/>
            </a:pPr>
            <a:r>
              <a:rPr lang="es-ES" sz="1700" dirty="0">
                <a:solidFill>
                  <a:schemeClr val="bg1"/>
                </a:solidFill>
              </a:rPr>
              <a:t>Esta norma mediante documentos de conﬁdencialidad como reportes de cumplimiento de principios de protección de datos, políticas, procedimientos para la salud e informes sobre identiﬁcación del paciente, permite recopilar los requerimientos para mantener la integridad de la información médica de los pacientes</a:t>
            </a:r>
            <a:endParaRPr lang="es-US" sz="1700" dirty="0">
              <a:solidFill>
                <a:schemeClr val="bg1"/>
              </a:solidFill>
            </a:endParaRPr>
          </a:p>
          <a:p>
            <a:endParaRPr lang="es-US" dirty="0"/>
          </a:p>
        </p:txBody>
      </p:sp>
      <p:pic>
        <p:nvPicPr>
          <p:cNvPr id="2050" name="Picture 2" descr="Caldicott Guardian">
            <a:extLst>
              <a:ext uri="{FF2B5EF4-FFF2-40B4-BE49-F238E27FC236}">
                <a16:creationId xmlns:a16="http://schemas.microsoft.com/office/drawing/2014/main" id="{CF9F6926-DBED-4FC9-9FEB-D66DF0C4A017}"/>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488692" y="2415032"/>
            <a:ext cx="5243961" cy="37036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95057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F02EDC-476D-4F68-A311-5F97A3D22134}"/>
              </a:ext>
            </a:extLst>
          </p:cNvPr>
          <p:cNvSpPr>
            <a:spLocks noGrp="1"/>
          </p:cNvSpPr>
          <p:nvPr>
            <p:ph type="title"/>
          </p:nvPr>
        </p:nvSpPr>
        <p:spPr/>
        <p:txBody>
          <a:bodyPr/>
          <a:lstStyle/>
          <a:p>
            <a:r>
              <a:rPr lang="es-US" dirty="0"/>
              <a:t>Estándares Internacionales de Sistemas de   </a:t>
            </a:r>
            <a:br>
              <a:rPr lang="es-US" dirty="0"/>
            </a:br>
            <a:r>
              <a:rPr lang="es-US" dirty="0"/>
              <a:t>                       telemedicina </a:t>
            </a:r>
          </a:p>
        </p:txBody>
      </p:sp>
      <p:sp>
        <p:nvSpPr>
          <p:cNvPr id="3" name="Marcador de contenido 2">
            <a:extLst>
              <a:ext uri="{FF2B5EF4-FFF2-40B4-BE49-F238E27FC236}">
                <a16:creationId xmlns:a16="http://schemas.microsoft.com/office/drawing/2014/main" id="{5395C1F0-9A58-481D-8656-BB15F641A66C}"/>
              </a:ext>
            </a:extLst>
          </p:cNvPr>
          <p:cNvSpPr>
            <a:spLocks noGrp="1"/>
          </p:cNvSpPr>
          <p:nvPr>
            <p:ph sz="half" idx="1"/>
          </p:nvPr>
        </p:nvSpPr>
        <p:spPr>
          <a:xfrm>
            <a:off x="680321" y="2337194"/>
            <a:ext cx="4509865" cy="4765963"/>
          </a:xfrm>
        </p:spPr>
        <p:txBody>
          <a:bodyPr>
            <a:normAutofit/>
          </a:bodyPr>
          <a:lstStyle/>
          <a:p>
            <a:pPr marL="0" indent="0">
              <a:buNone/>
            </a:pPr>
            <a:r>
              <a:rPr lang="es-US" dirty="0">
                <a:solidFill>
                  <a:schemeClr val="bg1"/>
                </a:solidFill>
              </a:rPr>
              <a:t>COBIT : </a:t>
            </a:r>
            <a:r>
              <a:rPr lang="es-ES" dirty="0">
                <a:solidFill>
                  <a:schemeClr val="bg1"/>
                </a:solidFill>
              </a:rPr>
              <a:t>Objetivos de control para tecnología de la información y relacionadas:</a:t>
            </a:r>
          </a:p>
          <a:p>
            <a:pPr marL="0" indent="0">
              <a:buNone/>
            </a:pPr>
            <a:endParaRPr lang="es-ES" dirty="0">
              <a:solidFill>
                <a:schemeClr val="bg1"/>
              </a:solidFill>
            </a:endParaRPr>
          </a:p>
          <a:p>
            <a:r>
              <a:rPr lang="es-ES" sz="1600" dirty="0">
                <a:solidFill>
                  <a:schemeClr val="bg1"/>
                </a:solidFill>
                <a:effectLst/>
              </a:rPr>
              <a:t>Es un conjunto de mejores prácticas para seguridad, calidad, eﬁcacia y eﬁciencia en las tecnologías de la información necesarias para identiﬁcar riesgos, gestionar recursos y medir el rendimiento que permitan alcanzar los objetivos de una organización</a:t>
            </a:r>
          </a:p>
        </p:txBody>
      </p:sp>
      <p:sp>
        <p:nvSpPr>
          <p:cNvPr id="6" name="CuadroTexto 5">
            <a:extLst>
              <a:ext uri="{FF2B5EF4-FFF2-40B4-BE49-F238E27FC236}">
                <a16:creationId xmlns:a16="http://schemas.microsoft.com/office/drawing/2014/main" id="{79BBA4F1-4BDB-41E4-AD87-08A31D4D6EE4}"/>
              </a:ext>
            </a:extLst>
          </p:cNvPr>
          <p:cNvSpPr txBox="1"/>
          <p:nvPr/>
        </p:nvSpPr>
        <p:spPr>
          <a:xfrm>
            <a:off x="6558681" y="2514614"/>
            <a:ext cx="4952998" cy="2431435"/>
          </a:xfrm>
          <a:prstGeom prst="rect">
            <a:avLst/>
          </a:prstGeom>
          <a:noFill/>
        </p:spPr>
        <p:txBody>
          <a:bodyPr wrap="square">
            <a:spAutoFit/>
          </a:bodyPr>
          <a:lstStyle/>
          <a:p>
            <a:pPr marL="0" indent="0">
              <a:buNone/>
            </a:pPr>
            <a:r>
              <a:rPr lang="es-ES" b="1" dirty="0">
                <a:solidFill>
                  <a:schemeClr val="bg1"/>
                </a:solidFill>
                <a:effectLst>
                  <a:outerShdw blurRad="38100" dist="38100" dir="2700000" algn="tl">
                    <a:srgbClr val="000000">
                      <a:alpha val="43137"/>
                    </a:srgbClr>
                  </a:outerShdw>
                </a:effectLst>
              </a:rPr>
              <a:t>PIPEDA: </a:t>
            </a:r>
            <a:r>
              <a:rPr lang="es-ES" dirty="0">
                <a:solidFill>
                  <a:schemeClr val="bg1"/>
                </a:solidFill>
                <a:effectLst>
                  <a:outerShdw blurRad="38100" dist="38100" dir="2700000" algn="tl">
                    <a:srgbClr val="000000">
                      <a:alpha val="43137"/>
                    </a:srgbClr>
                  </a:outerShdw>
                </a:effectLst>
              </a:rPr>
              <a:t>la ley de protección de la Información Personal y Documentos Electrónicos</a:t>
            </a:r>
          </a:p>
          <a:p>
            <a:pPr marL="0" indent="0">
              <a:buNone/>
            </a:pPr>
            <a:endParaRPr lang="es-ES" dirty="0">
              <a:solidFill>
                <a:schemeClr val="bg1"/>
              </a:solidFill>
              <a:effectLst>
                <a:outerShdw blurRad="38100" dist="38100" dir="2700000" algn="tl">
                  <a:srgbClr val="000000">
                    <a:alpha val="43137"/>
                  </a:srgbClr>
                </a:outerShdw>
              </a:effectLst>
            </a:endParaRPr>
          </a:p>
          <a:p>
            <a:r>
              <a:rPr lang="es-ES" sz="1600" dirty="0">
                <a:solidFill>
                  <a:schemeClr val="bg1"/>
                </a:solidFill>
              </a:rPr>
              <a:t>Recibió el consentimiento real en Canadá el 13 de abril de 2000 para establecer normas sobre el uso, divulgación y recopilación de información personal. La información personal incluye tanto formularios no digitales como electrónicos</a:t>
            </a:r>
          </a:p>
        </p:txBody>
      </p:sp>
      <p:sp>
        <p:nvSpPr>
          <p:cNvPr id="8" name="CuadroTexto 7">
            <a:extLst>
              <a:ext uri="{FF2B5EF4-FFF2-40B4-BE49-F238E27FC236}">
                <a16:creationId xmlns:a16="http://schemas.microsoft.com/office/drawing/2014/main" id="{87D421ED-92AB-4DDC-BA73-D566507D19DA}"/>
              </a:ext>
            </a:extLst>
          </p:cNvPr>
          <p:cNvSpPr txBox="1"/>
          <p:nvPr/>
        </p:nvSpPr>
        <p:spPr>
          <a:xfrm>
            <a:off x="680321" y="5487997"/>
            <a:ext cx="10831358" cy="830997"/>
          </a:xfrm>
          <a:prstGeom prst="rect">
            <a:avLst/>
          </a:prstGeom>
          <a:noFill/>
        </p:spPr>
        <p:txBody>
          <a:bodyPr wrap="square">
            <a:spAutoFit/>
          </a:bodyPr>
          <a:lstStyle/>
          <a:p>
            <a:r>
              <a:rPr lang="es-ES" sz="1600" b="1" i="0" dirty="0" err="1">
                <a:solidFill>
                  <a:srgbClr val="202122"/>
                </a:solidFill>
                <a:effectLst/>
                <a:latin typeface="Arial" panose="020B0604020202020204" pitchFamily="34" charset="0"/>
              </a:rPr>
              <a:t>OpenEHR</a:t>
            </a:r>
            <a:r>
              <a:rPr lang="es-ES" sz="1600" b="0" i="0" dirty="0">
                <a:solidFill>
                  <a:srgbClr val="202122"/>
                </a:solidFill>
                <a:effectLst/>
                <a:latin typeface="Arial" panose="020B0604020202020204" pitchFamily="34" charset="0"/>
              </a:rPr>
              <a:t> </a:t>
            </a:r>
            <a:r>
              <a:rPr lang="es-ES" sz="1600" b="0" i="0" dirty="0">
                <a:solidFill>
                  <a:schemeClr val="bg1"/>
                </a:solidFill>
                <a:effectLst/>
                <a:latin typeface="Arial" panose="020B0604020202020204" pitchFamily="34" charset="0"/>
              </a:rPr>
              <a:t>es un </a:t>
            </a:r>
            <a:r>
              <a:rPr lang="es-ES" sz="1600" b="0" i="0" strike="noStrike" dirty="0">
                <a:solidFill>
                  <a:schemeClr val="bg1"/>
                </a:solidFill>
                <a:effectLst/>
                <a:latin typeface="Arial" panose="020B0604020202020204" pitchFamily="34" charset="0"/>
              </a:rPr>
              <a:t>estándar abierto</a:t>
            </a:r>
            <a:r>
              <a:rPr lang="es-ES" sz="1600" b="0" i="0" dirty="0">
                <a:solidFill>
                  <a:schemeClr val="bg1"/>
                </a:solidFill>
                <a:effectLst/>
                <a:latin typeface="Arial" panose="020B0604020202020204" pitchFamily="34" charset="0"/>
              </a:rPr>
              <a:t> que describe la administración y almacenamiento de </a:t>
            </a:r>
            <a:r>
              <a:rPr lang="es-ES" sz="1600" b="0" i="0" strike="noStrike" dirty="0">
                <a:solidFill>
                  <a:schemeClr val="bg1"/>
                </a:solidFill>
                <a:effectLst/>
                <a:latin typeface="Arial" panose="020B0604020202020204" pitchFamily="34" charset="0"/>
              </a:rPr>
              <a:t>información</a:t>
            </a:r>
            <a:r>
              <a:rPr lang="es-ES" sz="1600" b="0" i="0" dirty="0">
                <a:solidFill>
                  <a:schemeClr val="bg1"/>
                </a:solidFill>
                <a:effectLst/>
                <a:latin typeface="Arial" panose="020B0604020202020204" pitchFamily="34" charset="0"/>
              </a:rPr>
              <a:t> </a:t>
            </a:r>
            <a:r>
              <a:rPr lang="es-ES" sz="1600" b="0" i="0" strike="noStrike" dirty="0">
                <a:solidFill>
                  <a:schemeClr val="bg1"/>
                </a:solidFill>
                <a:effectLst/>
                <a:latin typeface="Arial" panose="020B0604020202020204" pitchFamily="34" charset="0"/>
              </a:rPr>
              <a:t>sanitaria</a:t>
            </a:r>
            <a:r>
              <a:rPr lang="es-ES" sz="1600" b="0" i="0" dirty="0">
                <a:solidFill>
                  <a:schemeClr val="bg1"/>
                </a:solidFill>
                <a:effectLst/>
                <a:latin typeface="Arial" panose="020B0604020202020204" pitchFamily="34" charset="0"/>
              </a:rPr>
              <a:t> en forma de </a:t>
            </a:r>
            <a:r>
              <a:rPr lang="es-ES" sz="1600" b="0" i="0" strike="noStrike" dirty="0">
                <a:solidFill>
                  <a:schemeClr val="bg1"/>
                </a:solidFill>
                <a:effectLst/>
                <a:latin typeface="Arial" panose="020B0604020202020204" pitchFamily="34" charset="0"/>
              </a:rPr>
              <a:t>informes</a:t>
            </a:r>
            <a:r>
              <a:rPr lang="es-ES" sz="1600" b="0" i="0" dirty="0">
                <a:solidFill>
                  <a:schemeClr val="bg1"/>
                </a:solidFill>
                <a:effectLst/>
                <a:latin typeface="Arial" panose="020B0604020202020204" pitchFamily="34" charset="0"/>
              </a:rPr>
              <a:t> de historia clínica electrónica (</a:t>
            </a:r>
            <a:r>
              <a:rPr lang="es-ES" sz="1600" b="0" i="0" strike="noStrike" dirty="0">
                <a:solidFill>
                  <a:schemeClr val="bg1"/>
                </a:solidFill>
                <a:effectLst/>
                <a:latin typeface="Arial" panose="020B0604020202020204" pitchFamily="34" charset="0"/>
              </a:rPr>
              <a:t>HCE</a:t>
            </a:r>
            <a:r>
              <a:rPr lang="es-ES" sz="1600" b="0" i="0" dirty="0">
                <a:solidFill>
                  <a:schemeClr val="bg1"/>
                </a:solidFill>
                <a:effectLst/>
                <a:latin typeface="Arial" panose="020B0604020202020204" pitchFamily="34" charset="0"/>
              </a:rPr>
              <a:t>). Todos los datos de una persona son guardados en una HCE centrada en el paciente, completa e independiente de la tecnología.</a:t>
            </a:r>
            <a:endParaRPr lang="es-US" sz="1600" dirty="0">
              <a:solidFill>
                <a:schemeClr val="bg1"/>
              </a:solidFill>
            </a:endParaRPr>
          </a:p>
        </p:txBody>
      </p:sp>
    </p:spTree>
    <p:extLst>
      <p:ext uri="{BB962C8B-B14F-4D97-AF65-F5344CB8AC3E}">
        <p14:creationId xmlns:p14="http://schemas.microsoft.com/office/powerpoint/2010/main" val="32997627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F02EDC-476D-4F68-A311-5F97A3D22134}"/>
              </a:ext>
            </a:extLst>
          </p:cNvPr>
          <p:cNvSpPr>
            <a:spLocks noGrp="1"/>
          </p:cNvSpPr>
          <p:nvPr>
            <p:ph type="title"/>
          </p:nvPr>
        </p:nvSpPr>
        <p:spPr/>
        <p:txBody>
          <a:bodyPr/>
          <a:lstStyle/>
          <a:p>
            <a:r>
              <a:rPr lang="es-US" dirty="0"/>
              <a:t>Estándares Internacionales de Sistemas de   </a:t>
            </a:r>
            <a:br>
              <a:rPr lang="es-US" dirty="0"/>
            </a:br>
            <a:r>
              <a:rPr lang="es-US" dirty="0"/>
              <a:t>                       telemedicina </a:t>
            </a:r>
          </a:p>
        </p:txBody>
      </p:sp>
      <p:sp>
        <p:nvSpPr>
          <p:cNvPr id="3" name="Marcador de contenido 2">
            <a:extLst>
              <a:ext uri="{FF2B5EF4-FFF2-40B4-BE49-F238E27FC236}">
                <a16:creationId xmlns:a16="http://schemas.microsoft.com/office/drawing/2014/main" id="{5395C1F0-9A58-481D-8656-BB15F641A66C}"/>
              </a:ext>
            </a:extLst>
          </p:cNvPr>
          <p:cNvSpPr>
            <a:spLocks noGrp="1"/>
          </p:cNvSpPr>
          <p:nvPr>
            <p:ph sz="half" idx="1"/>
          </p:nvPr>
        </p:nvSpPr>
        <p:spPr>
          <a:xfrm>
            <a:off x="6293478" y="2523088"/>
            <a:ext cx="5498497" cy="4765963"/>
          </a:xfrm>
        </p:spPr>
        <p:txBody>
          <a:bodyPr>
            <a:normAutofit/>
          </a:bodyPr>
          <a:lstStyle/>
          <a:p>
            <a:pPr marL="0" indent="0">
              <a:buNone/>
            </a:pPr>
            <a:r>
              <a:rPr lang="es-US" dirty="0">
                <a:solidFill>
                  <a:schemeClr val="bg1"/>
                </a:solidFill>
              </a:rPr>
              <a:t>Normas ITU-T</a:t>
            </a:r>
          </a:p>
          <a:p>
            <a:pPr marL="0" indent="0">
              <a:buNone/>
            </a:pPr>
            <a:r>
              <a:rPr lang="es-ES" dirty="0">
                <a:solidFill>
                  <a:schemeClr val="bg1"/>
                </a:solidFill>
              </a:rPr>
              <a:t>Telecomunicaciones (ITU-T), por medio de sus normas permite garantizar la compatibilidad y eﬁcacia de las operaciones de red, y ayudar a proteger la infraestructura de Telecomunicaciones y los servicios que en prestan. </a:t>
            </a:r>
          </a:p>
          <a:p>
            <a:pPr marL="0" indent="0">
              <a:buNone/>
            </a:pPr>
            <a:r>
              <a:rPr lang="es-ES" sz="1600" dirty="0">
                <a:solidFill>
                  <a:schemeClr val="bg1"/>
                </a:solidFill>
              </a:rPr>
              <a:t>Las normas permiten revisar los requisitos de seguridad en redes de datos, para aplicar en redes de Telemedicina en la recomendación X.805 y X1051</a:t>
            </a:r>
            <a:endParaRPr lang="es-US" sz="1600" dirty="0">
              <a:solidFill>
                <a:schemeClr val="bg1"/>
              </a:solidFill>
            </a:endParaRPr>
          </a:p>
        </p:txBody>
      </p:sp>
      <p:sp>
        <p:nvSpPr>
          <p:cNvPr id="5" name="CuadroTexto 4">
            <a:extLst>
              <a:ext uri="{FF2B5EF4-FFF2-40B4-BE49-F238E27FC236}">
                <a16:creationId xmlns:a16="http://schemas.microsoft.com/office/drawing/2014/main" id="{66D7D8D7-4A5A-4FDA-AE04-3CF5FDDF3E20}"/>
              </a:ext>
            </a:extLst>
          </p:cNvPr>
          <p:cNvSpPr txBox="1"/>
          <p:nvPr/>
        </p:nvSpPr>
        <p:spPr>
          <a:xfrm>
            <a:off x="563451" y="2523088"/>
            <a:ext cx="5167648" cy="2646878"/>
          </a:xfrm>
          <a:prstGeom prst="rect">
            <a:avLst/>
          </a:prstGeom>
          <a:noFill/>
        </p:spPr>
        <p:txBody>
          <a:bodyPr wrap="square">
            <a:spAutoFit/>
          </a:bodyPr>
          <a:lstStyle/>
          <a:p>
            <a:pPr marL="0" indent="0">
              <a:buNone/>
            </a:pPr>
            <a:r>
              <a:rPr lang="es-US" dirty="0">
                <a:solidFill>
                  <a:schemeClr val="bg1"/>
                </a:solidFill>
              </a:rPr>
              <a:t>Normas ISO 27000 :</a:t>
            </a:r>
            <a:r>
              <a:rPr lang="es-ES" dirty="0">
                <a:solidFill>
                  <a:schemeClr val="bg1"/>
                </a:solidFill>
              </a:rPr>
              <a:t>Están diseñadas para administrar la seguridad de la información.</a:t>
            </a:r>
          </a:p>
          <a:p>
            <a:pPr marL="0" indent="0">
              <a:buNone/>
            </a:pPr>
            <a:endParaRPr lang="es-ES" dirty="0">
              <a:solidFill>
                <a:schemeClr val="bg1"/>
              </a:solidFill>
            </a:endParaRPr>
          </a:p>
          <a:p>
            <a:pPr marL="0" indent="0">
              <a:buNone/>
            </a:pPr>
            <a:r>
              <a:rPr lang="es-ES" sz="1600" dirty="0">
                <a:solidFill>
                  <a:schemeClr val="bg1"/>
                </a:solidFill>
              </a:rPr>
              <a:t>Estas normas especiﬁcan aspectos necesarios para implantar un óptimo Sistema de Gestión de la Seguridad de la Información (SGSI), además de deﬁniciones generales, guía de buenas prácticas y requisitos para la acreditación de entidades de auditoría y certiﬁcación de sistemas de gestión de la seguridad de la información.</a:t>
            </a:r>
          </a:p>
        </p:txBody>
      </p:sp>
    </p:spTree>
    <p:extLst>
      <p:ext uri="{BB962C8B-B14F-4D97-AF65-F5344CB8AC3E}">
        <p14:creationId xmlns:p14="http://schemas.microsoft.com/office/powerpoint/2010/main" val="994913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947294-10A6-4AD8-9CE6-D9EA4478D1B1}"/>
              </a:ext>
            </a:extLst>
          </p:cNvPr>
          <p:cNvSpPr>
            <a:spLocks noGrp="1"/>
          </p:cNvSpPr>
          <p:nvPr>
            <p:ph type="title"/>
          </p:nvPr>
        </p:nvSpPr>
        <p:spPr/>
        <p:txBody>
          <a:bodyPr/>
          <a:lstStyle/>
          <a:p>
            <a:r>
              <a:rPr lang="es-US" dirty="0"/>
              <a:t>Estándares Internacionales de Sistemas de   </a:t>
            </a:r>
            <a:br>
              <a:rPr lang="es-US" dirty="0"/>
            </a:br>
            <a:r>
              <a:rPr lang="es-US" dirty="0"/>
              <a:t>                       telemedicina </a:t>
            </a:r>
          </a:p>
        </p:txBody>
      </p:sp>
      <p:sp>
        <p:nvSpPr>
          <p:cNvPr id="6" name="CuadroTexto 5">
            <a:extLst>
              <a:ext uri="{FF2B5EF4-FFF2-40B4-BE49-F238E27FC236}">
                <a16:creationId xmlns:a16="http://schemas.microsoft.com/office/drawing/2014/main" id="{78989B32-815C-434A-8D95-0F95D90EB31B}"/>
              </a:ext>
            </a:extLst>
          </p:cNvPr>
          <p:cNvSpPr txBox="1"/>
          <p:nvPr/>
        </p:nvSpPr>
        <p:spPr>
          <a:xfrm>
            <a:off x="680321" y="2275095"/>
            <a:ext cx="10331116" cy="707886"/>
          </a:xfrm>
          <a:prstGeom prst="rect">
            <a:avLst/>
          </a:prstGeom>
          <a:noFill/>
        </p:spPr>
        <p:txBody>
          <a:bodyPr wrap="square">
            <a:spAutoFit/>
          </a:bodyPr>
          <a:lstStyle/>
          <a:p>
            <a:pPr algn="l"/>
            <a:r>
              <a:rPr lang="es-ES" sz="2000" b="0" i="0" dirty="0">
                <a:solidFill>
                  <a:srgbClr val="000000"/>
                </a:solidFill>
                <a:effectLst/>
                <a:latin typeface="+mj-lt"/>
              </a:rPr>
              <a:t>Requerimientos comunes: almacenamiento, acceso y transmisión de información </a:t>
            </a:r>
          </a:p>
          <a:p>
            <a:pPr algn="l"/>
            <a:r>
              <a:rPr lang="es-ES" sz="2000" b="0" i="0" dirty="0">
                <a:solidFill>
                  <a:srgbClr val="000000"/>
                </a:solidFill>
                <a:effectLst/>
                <a:latin typeface="+mj-lt"/>
              </a:rPr>
              <a:t>médica según COBIT, HIPPA y CALDICOTT </a:t>
            </a:r>
          </a:p>
        </p:txBody>
      </p:sp>
      <p:sp>
        <p:nvSpPr>
          <p:cNvPr id="8" name="CuadroTexto 7">
            <a:extLst>
              <a:ext uri="{FF2B5EF4-FFF2-40B4-BE49-F238E27FC236}">
                <a16:creationId xmlns:a16="http://schemas.microsoft.com/office/drawing/2014/main" id="{1BABF877-2A0C-4CD8-A5A7-7A49DC5B244C}"/>
              </a:ext>
            </a:extLst>
          </p:cNvPr>
          <p:cNvSpPr txBox="1"/>
          <p:nvPr/>
        </p:nvSpPr>
        <p:spPr>
          <a:xfrm>
            <a:off x="680320" y="3164681"/>
            <a:ext cx="10331115" cy="2308324"/>
          </a:xfrm>
          <a:prstGeom prst="rect">
            <a:avLst/>
          </a:prstGeom>
          <a:noFill/>
        </p:spPr>
        <p:txBody>
          <a:bodyPr wrap="square">
            <a:spAutoFit/>
          </a:bodyPr>
          <a:lstStyle/>
          <a:p>
            <a:pPr algn="l"/>
            <a:r>
              <a:rPr lang="es-ES" b="0" i="0" dirty="0">
                <a:solidFill>
                  <a:srgbClr val="000000"/>
                </a:solidFill>
                <a:effectLst/>
                <a:latin typeface="ff3"/>
              </a:rPr>
              <a:t>Las reglamentaciones para manejar de información médica exponen de forma muy detallada </a:t>
            </a:r>
          </a:p>
          <a:p>
            <a:pPr algn="l"/>
            <a:r>
              <a:rPr lang="es-ES" b="0" i="0" dirty="0">
                <a:solidFill>
                  <a:srgbClr val="000000"/>
                </a:solidFill>
                <a:effectLst/>
                <a:latin typeface="ff3"/>
              </a:rPr>
              <a:t>qué requerimientos existen para almacenamiento, acceso y transmisión de la información. </a:t>
            </a:r>
          </a:p>
          <a:p>
            <a:pPr algn="l"/>
            <a:endParaRPr lang="es-ES" b="0" i="0" dirty="0">
              <a:solidFill>
                <a:srgbClr val="000000"/>
              </a:solidFill>
              <a:effectLst/>
              <a:latin typeface="ff3"/>
            </a:endParaRPr>
          </a:p>
          <a:p>
            <a:pPr algn="l"/>
            <a:r>
              <a:rPr lang="es-ES" b="0" i="0" dirty="0">
                <a:solidFill>
                  <a:srgbClr val="000000"/>
                </a:solidFill>
                <a:effectLst/>
                <a:latin typeface="ff3"/>
              </a:rPr>
              <a:t>Estas regulaciones determinan características como por ejemplo: los equipos que se manejan en </a:t>
            </a:r>
          </a:p>
          <a:p>
            <a:pPr algn="l"/>
            <a:r>
              <a:rPr lang="es-ES" b="0" i="0" dirty="0">
                <a:solidFill>
                  <a:srgbClr val="000000"/>
                </a:solidFill>
                <a:effectLst/>
                <a:latin typeface="ff3"/>
              </a:rPr>
              <a:t>estas redes ya sea de cómputo o de diagnóstico. </a:t>
            </a:r>
          </a:p>
          <a:p>
            <a:pPr algn="l"/>
            <a:endParaRPr lang="es-ES" b="0" i="0" dirty="0">
              <a:solidFill>
                <a:srgbClr val="000000"/>
              </a:solidFill>
              <a:effectLst/>
              <a:latin typeface="ff3"/>
            </a:endParaRPr>
          </a:p>
          <a:p>
            <a:pPr algn="l"/>
            <a:r>
              <a:rPr lang="es-ES" b="0" i="0" dirty="0">
                <a:solidFill>
                  <a:srgbClr val="000000"/>
                </a:solidFill>
                <a:effectLst/>
                <a:latin typeface="ff3"/>
              </a:rPr>
              <a:t>A partir de estas normas, es posible definir qué requerimientos son relevantes. Según CALDICOTT, HIPAA Y COBIT </a:t>
            </a:r>
          </a:p>
        </p:txBody>
      </p:sp>
    </p:spTree>
    <p:extLst>
      <p:ext uri="{BB962C8B-B14F-4D97-AF65-F5344CB8AC3E}">
        <p14:creationId xmlns:p14="http://schemas.microsoft.com/office/powerpoint/2010/main" val="19645109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ABE78AC0-6893-4239-9466-28B64DBB9A65}"/>
              </a:ext>
            </a:extLst>
          </p:cNvPr>
          <p:cNvPicPr>
            <a:picLocks noChangeAspect="1"/>
          </p:cNvPicPr>
          <p:nvPr/>
        </p:nvPicPr>
        <p:blipFill>
          <a:blip r:embed="rId2"/>
          <a:stretch>
            <a:fillRect/>
          </a:stretch>
        </p:blipFill>
        <p:spPr>
          <a:xfrm>
            <a:off x="399246" y="1313645"/>
            <a:ext cx="5696754" cy="4063285"/>
          </a:xfrm>
          <a:prstGeom prst="rect">
            <a:avLst/>
          </a:prstGeom>
        </p:spPr>
      </p:pic>
      <p:pic>
        <p:nvPicPr>
          <p:cNvPr id="4" name="Imagen 3">
            <a:extLst>
              <a:ext uri="{FF2B5EF4-FFF2-40B4-BE49-F238E27FC236}">
                <a16:creationId xmlns:a16="http://schemas.microsoft.com/office/drawing/2014/main" id="{5236FED6-8CD1-4B6F-8BEA-5CFD36630E83}"/>
              </a:ext>
            </a:extLst>
          </p:cNvPr>
          <p:cNvPicPr>
            <a:picLocks noChangeAspect="1"/>
          </p:cNvPicPr>
          <p:nvPr/>
        </p:nvPicPr>
        <p:blipFill>
          <a:blip r:embed="rId3"/>
          <a:stretch>
            <a:fillRect/>
          </a:stretch>
        </p:blipFill>
        <p:spPr>
          <a:xfrm>
            <a:off x="6300989" y="1313645"/>
            <a:ext cx="5544344" cy="4063285"/>
          </a:xfrm>
          <a:prstGeom prst="rect">
            <a:avLst/>
          </a:prstGeom>
        </p:spPr>
      </p:pic>
    </p:spTree>
    <p:extLst>
      <p:ext uri="{BB962C8B-B14F-4D97-AF65-F5344CB8AC3E}">
        <p14:creationId xmlns:p14="http://schemas.microsoft.com/office/powerpoint/2010/main" val="25310965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42DC2A0D-9D2F-453C-A7B8-C89923307DF5}"/>
              </a:ext>
            </a:extLst>
          </p:cNvPr>
          <p:cNvPicPr>
            <a:picLocks noChangeAspect="1"/>
          </p:cNvPicPr>
          <p:nvPr/>
        </p:nvPicPr>
        <p:blipFill>
          <a:blip r:embed="rId2"/>
          <a:stretch>
            <a:fillRect/>
          </a:stretch>
        </p:blipFill>
        <p:spPr>
          <a:xfrm>
            <a:off x="719183" y="195393"/>
            <a:ext cx="6930867" cy="6467214"/>
          </a:xfrm>
          <a:prstGeom prst="rect">
            <a:avLst/>
          </a:prstGeom>
        </p:spPr>
      </p:pic>
    </p:spTree>
    <p:extLst>
      <p:ext uri="{BB962C8B-B14F-4D97-AF65-F5344CB8AC3E}">
        <p14:creationId xmlns:p14="http://schemas.microsoft.com/office/powerpoint/2010/main" val="38915101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13B48A55-A818-47AA-9D59-45F0EAC1C54D}"/>
              </a:ext>
            </a:extLst>
          </p:cNvPr>
          <p:cNvPicPr>
            <a:picLocks noChangeAspect="1"/>
          </p:cNvPicPr>
          <p:nvPr/>
        </p:nvPicPr>
        <p:blipFill>
          <a:blip r:embed="rId2"/>
          <a:stretch>
            <a:fillRect/>
          </a:stretch>
        </p:blipFill>
        <p:spPr>
          <a:xfrm>
            <a:off x="1107171" y="625866"/>
            <a:ext cx="9077325" cy="1695450"/>
          </a:xfrm>
          <a:prstGeom prst="rect">
            <a:avLst/>
          </a:prstGeom>
        </p:spPr>
      </p:pic>
      <p:pic>
        <p:nvPicPr>
          <p:cNvPr id="3" name="Imagen 2">
            <a:extLst>
              <a:ext uri="{FF2B5EF4-FFF2-40B4-BE49-F238E27FC236}">
                <a16:creationId xmlns:a16="http://schemas.microsoft.com/office/drawing/2014/main" id="{7C2CFA4F-0E68-4600-A8ED-0E365139D9BF}"/>
              </a:ext>
            </a:extLst>
          </p:cNvPr>
          <p:cNvPicPr>
            <a:picLocks noChangeAspect="1"/>
          </p:cNvPicPr>
          <p:nvPr/>
        </p:nvPicPr>
        <p:blipFill>
          <a:blip r:embed="rId3"/>
          <a:stretch>
            <a:fillRect/>
          </a:stretch>
        </p:blipFill>
        <p:spPr>
          <a:xfrm>
            <a:off x="1107171" y="2402205"/>
            <a:ext cx="9077324" cy="1657350"/>
          </a:xfrm>
          <a:prstGeom prst="rect">
            <a:avLst/>
          </a:prstGeom>
        </p:spPr>
      </p:pic>
      <p:sp>
        <p:nvSpPr>
          <p:cNvPr id="6" name="CuadroTexto 5">
            <a:extLst>
              <a:ext uri="{FF2B5EF4-FFF2-40B4-BE49-F238E27FC236}">
                <a16:creationId xmlns:a16="http://schemas.microsoft.com/office/drawing/2014/main" id="{D9D4600E-6549-4A30-9628-F7C9DE660F99}"/>
              </a:ext>
            </a:extLst>
          </p:cNvPr>
          <p:cNvSpPr txBox="1"/>
          <p:nvPr/>
        </p:nvSpPr>
        <p:spPr>
          <a:xfrm>
            <a:off x="1107171" y="4140444"/>
            <a:ext cx="9077324" cy="2031325"/>
          </a:xfrm>
          <a:prstGeom prst="rect">
            <a:avLst/>
          </a:prstGeom>
          <a:noFill/>
        </p:spPr>
        <p:txBody>
          <a:bodyPr wrap="square">
            <a:spAutoFit/>
          </a:bodyPr>
          <a:lstStyle/>
          <a:p>
            <a:pPr algn="l"/>
            <a:endParaRPr lang="es-ES" b="0" i="0" dirty="0">
              <a:solidFill>
                <a:srgbClr val="000000"/>
              </a:solidFill>
              <a:effectLst/>
              <a:latin typeface="ff3"/>
            </a:endParaRPr>
          </a:p>
          <a:p>
            <a:pPr algn="l"/>
            <a:r>
              <a:rPr lang="es-ES" b="0" i="0" dirty="0">
                <a:solidFill>
                  <a:srgbClr val="000000"/>
                </a:solidFill>
                <a:effectLst/>
                <a:latin typeface="ff3"/>
              </a:rPr>
              <a:t>De acuerdo con cada uno de los servicios de Telemedicina y los requerimientos que se </a:t>
            </a:r>
          </a:p>
          <a:p>
            <a:pPr algn="l"/>
            <a:r>
              <a:rPr lang="es-ES" b="0" i="0" dirty="0">
                <a:solidFill>
                  <a:srgbClr val="000000"/>
                </a:solidFill>
                <a:effectLst/>
                <a:latin typeface="ff3"/>
              </a:rPr>
              <a:t>concentran en las normas evaluadas, se puede establecer que todos los servicios necesitan de </a:t>
            </a:r>
          </a:p>
          <a:p>
            <a:pPr algn="l"/>
            <a:r>
              <a:rPr lang="es-ES" b="0" i="0" dirty="0">
                <a:solidFill>
                  <a:srgbClr val="000000"/>
                </a:solidFill>
                <a:effectLst/>
                <a:latin typeface="ff3"/>
              </a:rPr>
              <a:t>cada requerimiento anteriormente especificado, respecto del almacenamiento, acceso, </a:t>
            </a:r>
          </a:p>
          <a:p>
            <a:pPr algn="l"/>
            <a:r>
              <a:rPr lang="es-ES" b="0" i="0" dirty="0">
                <a:solidFill>
                  <a:srgbClr val="000000"/>
                </a:solidFill>
                <a:effectLst/>
                <a:latin typeface="ff3"/>
              </a:rPr>
              <a:t>transmisión de información, recurso humano y equipos. La implementación de los </a:t>
            </a:r>
          </a:p>
          <a:p>
            <a:pPr algn="l"/>
            <a:r>
              <a:rPr lang="es-ES" b="0" i="0" dirty="0">
                <a:solidFill>
                  <a:srgbClr val="000000"/>
                </a:solidFill>
                <a:effectLst/>
                <a:latin typeface="ff3"/>
              </a:rPr>
              <a:t>requerimientos varía de acuerdo con el nivel de complejidad del servicio y de la entidad que </a:t>
            </a:r>
          </a:p>
          <a:p>
            <a:pPr algn="l"/>
            <a:r>
              <a:rPr lang="es-ES" b="0" i="0" dirty="0">
                <a:solidFill>
                  <a:srgbClr val="000000"/>
                </a:solidFill>
                <a:effectLst/>
                <a:latin typeface="ff3"/>
              </a:rPr>
              <a:t>presta dicho servicio. </a:t>
            </a:r>
          </a:p>
        </p:txBody>
      </p:sp>
    </p:spTree>
    <p:extLst>
      <p:ext uri="{BB962C8B-B14F-4D97-AF65-F5344CB8AC3E}">
        <p14:creationId xmlns:p14="http://schemas.microsoft.com/office/powerpoint/2010/main" val="39799445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F8694D-4A9F-495D-A1C8-F05A885130AA}"/>
              </a:ext>
            </a:extLst>
          </p:cNvPr>
          <p:cNvSpPr>
            <a:spLocks noGrp="1"/>
          </p:cNvSpPr>
          <p:nvPr>
            <p:ph type="title"/>
          </p:nvPr>
        </p:nvSpPr>
        <p:spPr>
          <a:xfrm>
            <a:off x="1" y="753228"/>
            <a:ext cx="10294180" cy="1080938"/>
          </a:xfrm>
        </p:spPr>
        <p:txBody>
          <a:bodyPr>
            <a:normAutofit fontScale="90000"/>
          </a:bodyPr>
          <a:lstStyle/>
          <a:p>
            <a:r>
              <a:rPr lang="es-ES" dirty="0"/>
              <a:t>            Desarrollo de Sistemas de telemedicina</a:t>
            </a:r>
            <a:br>
              <a:rPr lang="es-ES" dirty="0"/>
            </a:br>
            <a:r>
              <a:rPr lang="es-ES" dirty="0"/>
              <a:t>           </a:t>
            </a:r>
            <a:r>
              <a:rPr lang="es-ES" sz="2700" dirty="0"/>
              <a:t>Principios de desarrollo de los sistemas de telemedicina</a:t>
            </a:r>
            <a:endParaRPr lang="es-US" sz="2700" dirty="0"/>
          </a:p>
        </p:txBody>
      </p:sp>
      <p:sp>
        <p:nvSpPr>
          <p:cNvPr id="3" name="Marcador de contenido 2">
            <a:extLst>
              <a:ext uri="{FF2B5EF4-FFF2-40B4-BE49-F238E27FC236}">
                <a16:creationId xmlns:a16="http://schemas.microsoft.com/office/drawing/2014/main" id="{81AF15BD-6690-4C71-A1FE-3FB528650E01}"/>
              </a:ext>
            </a:extLst>
          </p:cNvPr>
          <p:cNvSpPr>
            <a:spLocks noGrp="1"/>
          </p:cNvSpPr>
          <p:nvPr>
            <p:ph sz="half" idx="1"/>
          </p:nvPr>
        </p:nvSpPr>
        <p:spPr>
          <a:xfrm>
            <a:off x="461493" y="2434108"/>
            <a:ext cx="6454462" cy="4288664"/>
          </a:xfrm>
        </p:spPr>
        <p:txBody>
          <a:bodyPr>
            <a:normAutofit/>
          </a:bodyPr>
          <a:lstStyle/>
          <a:p>
            <a:pPr marL="0" indent="0">
              <a:buNone/>
            </a:pPr>
            <a:r>
              <a:rPr lang="es-ES" sz="1600" dirty="0">
                <a:solidFill>
                  <a:schemeClr val="bg1"/>
                </a:solidFill>
              </a:rPr>
              <a:t>Principios de desarrollo de los sistemas Las aplicaciones o sitios en telemedicina deben desarrollarse pragmáticamente, buscando que, tanto las necesidades de los profesionales en salud y de la población de una área geográfica en especial, se solventen con el desarrollo de sistemas de telemedicina.</a:t>
            </a:r>
          </a:p>
          <a:p>
            <a:pPr marL="0" indent="0">
              <a:buNone/>
            </a:pPr>
            <a:r>
              <a:rPr lang="es-ES" sz="1600" dirty="0">
                <a:solidFill>
                  <a:schemeClr val="bg1"/>
                </a:solidFill>
              </a:rPr>
              <a:t> </a:t>
            </a:r>
          </a:p>
          <a:p>
            <a:pPr marL="0" indent="0">
              <a:buNone/>
            </a:pPr>
            <a:r>
              <a:rPr lang="es-ES" sz="1600" dirty="0">
                <a:solidFill>
                  <a:schemeClr val="bg1"/>
                </a:solidFill>
              </a:rPr>
              <a:t>Para esto, se debe ser más sensible en el proceso de identificar al personal médico y clínico interesado en expandir los servicios en salud a través de la telemedicina, brindarles las herramientas para su ejecución y convertirlos en los impulsadores. Adicionalmente, se debe analizar con profundidad los beneficios o aplicaciones reales que deben brindar los sistemas de telemedicina, empezando con sistemas de beneficios claros a una gran cantidad de profesionales en salud y progresivamente beneficiar áreas específicas de telemedicina</a:t>
            </a:r>
          </a:p>
        </p:txBody>
      </p:sp>
      <p:pic>
        <p:nvPicPr>
          <p:cNvPr id="7" name="Imagen 6">
            <a:extLst>
              <a:ext uri="{FF2B5EF4-FFF2-40B4-BE49-F238E27FC236}">
                <a16:creationId xmlns:a16="http://schemas.microsoft.com/office/drawing/2014/main" id="{9A6B8006-C1C6-41D4-8A4B-583693F6AA78}"/>
              </a:ext>
            </a:extLst>
          </p:cNvPr>
          <p:cNvPicPr>
            <a:picLocks noChangeAspect="1"/>
          </p:cNvPicPr>
          <p:nvPr/>
        </p:nvPicPr>
        <p:blipFill>
          <a:blip r:embed="rId2"/>
          <a:stretch>
            <a:fillRect/>
          </a:stretch>
        </p:blipFill>
        <p:spPr>
          <a:xfrm>
            <a:off x="6944132" y="2634017"/>
            <a:ext cx="4803792" cy="3170503"/>
          </a:xfrm>
          <a:prstGeom prst="rect">
            <a:avLst/>
          </a:prstGeom>
        </p:spPr>
      </p:pic>
    </p:spTree>
    <p:extLst>
      <p:ext uri="{BB962C8B-B14F-4D97-AF65-F5344CB8AC3E}">
        <p14:creationId xmlns:p14="http://schemas.microsoft.com/office/powerpoint/2010/main" val="21382083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0D471ED-D1B1-4E62-BEF5-2CCD77562417}"/>
              </a:ext>
            </a:extLst>
          </p:cNvPr>
          <p:cNvSpPr>
            <a:spLocks noGrp="1"/>
          </p:cNvSpPr>
          <p:nvPr>
            <p:ph sz="half" idx="1"/>
          </p:nvPr>
        </p:nvSpPr>
        <p:spPr>
          <a:xfrm>
            <a:off x="796342" y="2766381"/>
            <a:ext cx="5299657" cy="3599316"/>
          </a:xfrm>
        </p:spPr>
        <p:txBody>
          <a:bodyPr>
            <a:normAutofit/>
          </a:bodyPr>
          <a:lstStyle/>
          <a:p>
            <a:pPr marL="0" indent="0">
              <a:buNone/>
            </a:pPr>
            <a:r>
              <a:rPr lang="es-ES" sz="2000" dirty="0">
                <a:solidFill>
                  <a:schemeClr val="bg1"/>
                </a:solidFill>
              </a:rPr>
              <a:t>Los sistemas en telemedicina deben ser manejados y poseídos por los profesionales en salud. </a:t>
            </a:r>
          </a:p>
          <a:p>
            <a:pPr marL="0" indent="0">
              <a:buNone/>
            </a:pPr>
            <a:r>
              <a:rPr lang="es-ES" sz="1600" dirty="0">
                <a:solidFill>
                  <a:schemeClr val="bg1"/>
                </a:solidFill>
              </a:rPr>
              <a:t>Ha sido importante para el desarrollo de la telemedicina, la valoración del personal médico como la base para la proliferación de su imagen e importancia. Adicionalmente, estos sistemas deben ser adquiridos y controlados por ellos mismos, buscando el mejoramiento continuo, valoración por parte de la población y mayor efectividad</a:t>
            </a:r>
          </a:p>
          <a:p>
            <a:endParaRPr lang="es-US" dirty="0"/>
          </a:p>
        </p:txBody>
      </p:sp>
      <p:sp>
        <p:nvSpPr>
          <p:cNvPr id="5" name="Título 1">
            <a:extLst>
              <a:ext uri="{FF2B5EF4-FFF2-40B4-BE49-F238E27FC236}">
                <a16:creationId xmlns:a16="http://schemas.microsoft.com/office/drawing/2014/main" id="{3A11C6A8-F4DC-464E-8AA9-B22AB82BE903}"/>
              </a:ext>
            </a:extLst>
          </p:cNvPr>
          <p:cNvSpPr txBox="1">
            <a:spLocks/>
          </p:cNvSpPr>
          <p:nvPr/>
        </p:nvSpPr>
        <p:spPr>
          <a:xfrm>
            <a:off x="1" y="753228"/>
            <a:ext cx="10294180" cy="1080938"/>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es-ES"/>
              <a:t>            Desarrollo de Sistemas de telemedicina</a:t>
            </a:r>
            <a:br>
              <a:rPr lang="es-ES"/>
            </a:br>
            <a:r>
              <a:rPr lang="es-ES"/>
              <a:t>           </a:t>
            </a:r>
            <a:r>
              <a:rPr lang="es-ES" sz="2700"/>
              <a:t>Principios de desarrollo de los sistemas de telemedicina</a:t>
            </a:r>
            <a:endParaRPr lang="es-US" sz="2700" dirty="0"/>
          </a:p>
        </p:txBody>
      </p:sp>
      <p:pic>
        <p:nvPicPr>
          <p:cNvPr id="6" name="Imagen 5">
            <a:extLst>
              <a:ext uri="{FF2B5EF4-FFF2-40B4-BE49-F238E27FC236}">
                <a16:creationId xmlns:a16="http://schemas.microsoft.com/office/drawing/2014/main" id="{7C716E5C-F213-43AC-9CB6-A9A702E33CC9}"/>
              </a:ext>
            </a:extLst>
          </p:cNvPr>
          <p:cNvPicPr>
            <a:picLocks noChangeAspect="1"/>
          </p:cNvPicPr>
          <p:nvPr/>
        </p:nvPicPr>
        <p:blipFill>
          <a:blip r:embed="rId2"/>
          <a:stretch>
            <a:fillRect/>
          </a:stretch>
        </p:blipFill>
        <p:spPr>
          <a:xfrm>
            <a:off x="6496445" y="2534561"/>
            <a:ext cx="4989365" cy="2920604"/>
          </a:xfrm>
          <a:prstGeom prst="rect">
            <a:avLst/>
          </a:prstGeom>
        </p:spPr>
      </p:pic>
    </p:spTree>
    <p:extLst>
      <p:ext uri="{BB962C8B-B14F-4D97-AF65-F5344CB8AC3E}">
        <p14:creationId xmlns:p14="http://schemas.microsoft.com/office/powerpoint/2010/main" val="10653411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44C81B-8968-4D8D-823C-3A0E2CA3B378}"/>
              </a:ext>
            </a:extLst>
          </p:cNvPr>
          <p:cNvSpPr>
            <a:spLocks noGrp="1"/>
          </p:cNvSpPr>
          <p:nvPr>
            <p:ph type="title"/>
          </p:nvPr>
        </p:nvSpPr>
        <p:spPr>
          <a:xfrm>
            <a:off x="138545" y="753228"/>
            <a:ext cx="10155637" cy="1080938"/>
          </a:xfrm>
        </p:spPr>
        <p:txBody>
          <a:bodyPr>
            <a:normAutofit/>
          </a:bodyPr>
          <a:lstStyle/>
          <a:p>
            <a:r>
              <a:rPr lang="es-ES" dirty="0"/>
              <a:t>Desarrollo de Sistemas de telemedicina</a:t>
            </a:r>
            <a:br>
              <a:rPr lang="es-ES" dirty="0"/>
            </a:br>
            <a:r>
              <a:rPr lang="es-ES" sz="3100" dirty="0"/>
              <a:t>Principios de desarrollo de los sistemas de telemedicina</a:t>
            </a:r>
            <a:endParaRPr lang="es-US" sz="3100" dirty="0"/>
          </a:p>
        </p:txBody>
      </p:sp>
      <p:sp>
        <p:nvSpPr>
          <p:cNvPr id="3" name="Marcador de contenido 2">
            <a:extLst>
              <a:ext uri="{FF2B5EF4-FFF2-40B4-BE49-F238E27FC236}">
                <a16:creationId xmlns:a16="http://schemas.microsoft.com/office/drawing/2014/main" id="{74A42D60-01BA-4C33-AA29-5D0AF0256A24}"/>
              </a:ext>
            </a:extLst>
          </p:cNvPr>
          <p:cNvSpPr>
            <a:spLocks noGrp="1"/>
          </p:cNvSpPr>
          <p:nvPr>
            <p:ph sz="half" idx="1"/>
          </p:nvPr>
        </p:nvSpPr>
        <p:spPr>
          <a:xfrm>
            <a:off x="513008" y="2323994"/>
            <a:ext cx="6789313" cy="4274942"/>
          </a:xfrm>
        </p:spPr>
        <p:txBody>
          <a:bodyPr>
            <a:normAutofit/>
          </a:bodyPr>
          <a:lstStyle/>
          <a:p>
            <a:pPr marL="0" indent="0">
              <a:buNone/>
            </a:pPr>
            <a:r>
              <a:rPr lang="es-ES" sz="1600" b="1" dirty="0">
                <a:solidFill>
                  <a:schemeClr val="bg1"/>
                </a:solidFill>
              </a:rPr>
              <a:t>La tecnología debe ser lo más amigable posible</a:t>
            </a:r>
          </a:p>
          <a:p>
            <a:pPr marL="0" indent="0">
              <a:buNone/>
            </a:pPr>
            <a:r>
              <a:rPr lang="es-ES" sz="1600" b="1" dirty="0">
                <a:solidFill>
                  <a:schemeClr val="bg1"/>
                </a:solidFill>
              </a:rPr>
              <a:t> </a:t>
            </a:r>
            <a:r>
              <a:rPr lang="es-ES" sz="1600" dirty="0">
                <a:solidFill>
                  <a:schemeClr val="bg1"/>
                </a:solidFill>
              </a:rPr>
              <a:t>Los sistemas de telemedicina deben ser desarrollados para integrarse a los ambientes de trabajo, no ser divisiones de éste. El futuro en el desarrollo de sistemas en telemedicina está enfocado al uso del Internet y tecnologías en información que faciliten el ingreso y la interacción con el personal médico</a:t>
            </a:r>
          </a:p>
          <a:p>
            <a:pPr marL="0" indent="0">
              <a:buNone/>
            </a:pPr>
            <a:endParaRPr lang="es-ES" sz="1600" dirty="0">
              <a:solidFill>
                <a:schemeClr val="bg1"/>
              </a:solidFill>
            </a:endParaRPr>
          </a:p>
          <a:p>
            <a:pPr marL="0" indent="0">
              <a:buNone/>
            </a:pPr>
            <a:r>
              <a:rPr lang="es-ES" sz="1600" b="1" dirty="0">
                <a:solidFill>
                  <a:schemeClr val="bg1"/>
                </a:solidFill>
              </a:rPr>
              <a:t>Los usuarios de los sistemas de telemedicina deben estar altamente entrenados y soportados, técnicamente y profesionalmente</a:t>
            </a:r>
            <a:endParaRPr lang="es-ES" sz="1600" dirty="0">
              <a:solidFill>
                <a:schemeClr val="bg1"/>
              </a:solidFill>
            </a:endParaRPr>
          </a:p>
          <a:p>
            <a:pPr marL="0" indent="0">
              <a:buNone/>
            </a:pPr>
            <a:r>
              <a:rPr lang="es-ES" sz="1600" dirty="0">
                <a:solidFill>
                  <a:schemeClr val="bg1"/>
                </a:solidFill>
              </a:rPr>
              <a:t>Para esto es necesario la adecuada presentación y capacitación, en donde el personal pueda reconocer y estudiar el equipamiento utilizado, observar y analizar su funcionamiento, identificar sus beneficios y limitantes. Una vez el personal médico ve a la telemedicina como un componente de su ambiente de trabajo, la utilización de ésta se volverá una constante.</a:t>
            </a:r>
          </a:p>
        </p:txBody>
      </p:sp>
      <p:pic>
        <p:nvPicPr>
          <p:cNvPr id="18434" name="Picture 2" descr="Qué es la telemedicina y cómo funciona?">
            <a:extLst>
              <a:ext uri="{FF2B5EF4-FFF2-40B4-BE49-F238E27FC236}">
                <a16:creationId xmlns:a16="http://schemas.microsoft.com/office/drawing/2014/main" id="{AD20058D-56AE-4F01-AACD-9B1DF262D9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5341" y="3069393"/>
            <a:ext cx="3562455" cy="23897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39939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44C81B-8968-4D8D-823C-3A0E2CA3B378}"/>
              </a:ext>
            </a:extLst>
          </p:cNvPr>
          <p:cNvSpPr>
            <a:spLocks noGrp="1"/>
          </p:cNvSpPr>
          <p:nvPr>
            <p:ph type="title"/>
          </p:nvPr>
        </p:nvSpPr>
        <p:spPr>
          <a:xfrm>
            <a:off x="138545" y="753228"/>
            <a:ext cx="10155637" cy="1080938"/>
          </a:xfrm>
        </p:spPr>
        <p:txBody>
          <a:bodyPr>
            <a:normAutofit/>
          </a:bodyPr>
          <a:lstStyle/>
          <a:p>
            <a:r>
              <a:rPr lang="es-ES" dirty="0"/>
              <a:t>Desarrollo de Sistemas de telemedicina</a:t>
            </a:r>
            <a:br>
              <a:rPr lang="es-ES" dirty="0"/>
            </a:br>
            <a:r>
              <a:rPr lang="es-ES" sz="3100" dirty="0"/>
              <a:t>Principios de desarrollo de los sistemas de telemedicina</a:t>
            </a:r>
            <a:endParaRPr lang="es-US" sz="3100" dirty="0"/>
          </a:p>
        </p:txBody>
      </p:sp>
      <p:sp>
        <p:nvSpPr>
          <p:cNvPr id="3" name="Marcador de contenido 2">
            <a:extLst>
              <a:ext uri="{FF2B5EF4-FFF2-40B4-BE49-F238E27FC236}">
                <a16:creationId xmlns:a16="http://schemas.microsoft.com/office/drawing/2014/main" id="{74A42D60-01BA-4C33-AA29-5D0AF0256A24}"/>
              </a:ext>
            </a:extLst>
          </p:cNvPr>
          <p:cNvSpPr>
            <a:spLocks noGrp="1"/>
          </p:cNvSpPr>
          <p:nvPr>
            <p:ph sz="half" idx="1"/>
          </p:nvPr>
        </p:nvSpPr>
        <p:spPr>
          <a:xfrm>
            <a:off x="513009" y="2323994"/>
            <a:ext cx="5952186" cy="4274942"/>
          </a:xfrm>
        </p:spPr>
        <p:txBody>
          <a:bodyPr>
            <a:normAutofit lnSpcReduction="10000"/>
          </a:bodyPr>
          <a:lstStyle/>
          <a:p>
            <a:pPr marL="0" indent="0">
              <a:buNone/>
            </a:pPr>
            <a:r>
              <a:rPr lang="es-ES" sz="1600" b="1" dirty="0">
                <a:solidFill>
                  <a:schemeClr val="bg1"/>
                </a:solidFill>
              </a:rPr>
              <a:t>Los sistemas de telemedicina deben ser evaluados y sostenidos clínicamente y económicamente</a:t>
            </a:r>
            <a:r>
              <a:rPr lang="es-ES" sz="1600" dirty="0">
                <a:solidFill>
                  <a:schemeClr val="bg1"/>
                </a:solidFill>
              </a:rPr>
              <a:t>.</a:t>
            </a:r>
          </a:p>
          <a:p>
            <a:pPr marL="0" indent="0">
              <a:buNone/>
            </a:pPr>
            <a:r>
              <a:rPr lang="es-ES" sz="1600" dirty="0">
                <a:solidFill>
                  <a:schemeClr val="bg1"/>
                </a:solidFill>
              </a:rPr>
              <a:t>En la actualidad estos sistemas deben ser analizados desde el punto de vista del costo-beneficio, evaluando todos los resultados tanto económicos como clínicos provenientes del sistema, dentro de un marco de tiempo razonable haciendo uso apropiado de la inversión final. El desarrollo de lo anterior brinda a la telemedicina ser sostenible financieramente, favoreciendo su utilización en el tiempo y asegurando la financiación de la tecnología, el personal implicado y el soporte técnico.</a:t>
            </a:r>
          </a:p>
          <a:p>
            <a:pPr marL="0" indent="0">
              <a:buNone/>
            </a:pPr>
            <a:endParaRPr lang="es-ES" sz="1600" dirty="0"/>
          </a:p>
          <a:p>
            <a:pPr marL="0" indent="0">
              <a:buNone/>
            </a:pPr>
            <a:r>
              <a:rPr lang="es-ES" sz="1600" b="1" dirty="0">
                <a:solidFill>
                  <a:schemeClr val="bg1"/>
                </a:solidFill>
              </a:rPr>
              <a:t>La administración y el soporte de los sistemas de telemedicina deben seguir las buenas prácticas administrativas</a:t>
            </a:r>
          </a:p>
          <a:p>
            <a:pPr marL="0" indent="0">
              <a:buNone/>
            </a:pPr>
            <a:r>
              <a:rPr lang="es-ES" sz="1600" dirty="0">
                <a:solidFill>
                  <a:schemeClr val="bg1"/>
                </a:solidFill>
              </a:rPr>
              <a:t>La utilización de la telemedicina no debe contar con intensos controles </a:t>
            </a:r>
            <a:r>
              <a:rPr lang="es-US" sz="1600" dirty="0">
                <a:solidFill>
                  <a:schemeClr val="bg1"/>
                </a:solidFill>
              </a:rPr>
              <a:t>burocráticos por parte de los centros hospitalarios</a:t>
            </a:r>
          </a:p>
          <a:p>
            <a:pPr marL="0" indent="0">
              <a:buNone/>
            </a:pPr>
            <a:endParaRPr lang="es-US" sz="1600" dirty="0"/>
          </a:p>
        </p:txBody>
      </p:sp>
      <p:pic>
        <p:nvPicPr>
          <p:cNvPr id="19458" name="Picture 2" descr="Coronavirus y telemedicina, ¿cómo funciona la asistencia telemática? -  Noticias de Gipuzkoa">
            <a:extLst>
              <a:ext uri="{FF2B5EF4-FFF2-40B4-BE49-F238E27FC236}">
                <a16:creationId xmlns:a16="http://schemas.microsoft.com/office/drawing/2014/main" id="{D2BDD7E6-1167-4E9F-A89B-8E9D8C6C0D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1625" y="2784143"/>
            <a:ext cx="4235002" cy="28171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46859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809C04-A08F-4A17-A570-A998E3FCA54F}"/>
              </a:ext>
            </a:extLst>
          </p:cNvPr>
          <p:cNvSpPr>
            <a:spLocks noGrp="1"/>
          </p:cNvSpPr>
          <p:nvPr>
            <p:ph type="title"/>
          </p:nvPr>
        </p:nvSpPr>
        <p:spPr>
          <a:xfrm>
            <a:off x="1942451" y="920653"/>
            <a:ext cx="9613861" cy="1080938"/>
          </a:xfrm>
        </p:spPr>
        <p:txBody>
          <a:bodyPr>
            <a:normAutofit fontScale="90000"/>
          </a:bodyPr>
          <a:lstStyle/>
          <a:p>
            <a:r>
              <a:rPr lang="es-ES" dirty="0"/>
              <a:t>Barreras a la implementación de un </a:t>
            </a:r>
            <a:br>
              <a:rPr lang="es-ES" dirty="0"/>
            </a:br>
            <a:r>
              <a:rPr lang="es-ES" dirty="0"/>
              <a:t>             sistema de telemedicina: </a:t>
            </a:r>
            <a:br>
              <a:rPr lang="es-ES" dirty="0"/>
            </a:br>
            <a:endParaRPr lang="es-US" dirty="0"/>
          </a:p>
        </p:txBody>
      </p:sp>
      <p:sp>
        <p:nvSpPr>
          <p:cNvPr id="3" name="Marcador de contenido 2">
            <a:extLst>
              <a:ext uri="{FF2B5EF4-FFF2-40B4-BE49-F238E27FC236}">
                <a16:creationId xmlns:a16="http://schemas.microsoft.com/office/drawing/2014/main" id="{45EE16F7-729D-4554-AF59-A3B2ADFAA974}"/>
              </a:ext>
            </a:extLst>
          </p:cNvPr>
          <p:cNvSpPr>
            <a:spLocks noGrp="1"/>
          </p:cNvSpPr>
          <p:nvPr>
            <p:ph sz="half" idx="1"/>
          </p:nvPr>
        </p:nvSpPr>
        <p:spPr>
          <a:xfrm>
            <a:off x="502276" y="2448571"/>
            <a:ext cx="6967471" cy="4572000"/>
          </a:xfrm>
        </p:spPr>
        <p:txBody>
          <a:bodyPr>
            <a:normAutofit/>
          </a:bodyPr>
          <a:lstStyle/>
          <a:p>
            <a:pPr marL="0" indent="0">
              <a:buNone/>
            </a:pPr>
            <a:r>
              <a:rPr lang="es-ES" b="1" dirty="0">
                <a:solidFill>
                  <a:schemeClr val="bg1"/>
                </a:solidFill>
              </a:rPr>
              <a:t>Ámbito organizativo:</a:t>
            </a:r>
          </a:p>
          <a:p>
            <a:pPr marL="0" indent="0">
              <a:buNone/>
            </a:pPr>
            <a:endParaRPr lang="es-ES" b="1" dirty="0">
              <a:solidFill>
                <a:schemeClr val="bg1"/>
              </a:solidFill>
            </a:endParaRPr>
          </a:p>
          <a:p>
            <a:pPr marL="457200" indent="-457200">
              <a:buFont typeface="+mj-lt"/>
              <a:buAutoNum type="arabicPeriod"/>
            </a:pPr>
            <a:r>
              <a:rPr lang="es-ES" sz="1600" dirty="0">
                <a:solidFill>
                  <a:schemeClr val="bg1"/>
                </a:solidFill>
              </a:rPr>
              <a:t>El rediseño del modelo asistencial y la necesidad de formación sobre el nuevo modelo.</a:t>
            </a:r>
          </a:p>
          <a:p>
            <a:pPr marL="457200" indent="-457200">
              <a:buFont typeface="+mj-lt"/>
              <a:buAutoNum type="arabicPeriod"/>
            </a:pPr>
            <a:r>
              <a:rPr lang="es-ES" sz="1600" dirty="0">
                <a:solidFill>
                  <a:schemeClr val="bg1"/>
                </a:solidFill>
              </a:rPr>
              <a:t>La falta de alineación estratégica entre los distintos participantes en los proyectos.</a:t>
            </a:r>
          </a:p>
          <a:p>
            <a:pPr marL="457200" indent="-457200">
              <a:buFont typeface="+mj-lt"/>
              <a:buAutoNum type="arabicPeriod"/>
            </a:pPr>
            <a:r>
              <a:rPr lang="es-ES" sz="1600" dirty="0">
                <a:solidFill>
                  <a:schemeClr val="bg1"/>
                </a:solidFill>
              </a:rPr>
              <a:t>La redeﬁnición de algunos roles existentes y la aparición de nuevos perﬁles profesionales </a:t>
            </a:r>
          </a:p>
          <a:p>
            <a:pPr marL="457200" indent="-457200">
              <a:buFont typeface="+mj-lt"/>
              <a:buAutoNum type="arabicPeriod"/>
            </a:pPr>
            <a:r>
              <a:rPr lang="es-ES" sz="1600" dirty="0">
                <a:solidFill>
                  <a:schemeClr val="bg1"/>
                </a:solidFill>
              </a:rPr>
              <a:t>El cambio permanente en que se ven obligados a avanzar los proyectos, consecuencia de la velocidad de cambio tecnológico.</a:t>
            </a:r>
            <a:endParaRPr lang="es-US" sz="1600" dirty="0">
              <a:solidFill>
                <a:schemeClr val="bg1"/>
              </a:solidFill>
            </a:endParaRPr>
          </a:p>
        </p:txBody>
      </p:sp>
      <p:pic>
        <p:nvPicPr>
          <p:cNvPr id="20484" name="Picture 4">
            <a:extLst>
              <a:ext uri="{FF2B5EF4-FFF2-40B4-BE49-F238E27FC236}">
                <a16:creationId xmlns:a16="http://schemas.microsoft.com/office/drawing/2014/main" id="{2F0191BE-F13F-416A-AB6D-15ED16565F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544" y="2799499"/>
            <a:ext cx="3137848" cy="31378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89441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809C04-A08F-4A17-A570-A998E3FCA54F}"/>
              </a:ext>
            </a:extLst>
          </p:cNvPr>
          <p:cNvSpPr>
            <a:spLocks noGrp="1"/>
          </p:cNvSpPr>
          <p:nvPr>
            <p:ph type="title"/>
          </p:nvPr>
        </p:nvSpPr>
        <p:spPr>
          <a:xfrm>
            <a:off x="1942451" y="920653"/>
            <a:ext cx="9613861" cy="1080938"/>
          </a:xfrm>
        </p:spPr>
        <p:txBody>
          <a:bodyPr>
            <a:normAutofit fontScale="90000"/>
          </a:bodyPr>
          <a:lstStyle/>
          <a:p>
            <a:r>
              <a:rPr lang="es-ES" dirty="0"/>
              <a:t>Barreras a la implementación de un </a:t>
            </a:r>
            <a:br>
              <a:rPr lang="es-ES" dirty="0"/>
            </a:br>
            <a:r>
              <a:rPr lang="es-ES" dirty="0"/>
              <a:t>             sistema de telemedicina: </a:t>
            </a:r>
            <a:br>
              <a:rPr lang="es-ES" dirty="0"/>
            </a:br>
            <a:endParaRPr lang="es-US" dirty="0"/>
          </a:p>
        </p:txBody>
      </p:sp>
      <p:sp>
        <p:nvSpPr>
          <p:cNvPr id="3" name="Marcador de contenido 2">
            <a:extLst>
              <a:ext uri="{FF2B5EF4-FFF2-40B4-BE49-F238E27FC236}">
                <a16:creationId xmlns:a16="http://schemas.microsoft.com/office/drawing/2014/main" id="{45EE16F7-729D-4554-AF59-A3B2ADFAA974}"/>
              </a:ext>
            </a:extLst>
          </p:cNvPr>
          <p:cNvSpPr>
            <a:spLocks noGrp="1"/>
          </p:cNvSpPr>
          <p:nvPr>
            <p:ph sz="half" idx="1"/>
          </p:nvPr>
        </p:nvSpPr>
        <p:spPr>
          <a:xfrm>
            <a:off x="618187" y="2467379"/>
            <a:ext cx="6516710" cy="4572000"/>
          </a:xfrm>
        </p:spPr>
        <p:txBody>
          <a:bodyPr>
            <a:normAutofit/>
          </a:bodyPr>
          <a:lstStyle/>
          <a:p>
            <a:pPr marL="0" indent="0">
              <a:buNone/>
            </a:pPr>
            <a:r>
              <a:rPr lang="es-US" dirty="0">
                <a:solidFill>
                  <a:schemeClr val="bg1"/>
                </a:solidFill>
              </a:rPr>
              <a:t>Ámbito tecnológico:</a:t>
            </a:r>
          </a:p>
          <a:p>
            <a:endParaRPr lang="es-US" dirty="0">
              <a:solidFill>
                <a:schemeClr val="bg1"/>
              </a:solidFill>
            </a:endParaRPr>
          </a:p>
          <a:p>
            <a:pPr marL="457200" indent="-457200">
              <a:buFont typeface="+mj-lt"/>
              <a:buAutoNum type="arabicPeriod"/>
            </a:pPr>
            <a:r>
              <a:rPr lang="es-ES" sz="1600" dirty="0">
                <a:solidFill>
                  <a:schemeClr val="bg1"/>
                </a:solidFill>
              </a:rPr>
              <a:t>La falta de infraestructura tecnológica y habilidades.</a:t>
            </a:r>
          </a:p>
          <a:p>
            <a:pPr marL="457200" indent="-457200">
              <a:buFont typeface="+mj-lt"/>
              <a:buAutoNum type="arabicPeriod"/>
            </a:pPr>
            <a:r>
              <a:rPr lang="es-ES" sz="1600" dirty="0">
                <a:solidFill>
                  <a:schemeClr val="bg1"/>
                </a:solidFill>
              </a:rPr>
              <a:t>La deﬁciente cobertura en determinadas zonas del territorio. </a:t>
            </a:r>
          </a:p>
          <a:p>
            <a:pPr marL="457200" indent="-457200">
              <a:buFont typeface="+mj-lt"/>
              <a:buAutoNum type="arabicPeriod"/>
            </a:pPr>
            <a:r>
              <a:rPr lang="es-ES" sz="1600" dirty="0">
                <a:solidFill>
                  <a:schemeClr val="bg1"/>
                </a:solidFill>
              </a:rPr>
              <a:t>Diversidad de sistemas de información existentes. </a:t>
            </a:r>
          </a:p>
          <a:p>
            <a:pPr marL="457200" indent="-457200">
              <a:buFont typeface="+mj-lt"/>
              <a:buAutoNum type="arabicPeriod"/>
            </a:pPr>
            <a:r>
              <a:rPr lang="es-ES" sz="1600" dirty="0">
                <a:solidFill>
                  <a:schemeClr val="bg1"/>
                </a:solidFill>
              </a:rPr>
              <a:t>Complejidad en el uso de las soluciones implementadas.</a:t>
            </a:r>
          </a:p>
          <a:p>
            <a:pPr marL="457200" indent="-457200">
              <a:buFont typeface="+mj-lt"/>
              <a:buAutoNum type="arabicPeriod"/>
            </a:pPr>
            <a:r>
              <a:rPr lang="es-ES" sz="1600" dirty="0">
                <a:solidFill>
                  <a:schemeClr val="bg1"/>
                </a:solidFill>
              </a:rPr>
              <a:t>La cuestión de la seguridad, la conﬁdencialidad y la protección de los datos</a:t>
            </a:r>
          </a:p>
        </p:txBody>
      </p:sp>
      <p:pic>
        <p:nvPicPr>
          <p:cNvPr id="21508" name="Picture 4" descr="Icon Request: fa-desktop-network (computer networking) · Issue #12246 ·  FortAwesome/Font-Awesome · GitHub">
            <a:extLst>
              <a:ext uri="{FF2B5EF4-FFF2-40B4-BE49-F238E27FC236}">
                <a16:creationId xmlns:a16="http://schemas.microsoft.com/office/drawing/2014/main" id="{2D9D8F50-AD05-408F-ABFA-08537A823D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01803" y="2403714"/>
            <a:ext cx="3533633" cy="35336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50540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A4B66D-CEDB-4EB0-92BF-A713E9947F91}"/>
              </a:ext>
            </a:extLst>
          </p:cNvPr>
          <p:cNvSpPr>
            <a:spLocks noGrp="1"/>
          </p:cNvSpPr>
          <p:nvPr>
            <p:ph type="title"/>
          </p:nvPr>
        </p:nvSpPr>
        <p:spPr/>
        <p:txBody>
          <a:bodyPr/>
          <a:lstStyle/>
          <a:p>
            <a:r>
              <a:rPr lang="es-ES" dirty="0"/>
              <a:t>Barreras a la implementación de un </a:t>
            </a:r>
            <a:br>
              <a:rPr lang="es-ES" dirty="0"/>
            </a:br>
            <a:r>
              <a:rPr lang="es-ES" dirty="0"/>
              <a:t>             sistema de telemedicina:</a:t>
            </a:r>
            <a:endParaRPr lang="es-US" dirty="0"/>
          </a:p>
        </p:txBody>
      </p:sp>
      <p:sp>
        <p:nvSpPr>
          <p:cNvPr id="3" name="Marcador de contenido 2">
            <a:extLst>
              <a:ext uri="{FF2B5EF4-FFF2-40B4-BE49-F238E27FC236}">
                <a16:creationId xmlns:a16="http://schemas.microsoft.com/office/drawing/2014/main" id="{C0E50D1E-5220-4559-91F9-186A0FC08567}"/>
              </a:ext>
            </a:extLst>
          </p:cNvPr>
          <p:cNvSpPr>
            <a:spLocks noGrp="1"/>
          </p:cNvSpPr>
          <p:nvPr>
            <p:ph sz="half" idx="1"/>
          </p:nvPr>
        </p:nvSpPr>
        <p:spPr>
          <a:xfrm>
            <a:off x="590169" y="2741312"/>
            <a:ext cx="7510049" cy="3972617"/>
          </a:xfrm>
        </p:spPr>
        <p:txBody>
          <a:bodyPr>
            <a:normAutofit/>
          </a:bodyPr>
          <a:lstStyle/>
          <a:p>
            <a:pPr marL="0" indent="0">
              <a:buNone/>
            </a:pPr>
            <a:r>
              <a:rPr lang="es-US" dirty="0">
                <a:solidFill>
                  <a:schemeClr val="bg1"/>
                </a:solidFill>
              </a:rPr>
              <a:t>Ámbito económico:</a:t>
            </a:r>
          </a:p>
          <a:p>
            <a:pPr marL="0" indent="0">
              <a:buNone/>
            </a:pPr>
            <a:endParaRPr lang="es-US" dirty="0">
              <a:solidFill>
                <a:schemeClr val="bg1"/>
              </a:solidFill>
            </a:endParaRPr>
          </a:p>
          <a:p>
            <a:pPr marL="457200" indent="-457200">
              <a:buFont typeface="+mj-lt"/>
              <a:buAutoNum type="arabicPeriod"/>
            </a:pPr>
            <a:r>
              <a:rPr lang="es-ES" sz="1600" dirty="0">
                <a:solidFill>
                  <a:schemeClr val="bg1"/>
                </a:solidFill>
              </a:rPr>
              <a:t>Los costos de implementación. </a:t>
            </a:r>
          </a:p>
          <a:p>
            <a:pPr marL="457200" indent="-457200">
              <a:buFont typeface="+mj-lt"/>
              <a:buAutoNum type="arabicPeriod"/>
            </a:pPr>
            <a:r>
              <a:rPr lang="es-ES" sz="1600" dirty="0">
                <a:solidFill>
                  <a:schemeClr val="bg1"/>
                </a:solidFill>
              </a:rPr>
              <a:t>La ﬁnanciación inicial y sostenibilidad del proyecto. </a:t>
            </a:r>
          </a:p>
          <a:p>
            <a:pPr marL="457200" indent="-457200">
              <a:buFont typeface="+mj-lt"/>
              <a:buAutoNum type="arabicPeriod"/>
            </a:pPr>
            <a:r>
              <a:rPr lang="es-ES" sz="1600" dirty="0">
                <a:solidFill>
                  <a:schemeClr val="bg1"/>
                </a:solidFill>
              </a:rPr>
              <a:t>No existe un marco económico deﬁnido y explícito al que todas las organizaciones puedan acogerse.</a:t>
            </a:r>
          </a:p>
          <a:p>
            <a:pPr marL="0" indent="0">
              <a:buNone/>
            </a:pPr>
            <a:endParaRPr lang="es-US" sz="1900" dirty="0">
              <a:solidFill>
                <a:schemeClr val="bg1"/>
              </a:solidFill>
            </a:endParaRPr>
          </a:p>
        </p:txBody>
      </p:sp>
      <p:pic>
        <p:nvPicPr>
          <p:cNvPr id="23556" name="Picture 4">
            <a:extLst>
              <a:ext uri="{FF2B5EF4-FFF2-40B4-BE49-F238E27FC236}">
                <a16:creationId xmlns:a16="http://schemas.microsoft.com/office/drawing/2014/main" id="{E7F6B104-5355-476C-9C82-C97A99946A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21639" y="2741312"/>
            <a:ext cx="2463421" cy="24634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99414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A4B66D-CEDB-4EB0-92BF-A713E9947F91}"/>
              </a:ext>
            </a:extLst>
          </p:cNvPr>
          <p:cNvSpPr>
            <a:spLocks noGrp="1"/>
          </p:cNvSpPr>
          <p:nvPr>
            <p:ph type="title"/>
          </p:nvPr>
        </p:nvSpPr>
        <p:spPr/>
        <p:txBody>
          <a:bodyPr/>
          <a:lstStyle/>
          <a:p>
            <a:r>
              <a:rPr lang="es-ES" dirty="0"/>
              <a:t>Barreras a la implementación de un </a:t>
            </a:r>
            <a:br>
              <a:rPr lang="es-ES" dirty="0"/>
            </a:br>
            <a:r>
              <a:rPr lang="es-ES" dirty="0"/>
              <a:t>             sistema de telemedicina:</a:t>
            </a:r>
            <a:endParaRPr lang="es-US" dirty="0"/>
          </a:p>
        </p:txBody>
      </p:sp>
      <p:sp>
        <p:nvSpPr>
          <p:cNvPr id="6" name="CuadroTexto 5">
            <a:extLst>
              <a:ext uri="{FF2B5EF4-FFF2-40B4-BE49-F238E27FC236}">
                <a16:creationId xmlns:a16="http://schemas.microsoft.com/office/drawing/2014/main" id="{B7C78C61-1B37-4552-8B1C-621A4487A251}"/>
              </a:ext>
            </a:extLst>
          </p:cNvPr>
          <p:cNvSpPr txBox="1"/>
          <p:nvPr/>
        </p:nvSpPr>
        <p:spPr>
          <a:xfrm>
            <a:off x="590169" y="2643011"/>
            <a:ext cx="6531847" cy="2677656"/>
          </a:xfrm>
          <a:prstGeom prst="rect">
            <a:avLst/>
          </a:prstGeom>
          <a:noFill/>
        </p:spPr>
        <p:txBody>
          <a:bodyPr wrap="square">
            <a:spAutoFit/>
          </a:bodyPr>
          <a:lstStyle/>
          <a:p>
            <a:pPr marL="0" indent="0">
              <a:buNone/>
            </a:pPr>
            <a:r>
              <a:rPr lang="es-US" sz="2000" dirty="0">
                <a:solidFill>
                  <a:schemeClr val="bg1"/>
                </a:solidFill>
                <a:effectLst>
                  <a:outerShdw blurRad="38100" dist="38100" dir="2700000" algn="tl">
                    <a:srgbClr val="000000">
                      <a:alpha val="43137"/>
                    </a:srgbClr>
                  </a:outerShdw>
                </a:effectLst>
              </a:rPr>
              <a:t>Ámbito humano:</a:t>
            </a:r>
          </a:p>
          <a:p>
            <a:pPr marL="0" indent="0">
              <a:buNone/>
            </a:pPr>
            <a:endParaRPr lang="es-US" sz="1600" b="1" dirty="0">
              <a:solidFill>
                <a:schemeClr val="bg1"/>
              </a:solidFill>
            </a:endParaRPr>
          </a:p>
          <a:p>
            <a:pPr marL="457200" indent="-457200">
              <a:buFont typeface="+mj-lt"/>
              <a:buAutoNum type="arabicPeriod"/>
            </a:pPr>
            <a:r>
              <a:rPr lang="es-ES" sz="1600" dirty="0">
                <a:solidFill>
                  <a:schemeClr val="bg1"/>
                </a:solidFill>
              </a:rPr>
              <a:t>El factor humano, “resistencia al cambio”.</a:t>
            </a:r>
          </a:p>
          <a:p>
            <a:pPr marL="457200" indent="-457200">
              <a:buFont typeface="+mj-lt"/>
              <a:buAutoNum type="arabicPeriod"/>
            </a:pPr>
            <a:r>
              <a:rPr lang="es-ES" sz="1600" dirty="0">
                <a:solidFill>
                  <a:schemeClr val="bg1"/>
                </a:solidFill>
              </a:rPr>
              <a:t>La falta de vínculo emocional y de pertenencia con el proyecto. </a:t>
            </a:r>
          </a:p>
          <a:p>
            <a:pPr marL="457200" indent="-457200">
              <a:buFont typeface="+mj-lt"/>
              <a:buAutoNum type="arabicPeriod"/>
            </a:pPr>
            <a:r>
              <a:rPr lang="es-ES" sz="1600" dirty="0">
                <a:solidFill>
                  <a:schemeClr val="bg1"/>
                </a:solidFill>
              </a:rPr>
              <a:t>Las opiniones previas sobre la telemedicina. </a:t>
            </a:r>
          </a:p>
          <a:p>
            <a:pPr marL="457200" indent="-457200">
              <a:buFont typeface="+mj-lt"/>
              <a:buAutoNum type="arabicPeriod"/>
            </a:pPr>
            <a:r>
              <a:rPr lang="es-ES" sz="1600" dirty="0">
                <a:solidFill>
                  <a:schemeClr val="bg1"/>
                </a:solidFill>
              </a:rPr>
              <a:t>El escepticismo ante determinados tipos de pruebas “piloto”</a:t>
            </a:r>
          </a:p>
          <a:p>
            <a:pPr marL="457200" indent="-457200">
              <a:buFont typeface="+mj-lt"/>
              <a:buAutoNum type="arabicPeriod"/>
            </a:pPr>
            <a:r>
              <a:rPr lang="es-ES" sz="1600" dirty="0">
                <a:solidFill>
                  <a:schemeClr val="bg1"/>
                </a:solidFill>
              </a:rPr>
              <a:t>La carga de trabajo que supone poner en marcha este tipo de programas </a:t>
            </a:r>
          </a:p>
          <a:p>
            <a:pPr marL="457200" indent="-457200">
              <a:buFont typeface="+mj-lt"/>
              <a:buAutoNum type="arabicPeriod"/>
            </a:pPr>
            <a:r>
              <a:rPr lang="es-ES" sz="1600" dirty="0">
                <a:solidFill>
                  <a:schemeClr val="bg1"/>
                </a:solidFill>
              </a:rPr>
              <a:t>Los distintos intereses, preocupaciones y prioridades de los profesionales</a:t>
            </a:r>
            <a:endParaRPr lang="es-US" sz="1600" dirty="0">
              <a:solidFill>
                <a:schemeClr val="bg1"/>
              </a:solidFill>
            </a:endParaRPr>
          </a:p>
        </p:txBody>
      </p:sp>
      <p:pic>
        <p:nvPicPr>
          <p:cNvPr id="22530" name="Picture 2">
            <a:extLst>
              <a:ext uri="{FF2B5EF4-FFF2-40B4-BE49-F238E27FC236}">
                <a16:creationId xmlns:a16="http://schemas.microsoft.com/office/drawing/2014/main" id="{5BA6FF7C-A7C2-49D0-9BC6-365B98B384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48684" y="2869442"/>
            <a:ext cx="3429000"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83073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C0DBA9-ADFB-4099-A707-6E633831E1D7}"/>
              </a:ext>
            </a:extLst>
          </p:cNvPr>
          <p:cNvSpPr>
            <a:spLocks noGrp="1"/>
          </p:cNvSpPr>
          <p:nvPr>
            <p:ph type="title"/>
          </p:nvPr>
        </p:nvSpPr>
        <p:spPr/>
        <p:txBody>
          <a:bodyPr/>
          <a:lstStyle/>
          <a:p>
            <a:r>
              <a:rPr lang="es-ES" dirty="0"/>
              <a:t>Facilitadores para el desarrollo de un sistema de telemedicina</a:t>
            </a:r>
            <a:endParaRPr lang="es-US" dirty="0"/>
          </a:p>
        </p:txBody>
      </p:sp>
      <p:sp>
        <p:nvSpPr>
          <p:cNvPr id="3" name="Marcador de contenido 2">
            <a:extLst>
              <a:ext uri="{FF2B5EF4-FFF2-40B4-BE49-F238E27FC236}">
                <a16:creationId xmlns:a16="http://schemas.microsoft.com/office/drawing/2014/main" id="{E92D868F-DDBB-46FE-A898-90F9E03A6405}"/>
              </a:ext>
            </a:extLst>
          </p:cNvPr>
          <p:cNvSpPr>
            <a:spLocks noGrp="1"/>
          </p:cNvSpPr>
          <p:nvPr>
            <p:ph sz="half" idx="1"/>
          </p:nvPr>
        </p:nvSpPr>
        <p:spPr>
          <a:xfrm>
            <a:off x="515156" y="2336873"/>
            <a:ext cx="12027876" cy="4521127"/>
          </a:xfrm>
        </p:spPr>
        <p:txBody>
          <a:bodyPr>
            <a:normAutofit/>
          </a:bodyPr>
          <a:lstStyle/>
          <a:p>
            <a:pPr marL="0" indent="0">
              <a:buNone/>
            </a:pPr>
            <a:r>
              <a:rPr lang="es-ES" dirty="0">
                <a:solidFill>
                  <a:schemeClr val="bg1"/>
                </a:solidFill>
              </a:rPr>
              <a:t>Ámbito humano:</a:t>
            </a:r>
          </a:p>
          <a:p>
            <a:r>
              <a:rPr lang="es-ES" sz="1600" dirty="0">
                <a:solidFill>
                  <a:schemeClr val="bg1"/>
                </a:solidFill>
              </a:rPr>
              <a:t>Dar respuesta a una necesidad claramente percibida como tal por los profesionales asistenciales de la organización.</a:t>
            </a:r>
          </a:p>
          <a:p>
            <a:r>
              <a:rPr lang="es-ES" sz="1600" dirty="0">
                <a:solidFill>
                  <a:schemeClr val="bg1"/>
                </a:solidFill>
              </a:rPr>
              <a:t>Tener en cuenta la realidad y necesidades del entorno concreto donde desea implementarse.</a:t>
            </a:r>
          </a:p>
          <a:p>
            <a:pPr marL="0" indent="0">
              <a:buNone/>
            </a:pPr>
            <a:endParaRPr lang="es-ES" dirty="0"/>
          </a:p>
          <a:p>
            <a:pPr marL="0" indent="0">
              <a:buNone/>
            </a:pPr>
            <a:r>
              <a:rPr lang="es-ES" dirty="0">
                <a:solidFill>
                  <a:schemeClr val="bg1"/>
                </a:solidFill>
              </a:rPr>
              <a:t>Ámbito organizativo:</a:t>
            </a:r>
          </a:p>
          <a:p>
            <a:r>
              <a:rPr lang="es-ES" sz="1600" dirty="0">
                <a:solidFill>
                  <a:schemeClr val="bg1"/>
                </a:solidFill>
              </a:rPr>
              <a:t>Asegurar el liderazgo claro, </a:t>
            </a:r>
            <a:r>
              <a:rPr lang="es-ES" sz="1600" dirty="0" err="1">
                <a:solidFill>
                  <a:schemeClr val="bg1"/>
                </a:solidFill>
              </a:rPr>
              <a:t>identiﬁcable</a:t>
            </a:r>
            <a:r>
              <a:rPr lang="es-ES" sz="1600" dirty="0">
                <a:solidFill>
                  <a:schemeClr val="bg1"/>
                </a:solidFill>
              </a:rPr>
              <a:t>, proactivo.</a:t>
            </a:r>
          </a:p>
          <a:p>
            <a:r>
              <a:rPr lang="es-ES" sz="1600" dirty="0">
                <a:solidFill>
                  <a:schemeClr val="bg1"/>
                </a:solidFill>
              </a:rPr>
              <a:t>Hacer copartícipe de los proyectos de telemedicina a los profesionales de salud. </a:t>
            </a:r>
          </a:p>
          <a:p>
            <a:r>
              <a:rPr lang="es-ES" sz="1600" dirty="0">
                <a:solidFill>
                  <a:schemeClr val="bg1"/>
                </a:solidFill>
              </a:rPr>
              <a:t>Establecer relaciones de colaboración con las demás organizaciones que participan en el proyecto más allá de la relación cliente-proveedor. </a:t>
            </a:r>
          </a:p>
          <a:p>
            <a:r>
              <a:rPr lang="es-ES" sz="1600" dirty="0">
                <a:solidFill>
                  <a:schemeClr val="bg1"/>
                </a:solidFill>
              </a:rPr>
              <a:t>Elaborar e implementar un plan de negocio que ponga al paciente en el centro del servicio.</a:t>
            </a:r>
          </a:p>
        </p:txBody>
      </p:sp>
    </p:spTree>
    <p:extLst>
      <p:ext uri="{BB962C8B-B14F-4D97-AF65-F5344CB8AC3E}">
        <p14:creationId xmlns:p14="http://schemas.microsoft.com/office/powerpoint/2010/main" val="34611752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2C7511-C17C-4084-BAFB-D87544E9DB50}"/>
              </a:ext>
            </a:extLst>
          </p:cNvPr>
          <p:cNvSpPr>
            <a:spLocks noGrp="1"/>
          </p:cNvSpPr>
          <p:nvPr>
            <p:ph type="title"/>
          </p:nvPr>
        </p:nvSpPr>
        <p:spPr/>
        <p:txBody>
          <a:bodyPr/>
          <a:lstStyle/>
          <a:p>
            <a:r>
              <a:rPr lang="es-ES" dirty="0"/>
              <a:t>Facilitadores para el desarrollo de un sistema de telemedicina</a:t>
            </a:r>
            <a:endParaRPr lang="es-US" dirty="0"/>
          </a:p>
        </p:txBody>
      </p:sp>
      <p:sp>
        <p:nvSpPr>
          <p:cNvPr id="3" name="Marcador de contenido 2">
            <a:extLst>
              <a:ext uri="{FF2B5EF4-FFF2-40B4-BE49-F238E27FC236}">
                <a16:creationId xmlns:a16="http://schemas.microsoft.com/office/drawing/2014/main" id="{352C1E38-A458-4B5F-9604-F2DE0FBB1B72}"/>
              </a:ext>
            </a:extLst>
          </p:cNvPr>
          <p:cNvSpPr>
            <a:spLocks noGrp="1"/>
          </p:cNvSpPr>
          <p:nvPr>
            <p:ph sz="half" idx="1"/>
          </p:nvPr>
        </p:nvSpPr>
        <p:spPr>
          <a:xfrm>
            <a:off x="680319" y="2336872"/>
            <a:ext cx="11206881" cy="4162401"/>
          </a:xfrm>
        </p:spPr>
        <p:txBody>
          <a:bodyPr>
            <a:normAutofit/>
          </a:bodyPr>
          <a:lstStyle/>
          <a:p>
            <a:pPr marL="0" indent="0">
              <a:buNone/>
            </a:pPr>
            <a:r>
              <a:rPr lang="es-ES" b="1" dirty="0">
                <a:solidFill>
                  <a:schemeClr val="bg1"/>
                </a:solidFill>
              </a:rPr>
              <a:t>Ámbito tecnológico: </a:t>
            </a:r>
          </a:p>
          <a:p>
            <a:r>
              <a:rPr lang="es-ES" sz="1600" dirty="0">
                <a:solidFill>
                  <a:schemeClr val="bg1"/>
                </a:solidFill>
              </a:rPr>
              <a:t>Asegurar que la tecnología a implementar es usable y amigable. </a:t>
            </a:r>
          </a:p>
          <a:p>
            <a:r>
              <a:rPr lang="es-ES" sz="1600" dirty="0">
                <a:solidFill>
                  <a:schemeClr val="bg1"/>
                </a:solidFill>
              </a:rPr>
              <a:t>Establecer mecanismos rigurosos de evaluación y mantenimiento </a:t>
            </a:r>
            <a:r>
              <a:rPr lang="es-ES" sz="1600" dirty="0" err="1">
                <a:solidFill>
                  <a:schemeClr val="bg1"/>
                </a:solidFill>
              </a:rPr>
              <a:t>eﬁcaces</a:t>
            </a:r>
            <a:r>
              <a:rPr lang="es-ES" sz="1600" dirty="0">
                <a:solidFill>
                  <a:schemeClr val="bg1"/>
                </a:solidFill>
              </a:rPr>
              <a:t>.  </a:t>
            </a:r>
          </a:p>
          <a:p>
            <a:r>
              <a:rPr lang="es-ES" sz="1600" dirty="0">
                <a:solidFill>
                  <a:schemeClr val="bg1"/>
                </a:solidFill>
              </a:rPr>
              <a:t>Crear mecanismos de operación del servicio para garantizar que el servicio funcione sin problemas. </a:t>
            </a:r>
          </a:p>
          <a:p>
            <a:r>
              <a:rPr lang="es-ES" sz="1600" dirty="0">
                <a:solidFill>
                  <a:schemeClr val="bg1"/>
                </a:solidFill>
              </a:rPr>
              <a:t>Garantizar que la tecnología tiene el potencial de ampliación</a:t>
            </a:r>
          </a:p>
          <a:p>
            <a:pPr marL="0" indent="0">
              <a:buNone/>
            </a:pPr>
            <a:endParaRPr lang="es-ES" dirty="0"/>
          </a:p>
          <a:p>
            <a:pPr marL="0" indent="0">
              <a:buNone/>
            </a:pPr>
            <a:r>
              <a:rPr lang="es-ES" b="1" dirty="0">
                <a:solidFill>
                  <a:schemeClr val="bg1"/>
                </a:solidFill>
              </a:rPr>
              <a:t>Ámbito legal:</a:t>
            </a:r>
          </a:p>
          <a:p>
            <a:r>
              <a:rPr lang="es-ES" sz="1600" dirty="0">
                <a:solidFill>
                  <a:schemeClr val="bg1"/>
                </a:solidFill>
              </a:rPr>
              <a:t>Pedir consejo a experto en cuestiones de legalidad, ética, privacidad y seguridad </a:t>
            </a:r>
          </a:p>
          <a:p>
            <a:r>
              <a:rPr lang="es-ES" sz="1600" dirty="0">
                <a:solidFill>
                  <a:schemeClr val="bg1"/>
                </a:solidFill>
              </a:rPr>
              <a:t>Establecer los mecanismos necesarios para que el servicio sea legal. </a:t>
            </a:r>
          </a:p>
          <a:p>
            <a:r>
              <a:rPr lang="es-ES" sz="1600" dirty="0">
                <a:solidFill>
                  <a:schemeClr val="bg1"/>
                </a:solidFill>
              </a:rPr>
              <a:t>Aplicar las directrices pertinentes de seguridad que codiﬁcan las medidas legislativas y de seguridad y las consideraciones éticas y políticas. </a:t>
            </a:r>
          </a:p>
          <a:p>
            <a:r>
              <a:rPr lang="es-ES" sz="1600" dirty="0">
                <a:solidFill>
                  <a:schemeClr val="bg1"/>
                </a:solidFill>
              </a:rPr>
              <a:t>Asegurarse que los autores y usuarios de telemedicina tienen conciencia de privacidad.</a:t>
            </a:r>
            <a:endParaRPr lang="es-US" sz="1600" dirty="0">
              <a:solidFill>
                <a:schemeClr val="bg1"/>
              </a:solidFill>
            </a:endParaRPr>
          </a:p>
        </p:txBody>
      </p:sp>
    </p:spTree>
    <p:extLst>
      <p:ext uri="{BB962C8B-B14F-4D97-AF65-F5344CB8AC3E}">
        <p14:creationId xmlns:p14="http://schemas.microsoft.com/office/powerpoint/2010/main" val="28581575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4FA2A3-CDE2-48A3-8FC5-9ED23349652E}"/>
              </a:ext>
            </a:extLst>
          </p:cNvPr>
          <p:cNvSpPr>
            <a:spLocks noGrp="1"/>
          </p:cNvSpPr>
          <p:nvPr>
            <p:ph type="title"/>
          </p:nvPr>
        </p:nvSpPr>
        <p:spPr/>
        <p:txBody>
          <a:bodyPr/>
          <a:lstStyle/>
          <a:p>
            <a:r>
              <a:rPr lang="es-ES" dirty="0"/>
              <a:t>Aspectos legales, regulatorios y de seguridad de los sistemas de telemedicina </a:t>
            </a:r>
            <a:endParaRPr lang="es-US" dirty="0"/>
          </a:p>
        </p:txBody>
      </p:sp>
      <p:sp>
        <p:nvSpPr>
          <p:cNvPr id="3" name="Marcador de contenido 2">
            <a:extLst>
              <a:ext uri="{FF2B5EF4-FFF2-40B4-BE49-F238E27FC236}">
                <a16:creationId xmlns:a16="http://schemas.microsoft.com/office/drawing/2014/main" id="{C537978B-88CF-4509-85D1-BFF5B0797376}"/>
              </a:ext>
            </a:extLst>
          </p:cNvPr>
          <p:cNvSpPr>
            <a:spLocks noGrp="1"/>
          </p:cNvSpPr>
          <p:nvPr>
            <p:ph sz="half" idx="1"/>
          </p:nvPr>
        </p:nvSpPr>
        <p:spPr>
          <a:xfrm>
            <a:off x="680319" y="2243846"/>
            <a:ext cx="10375607" cy="3599316"/>
          </a:xfrm>
        </p:spPr>
        <p:txBody>
          <a:bodyPr>
            <a:normAutofit/>
          </a:bodyPr>
          <a:lstStyle/>
          <a:p>
            <a:pPr marL="0" indent="0" algn="just">
              <a:buNone/>
            </a:pPr>
            <a:r>
              <a:rPr lang="es-ES" sz="1800" dirty="0">
                <a:solidFill>
                  <a:schemeClr val="bg1"/>
                </a:solidFill>
                <a:effectLst/>
                <a:latin typeface="Inika"/>
              </a:rPr>
              <a:t>A</a:t>
            </a:r>
            <a:r>
              <a:rPr lang="es-ES" sz="1800" b="0" i="0" dirty="0">
                <a:solidFill>
                  <a:schemeClr val="bg1"/>
                </a:solidFill>
                <a:effectLst/>
                <a:latin typeface="Inika"/>
              </a:rPr>
              <a:t>ceptando que la telemedicina está legalmente permitida por la normativa y la autorregulación propia, ¿Qué aspectos legales deben considerarse antes de emprender esta modalidad de servicios?</a:t>
            </a:r>
          </a:p>
          <a:p>
            <a:pPr marL="0" indent="0" algn="just">
              <a:buNone/>
            </a:pPr>
            <a:r>
              <a:rPr lang="es-ES" sz="1800" b="0" i="0" dirty="0">
                <a:solidFill>
                  <a:schemeClr val="bg1"/>
                </a:solidFill>
                <a:effectLst/>
                <a:latin typeface="Inika"/>
              </a:rPr>
              <a:t>Las cuestiones regulatorias son cruciales en el ámbito de la telemedicina. Es una cuestión clave analizar la situación de la normativa legal en el momento de la implementación y desarrollo del servicio de telemedicina. De forma general, estos aspectos reguladores son:</a:t>
            </a:r>
          </a:p>
          <a:p>
            <a:pPr marL="0" indent="0" algn="just">
              <a:buNone/>
            </a:pPr>
            <a:endParaRPr lang="es-ES" sz="1800" dirty="0">
              <a:solidFill>
                <a:schemeClr val="bg1"/>
              </a:solidFill>
              <a:effectLst/>
              <a:latin typeface="Inika"/>
            </a:endParaRPr>
          </a:p>
          <a:p>
            <a:pPr algn="just"/>
            <a:r>
              <a:rPr lang="es-ES" sz="1800" b="0" i="0" dirty="0">
                <a:solidFill>
                  <a:schemeClr val="bg1"/>
                </a:solidFill>
                <a:effectLst/>
                <a:latin typeface="Inika"/>
              </a:rPr>
              <a:t>La protección de los datos. </a:t>
            </a:r>
          </a:p>
          <a:p>
            <a:pPr algn="just"/>
            <a:r>
              <a:rPr lang="es-ES" sz="1800" b="0" i="0" dirty="0">
                <a:solidFill>
                  <a:schemeClr val="bg1"/>
                </a:solidFill>
                <a:effectLst/>
                <a:latin typeface="Inika"/>
              </a:rPr>
              <a:t>La privacidad y conﬁdencialidad de los datos. </a:t>
            </a:r>
            <a:endParaRPr lang="es-ES" sz="1800" dirty="0">
              <a:solidFill>
                <a:schemeClr val="bg1"/>
              </a:solidFill>
              <a:effectLst/>
              <a:latin typeface="Inika"/>
            </a:endParaRPr>
          </a:p>
          <a:p>
            <a:pPr algn="just"/>
            <a:r>
              <a:rPr lang="es-ES" sz="1800" b="0" i="0" dirty="0">
                <a:solidFill>
                  <a:schemeClr val="bg1"/>
                </a:solidFill>
                <a:effectLst/>
                <a:latin typeface="Inika"/>
              </a:rPr>
              <a:t>Aspectos regulatorios relacionados con la responsabilidad de los datos.</a:t>
            </a:r>
          </a:p>
          <a:p>
            <a:pPr marL="0" indent="0" algn="just">
              <a:buNone/>
            </a:pPr>
            <a:endParaRPr lang="es-ES" b="0" i="0" dirty="0">
              <a:solidFill>
                <a:schemeClr val="bg1"/>
              </a:solidFill>
              <a:effectLst/>
              <a:latin typeface="Inika"/>
            </a:endParaRPr>
          </a:p>
          <a:p>
            <a:pPr marL="0" indent="0" algn="just">
              <a:buNone/>
            </a:pPr>
            <a:endParaRPr lang="es-US" b="0" i="0" dirty="0">
              <a:solidFill>
                <a:schemeClr val="bg1"/>
              </a:solidFill>
              <a:effectLst/>
              <a:latin typeface="Inika"/>
            </a:endParaRPr>
          </a:p>
          <a:p>
            <a:pPr marL="0" indent="0" algn="just">
              <a:buNone/>
            </a:pPr>
            <a:endParaRPr lang="es-ES" b="0" i="0" dirty="0">
              <a:solidFill>
                <a:schemeClr val="bg1"/>
              </a:solidFill>
              <a:effectLst/>
              <a:latin typeface="Inika"/>
            </a:endParaRPr>
          </a:p>
        </p:txBody>
      </p:sp>
      <p:sp>
        <p:nvSpPr>
          <p:cNvPr id="6" name="CuadroTexto 5">
            <a:extLst>
              <a:ext uri="{FF2B5EF4-FFF2-40B4-BE49-F238E27FC236}">
                <a16:creationId xmlns:a16="http://schemas.microsoft.com/office/drawing/2014/main" id="{29342457-B2F2-41E7-8F7A-546CD720A223}"/>
              </a:ext>
            </a:extLst>
          </p:cNvPr>
          <p:cNvSpPr txBox="1"/>
          <p:nvPr/>
        </p:nvSpPr>
        <p:spPr>
          <a:xfrm>
            <a:off x="680319" y="5581552"/>
            <a:ext cx="10831362" cy="523220"/>
          </a:xfrm>
          <a:prstGeom prst="rect">
            <a:avLst/>
          </a:prstGeom>
          <a:noFill/>
        </p:spPr>
        <p:txBody>
          <a:bodyPr wrap="square">
            <a:spAutoFit/>
          </a:bodyPr>
          <a:lstStyle/>
          <a:p>
            <a:r>
              <a:rPr lang="es-US" sz="1400" b="1" i="1" dirty="0">
                <a:solidFill>
                  <a:schemeClr val="bg1"/>
                </a:solidFill>
              </a:rPr>
              <a:t>Teniendo en cuenta que no suelen existir marcos regulatorios completos sobre servicios de telemedicina, estos suelen ser abordados desde las leyes preexistentes en materia de protección de datos</a:t>
            </a:r>
          </a:p>
        </p:txBody>
      </p:sp>
    </p:spTree>
    <p:extLst>
      <p:ext uri="{BB962C8B-B14F-4D97-AF65-F5344CB8AC3E}">
        <p14:creationId xmlns:p14="http://schemas.microsoft.com/office/powerpoint/2010/main" val="26153710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C3E968-0F2D-4D69-AE5F-894EAA3DA26C}"/>
              </a:ext>
            </a:extLst>
          </p:cNvPr>
          <p:cNvSpPr>
            <a:spLocks noGrp="1"/>
          </p:cNvSpPr>
          <p:nvPr>
            <p:ph type="title"/>
          </p:nvPr>
        </p:nvSpPr>
        <p:spPr/>
        <p:txBody>
          <a:bodyPr/>
          <a:lstStyle/>
          <a:p>
            <a:r>
              <a:rPr lang="es-ES" dirty="0"/>
              <a:t>Aspectos tecnológicos y de infraestructura de los sistemas de telemedicina</a:t>
            </a:r>
            <a:endParaRPr lang="es-US" dirty="0"/>
          </a:p>
        </p:txBody>
      </p:sp>
      <p:sp>
        <p:nvSpPr>
          <p:cNvPr id="6" name="CuadroTexto 5">
            <a:extLst>
              <a:ext uri="{FF2B5EF4-FFF2-40B4-BE49-F238E27FC236}">
                <a16:creationId xmlns:a16="http://schemas.microsoft.com/office/drawing/2014/main" id="{E0F02588-D60C-4D3B-9326-5A9C7F4FA7D1}"/>
              </a:ext>
            </a:extLst>
          </p:cNvPr>
          <p:cNvSpPr txBox="1"/>
          <p:nvPr/>
        </p:nvSpPr>
        <p:spPr>
          <a:xfrm>
            <a:off x="680321" y="3207435"/>
            <a:ext cx="5059297" cy="2308324"/>
          </a:xfrm>
          <a:prstGeom prst="rect">
            <a:avLst/>
          </a:prstGeom>
          <a:noFill/>
        </p:spPr>
        <p:txBody>
          <a:bodyPr wrap="square">
            <a:spAutoFit/>
          </a:bodyPr>
          <a:lstStyle/>
          <a:p>
            <a:r>
              <a:rPr lang="es-US" dirty="0">
                <a:solidFill>
                  <a:schemeClr val="bg1"/>
                </a:solidFill>
              </a:rPr>
              <a:t>La interoperabilidad es la capacidad que tienen dos o más aplicaciones y los procedimientos a los que éstas dan soporte, para compartir datos y posibilitar el intercambio de información y conocimiento entre ellas y dar servicio a todos aquellos implicados en la prestación del servicio de telemedicina propuesto.</a:t>
            </a:r>
          </a:p>
        </p:txBody>
      </p:sp>
      <p:sp>
        <p:nvSpPr>
          <p:cNvPr id="8" name="CuadroTexto 7">
            <a:extLst>
              <a:ext uri="{FF2B5EF4-FFF2-40B4-BE49-F238E27FC236}">
                <a16:creationId xmlns:a16="http://schemas.microsoft.com/office/drawing/2014/main" id="{0FFC8C48-B86C-4F47-A704-4A858C24D67D}"/>
              </a:ext>
            </a:extLst>
          </p:cNvPr>
          <p:cNvSpPr txBox="1"/>
          <p:nvPr/>
        </p:nvSpPr>
        <p:spPr>
          <a:xfrm>
            <a:off x="680321" y="2519014"/>
            <a:ext cx="6098344" cy="400110"/>
          </a:xfrm>
          <a:prstGeom prst="rect">
            <a:avLst/>
          </a:prstGeom>
          <a:noFill/>
        </p:spPr>
        <p:txBody>
          <a:bodyPr wrap="square">
            <a:spAutoFit/>
          </a:bodyPr>
          <a:lstStyle/>
          <a:p>
            <a:r>
              <a:rPr lang="es-US" sz="2000" dirty="0">
                <a:solidFill>
                  <a:schemeClr val="bg1"/>
                </a:solidFill>
                <a:effectLst>
                  <a:outerShdw blurRad="38100" dist="38100" dir="2700000" algn="tl">
                    <a:srgbClr val="000000">
                      <a:alpha val="43137"/>
                    </a:srgbClr>
                  </a:outerShdw>
                </a:effectLst>
              </a:rPr>
              <a:t>Aspectos de interoperabilidad:</a:t>
            </a:r>
          </a:p>
        </p:txBody>
      </p:sp>
      <p:sp>
        <p:nvSpPr>
          <p:cNvPr id="12" name="CuadroTexto 11">
            <a:extLst>
              <a:ext uri="{FF2B5EF4-FFF2-40B4-BE49-F238E27FC236}">
                <a16:creationId xmlns:a16="http://schemas.microsoft.com/office/drawing/2014/main" id="{DF75EFA8-0A22-4A9B-BD1E-44E50413F7C6}"/>
              </a:ext>
            </a:extLst>
          </p:cNvPr>
          <p:cNvSpPr txBox="1"/>
          <p:nvPr/>
        </p:nvSpPr>
        <p:spPr>
          <a:xfrm>
            <a:off x="5388777" y="2468771"/>
            <a:ext cx="6428084" cy="3785652"/>
          </a:xfrm>
          <a:prstGeom prst="rect">
            <a:avLst/>
          </a:prstGeom>
          <a:noFill/>
        </p:spPr>
        <p:txBody>
          <a:bodyPr wrap="square">
            <a:spAutoFit/>
          </a:bodyPr>
          <a:lstStyle/>
          <a:p>
            <a:r>
              <a:rPr lang="es-ES" sz="1400" b="1" dirty="0">
                <a:solidFill>
                  <a:schemeClr val="bg1"/>
                </a:solidFill>
              </a:rPr>
              <a:t>Interoperabilidad organizativa: </a:t>
            </a:r>
            <a:r>
              <a:rPr lang="es-ES" sz="1400" dirty="0">
                <a:solidFill>
                  <a:schemeClr val="bg1"/>
                </a:solidFill>
              </a:rPr>
              <a:t>se refiere a la definición de los objetivos y procesos de negocio y a la participación de las diferentes organizaciones y sus estructuras y procesos internos particulares involucrados en la prestación del servicio de telemedicina</a:t>
            </a:r>
          </a:p>
          <a:p>
            <a:endParaRPr lang="es-ES" sz="1400" dirty="0">
              <a:solidFill>
                <a:schemeClr val="bg1"/>
              </a:solidFill>
            </a:endParaRPr>
          </a:p>
          <a:p>
            <a:r>
              <a:rPr lang="es-ES" sz="1400" b="1" dirty="0">
                <a:solidFill>
                  <a:schemeClr val="bg1"/>
                </a:solidFill>
              </a:rPr>
              <a:t>Interoperabilidad sintáctica y semántica: </a:t>
            </a:r>
            <a:r>
              <a:rPr lang="es-ES" sz="1400" dirty="0">
                <a:solidFill>
                  <a:schemeClr val="bg1"/>
                </a:solidFill>
              </a:rPr>
              <a:t>la interoperabilidad sintáctica se refiere al formato de los datos, mientras que la interoperabilidad semántica está relacionada con asegurar el significado preciso de la información y que ésta sea comprensible por cualquier otra aplicación no inicialmente desarrollada para ese propósito.</a:t>
            </a:r>
          </a:p>
          <a:p>
            <a:endParaRPr lang="es-ES" sz="1400" dirty="0">
              <a:solidFill>
                <a:schemeClr val="bg1"/>
              </a:solidFill>
            </a:endParaRPr>
          </a:p>
          <a:p>
            <a:r>
              <a:rPr lang="es-ES" sz="1400" b="1" dirty="0">
                <a:solidFill>
                  <a:schemeClr val="bg1"/>
                </a:solidFill>
              </a:rPr>
              <a:t>Interoperabilidad técnica: </a:t>
            </a:r>
            <a:r>
              <a:rPr lang="es-ES" sz="1400" dirty="0">
                <a:solidFill>
                  <a:schemeClr val="bg1"/>
                </a:solidFill>
              </a:rPr>
              <a:t>se refiere a los aspectos técnicos relacionados con la conexión de diferentes equipos informáticos e incluye aspectos como las interfaces abiertas, los servicios de interconexión de datos, la integración de datos, la presentación e intercambio de datos y los servicios de accesibilidad y seguridad.</a:t>
            </a:r>
            <a:endParaRPr lang="es-US" sz="1400" dirty="0">
              <a:solidFill>
                <a:schemeClr val="bg1"/>
              </a:solidFill>
            </a:endParaRPr>
          </a:p>
          <a:p>
            <a:endParaRPr lang="es-ES" sz="1600" dirty="0">
              <a:solidFill>
                <a:schemeClr val="bg1"/>
              </a:solidFill>
            </a:endParaRPr>
          </a:p>
        </p:txBody>
      </p:sp>
      <p:sp>
        <p:nvSpPr>
          <p:cNvPr id="14" name="CuadroTexto 13">
            <a:extLst>
              <a:ext uri="{FF2B5EF4-FFF2-40B4-BE49-F238E27FC236}">
                <a16:creationId xmlns:a16="http://schemas.microsoft.com/office/drawing/2014/main" id="{A0819E58-9430-47DD-BE5E-8C4036ECEAA5}"/>
              </a:ext>
            </a:extLst>
          </p:cNvPr>
          <p:cNvSpPr txBox="1"/>
          <p:nvPr/>
        </p:nvSpPr>
        <p:spPr>
          <a:xfrm>
            <a:off x="5388777" y="6100534"/>
            <a:ext cx="6093724" cy="307777"/>
          </a:xfrm>
          <a:prstGeom prst="rect">
            <a:avLst/>
          </a:prstGeom>
          <a:noFill/>
        </p:spPr>
        <p:txBody>
          <a:bodyPr wrap="square">
            <a:spAutoFit/>
          </a:bodyPr>
          <a:lstStyle/>
          <a:p>
            <a:r>
              <a:rPr lang="es-US" sz="1400" dirty="0">
                <a:solidFill>
                  <a:srgbClr val="FF0000"/>
                </a:solidFill>
              </a:rPr>
              <a:t>Interoperabilidad legal entre países</a:t>
            </a:r>
          </a:p>
        </p:txBody>
      </p:sp>
    </p:spTree>
    <p:extLst>
      <p:ext uri="{BB962C8B-B14F-4D97-AF65-F5344CB8AC3E}">
        <p14:creationId xmlns:p14="http://schemas.microsoft.com/office/powerpoint/2010/main" val="41409223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DCBBA0-3427-4725-8B91-92AE07DFDAD4}"/>
              </a:ext>
            </a:extLst>
          </p:cNvPr>
          <p:cNvSpPr>
            <a:spLocks noGrp="1"/>
          </p:cNvSpPr>
          <p:nvPr>
            <p:ph type="title"/>
          </p:nvPr>
        </p:nvSpPr>
        <p:spPr/>
        <p:txBody>
          <a:bodyPr/>
          <a:lstStyle/>
          <a:p>
            <a:r>
              <a:rPr lang="es-ES" dirty="0"/>
              <a:t>Aspectos tecnológicos y de infraestructura de los sistemas de telemedicina</a:t>
            </a:r>
            <a:endParaRPr lang="es-US" dirty="0"/>
          </a:p>
        </p:txBody>
      </p:sp>
      <p:sp>
        <p:nvSpPr>
          <p:cNvPr id="5" name="CuadroTexto 4">
            <a:extLst>
              <a:ext uri="{FF2B5EF4-FFF2-40B4-BE49-F238E27FC236}">
                <a16:creationId xmlns:a16="http://schemas.microsoft.com/office/drawing/2014/main" id="{1734BB23-F78B-487F-85EE-132F59B2E455}"/>
              </a:ext>
            </a:extLst>
          </p:cNvPr>
          <p:cNvSpPr txBox="1"/>
          <p:nvPr/>
        </p:nvSpPr>
        <p:spPr>
          <a:xfrm>
            <a:off x="958948" y="2537086"/>
            <a:ext cx="6098344" cy="2616101"/>
          </a:xfrm>
          <a:prstGeom prst="rect">
            <a:avLst/>
          </a:prstGeom>
          <a:noFill/>
        </p:spPr>
        <p:txBody>
          <a:bodyPr wrap="square">
            <a:spAutoFit/>
          </a:bodyPr>
          <a:lstStyle/>
          <a:p>
            <a:r>
              <a:rPr lang="es-US" sz="2000" dirty="0">
                <a:solidFill>
                  <a:schemeClr val="bg1"/>
                </a:solidFill>
                <a:effectLst>
                  <a:outerShdw blurRad="38100" dist="38100" dir="2700000" algn="tl">
                    <a:srgbClr val="000000">
                      <a:alpha val="43137"/>
                    </a:srgbClr>
                  </a:outerShdw>
                </a:effectLst>
              </a:rPr>
              <a:t>Aspectos de infraestructuras tecnológicas:</a:t>
            </a:r>
          </a:p>
          <a:p>
            <a:endParaRPr lang="es-US" dirty="0">
              <a:effectLst>
                <a:outerShdw blurRad="38100" dist="38100" dir="2700000" algn="tl">
                  <a:srgbClr val="000000">
                    <a:alpha val="43137"/>
                  </a:srgbClr>
                </a:outerShdw>
              </a:effectLst>
            </a:endParaRPr>
          </a:p>
          <a:p>
            <a:endParaRPr lang="es-US" dirty="0">
              <a:solidFill>
                <a:schemeClr val="bg1"/>
              </a:solidFill>
              <a:effectLst>
                <a:outerShdw blurRad="38100" dist="38100" dir="2700000" algn="tl">
                  <a:srgbClr val="000000">
                    <a:alpha val="43137"/>
                  </a:srgbClr>
                </a:outerShdw>
              </a:effectLst>
            </a:endParaRPr>
          </a:p>
          <a:p>
            <a:pPr marL="285750" indent="-285750">
              <a:buFont typeface="Arial" panose="020B0604020202020204" pitchFamily="34" charset="0"/>
              <a:buChar char="•"/>
            </a:pPr>
            <a:r>
              <a:rPr lang="es-ES" b="1" dirty="0">
                <a:solidFill>
                  <a:schemeClr val="bg1"/>
                </a:solidFill>
                <a:effectLst>
                  <a:outerShdw blurRad="38100" dist="38100" dir="2700000" algn="tl">
                    <a:srgbClr val="000000">
                      <a:alpha val="43137"/>
                    </a:srgbClr>
                  </a:outerShdw>
                </a:effectLst>
              </a:rPr>
              <a:t>Las infraestructuras TIC</a:t>
            </a:r>
          </a:p>
          <a:p>
            <a:pPr marL="285750" indent="-285750">
              <a:buFont typeface="Arial" panose="020B0604020202020204" pitchFamily="34" charset="0"/>
              <a:buChar char="•"/>
            </a:pPr>
            <a:r>
              <a:rPr lang="es-ES" b="1" dirty="0">
                <a:solidFill>
                  <a:schemeClr val="bg1"/>
                </a:solidFill>
                <a:effectLst>
                  <a:outerShdw blurRad="38100" dist="38100" dir="2700000" algn="tl">
                    <a:srgbClr val="000000">
                      <a:alpha val="43137"/>
                    </a:srgbClr>
                  </a:outerShdw>
                </a:effectLst>
              </a:rPr>
              <a:t>Las infraestructuras de </a:t>
            </a:r>
            <a:r>
              <a:rPr lang="es-ES" b="1" dirty="0" err="1">
                <a:solidFill>
                  <a:schemeClr val="bg1"/>
                </a:solidFill>
                <a:effectLst>
                  <a:outerShdw blurRad="38100" dist="38100" dir="2700000" algn="tl">
                    <a:srgbClr val="000000">
                      <a:alpha val="43137"/>
                    </a:srgbClr>
                  </a:outerShdw>
                </a:effectLst>
              </a:rPr>
              <a:t>eSalud</a:t>
            </a:r>
            <a:r>
              <a:rPr lang="es-ES" b="1" dirty="0">
                <a:solidFill>
                  <a:schemeClr val="bg1"/>
                </a:solidFill>
                <a:effectLst>
                  <a:outerShdw blurRad="38100" dist="38100" dir="2700000" algn="tl">
                    <a:srgbClr val="000000">
                      <a:alpha val="43137"/>
                    </a:srgbClr>
                  </a:outerShdw>
                </a:effectLst>
              </a:rPr>
              <a:t> </a:t>
            </a:r>
          </a:p>
          <a:p>
            <a:pPr marL="285750" indent="-285750">
              <a:buFont typeface="Arial" panose="020B0604020202020204" pitchFamily="34" charset="0"/>
              <a:buChar char="•"/>
            </a:pPr>
            <a:r>
              <a:rPr lang="es-ES" b="1" dirty="0">
                <a:solidFill>
                  <a:schemeClr val="bg1"/>
                </a:solidFill>
                <a:effectLst>
                  <a:outerShdw blurRad="38100" dist="38100" dir="2700000" algn="tl">
                    <a:srgbClr val="000000">
                      <a:alpha val="43137"/>
                    </a:srgbClr>
                  </a:outerShdw>
                </a:effectLst>
              </a:rPr>
              <a:t>El apoyo del </a:t>
            </a:r>
            <a:r>
              <a:rPr lang="es-ES" b="1" dirty="0" err="1">
                <a:solidFill>
                  <a:schemeClr val="bg1"/>
                </a:solidFill>
                <a:effectLst>
                  <a:outerShdw blurRad="38100" dist="38100" dir="2700000" algn="tl">
                    <a:srgbClr val="000000">
                      <a:alpha val="43137"/>
                    </a:srgbClr>
                  </a:outerShdw>
                </a:effectLst>
              </a:rPr>
              <a:t>National</a:t>
            </a:r>
            <a:r>
              <a:rPr lang="es-ES" b="1" dirty="0">
                <a:solidFill>
                  <a:schemeClr val="bg1"/>
                </a:solidFill>
                <a:effectLst>
                  <a:outerShdw blurRad="38100" dist="38100" dir="2700000" algn="tl">
                    <a:srgbClr val="000000">
                      <a:alpha val="43137"/>
                    </a:srgbClr>
                  </a:outerShdw>
                </a:effectLst>
              </a:rPr>
              <a:t> </a:t>
            </a:r>
            <a:r>
              <a:rPr lang="es-ES" b="1" dirty="0" err="1">
                <a:solidFill>
                  <a:schemeClr val="bg1"/>
                </a:solidFill>
                <a:effectLst>
                  <a:outerShdw blurRad="38100" dist="38100" dir="2700000" algn="tl">
                    <a:srgbClr val="000000">
                      <a:alpha val="43137"/>
                    </a:srgbClr>
                  </a:outerShdw>
                </a:effectLst>
              </a:rPr>
              <a:t>Research</a:t>
            </a:r>
            <a:r>
              <a:rPr lang="es-ES" b="1" dirty="0">
                <a:solidFill>
                  <a:schemeClr val="bg1"/>
                </a:solidFill>
                <a:effectLst>
                  <a:outerShdw blurRad="38100" dist="38100" dir="2700000" algn="tl">
                    <a:srgbClr val="000000">
                      <a:alpha val="43137"/>
                    </a:srgbClr>
                  </a:outerShdw>
                </a:effectLst>
              </a:rPr>
              <a:t> and </a:t>
            </a:r>
            <a:r>
              <a:rPr lang="es-ES" b="1" dirty="0" err="1">
                <a:solidFill>
                  <a:schemeClr val="bg1"/>
                </a:solidFill>
                <a:effectLst>
                  <a:outerShdw blurRad="38100" dist="38100" dir="2700000" algn="tl">
                    <a:srgbClr val="000000">
                      <a:alpha val="43137"/>
                    </a:srgbClr>
                  </a:outerShdw>
                </a:effectLst>
              </a:rPr>
              <a:t>Education</a:t>
            </a:r>
            <a:r>
              <a:rPr lang="es-ES" b="1" dirty="0">
                <a:solidFill>
                  <a:schemeClr val="bg1"/>
                </a:solidFill>
                <a:effectLst>
                  <a:outerShdw blurRad="38100" dist="38100" dir="2700000" algn="tl">
                    <a:srgbClr val="000000">
                      <a:alpha val="43137"/>
                    </a:srgbClr>
                  </a:outerShdw>
                </a:effectLst>
              </a:rPr>
              <a:t> Networks (</a:t>
            </a:r>
            <a:r>
              <a:rPr lang="es-ES" b="1" dirty="0" err="1">
                <a:solidFill>
                  <a:schemeClr val="bg1"/>
                </a:solidFill>
                <a:effectLst>
                  <a:outerShdw blurRad="38100" dist="38100" dir="2700000" algn="tl">
                    <a:srgbClr val="000000">
                      <a:alpha val="43137"/>
                    </a:srgbClr>
                  </a:outerShdw>
                </a:effectLst>
              </a:rPr>
              <a:t>NRENs</a:t>
            </a:r>
            <a:r>
              <a:rPr lang="es-ES" b="1" dirty="0">
                <a:solidFill>
                  <a:schemeClr val="bg1"/>
                </a:solidFill>
                <a:effectLst>
                  <a:outerShdw blurRad="38100" dist="38100" dir="2700000" algn="tl">
                    <a:srgbClr val="000000">
                      <a:alpha val="43137"/>
                    </a:srgbClr>
                  </a:outerShdw>
                </a:effectLst>
              </a:rPr>
              <a:t>) </a:t>
            </a:r>
          </a:p>
          <a:p>
            <a:pPr marL="285750" indent="-285750">
              <a:buFont typeface="Arial" panose="020B0604020202020204" pitchFamily="34" charset="0"/>
              <a:buChar char="•"/>
            </a:pPr>
            <a:r>
              <a:rPr lang="es-ES" b="1" dirty="0">
                <a:solidFill>
                  <a:schemeClr val="bg1"/>
                </a:solidFill>
                <a:effectLst>
                  <a:outerShdw blurRad="38100" dist="38100" dir="2700000" algn="tl">
                    <a:srgbClr val="000000">
                      <a:alpha val="43137"/>
                    </a:srgbClr>
                  </a:outerShdw>
                </a:effectLst>
              </a:rPr>
              <a:t>La usabilidad y escalabilidad tecnológica del servicio</a:t>
            </a:r>
            <a:endParaRPr lang="es-US" b="1" dirty="0">
              <a:solidFill>
                <a:schemeClr val="bg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0557027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2D22DA-4204-448E-B790-F12EFE97C5E2}"/>
              </a:ext>
            </a:extLst>
          </p:cNvPr>
          <p:cNvSpPr>
            <a:spLocks noGrp="1"/>
          </p:cNvSpPr>
          <p:nvPr>
            <p:ph type="title"/>
          </p:nvPr>
        </p:nvSpPr>
        <p:spPr/>
        <p:txBody>
          <a:bodyPr/>
          <a:lstStyle/>
          <a:p>
            <a:r>
              <a:rPr lang="es-US" dirty="0"/>
              <a:t>Aspectos de recursos humanos sobre los sistemas de telemedicina</a:t>
            </a:r>
          </a:p>
        </p:txBody>
      </p:sp>
      <p:sp>
        <p:nvSpPr>
          <p:cNvPr id="6" name="CuadroTexto 5">
            <a:extLst>
              <a:ext uri="{FF2B5EF4-FFF2-40B4-BE49-F238E27FC236}">
                <a16:creationId xmlns:a16="http://schemas.microsoft.com/office/drawing/2014/main" id="{86D2DFDA-99F1-41D5-8BE4-037F77192EA1}"/>
              </a:ext>
            </a:extLst>
          </p:cNvPr>
          <p:cNvSpPr txBox="1"/>
          <p:nvPr/>
        </p:nvSpPr>
        <p:spPr>
          <a:xfrm>
            <a:off x="502920" y="2218231"/>
            <a:ext cx="10934114" cy="1200329"/>
          </a:xfrm>
          <a:prstGeom prst="rect">
            <a:avLst/>
          </a:prstGeom>
          <a:noFill/>
        </p:spPr>
        <p:txBody>
          <a:bodyPr wrap="square">
            <a:spAutoFit/>
          </a:bodyPr>
          <a:lstStyle/>
          <a:p>
            <a:r>
              <a:rPr lang="es-US" dirty="0">
                <a:effectLst>
                  <a:outerShdw blurRad="38100" dist="38100" dir="2700000" algn="tl">
                    <a:srgbClr val="000000">
                      <a:alpha val="43137"/>
                    </a:srgbClr>
                  </a:outerShdw>
                </a:effectLst>
              </a:rPr>
              <a:t>Es importante tener en cuenta tres cuestiones esenciales relacionadas con los Recursos Humanos en el momento de la implementación de un servicio de telemedicina:</a:t>
            </a:r>
          </a:p>
          <a:p>
            <a:endParaRPr lang="es-US" dirty="0">
              <a:effectLst>
                <a:outerShdw blurRad="38100" dist="38100" dir="2700000" algn="tl">
                  <a:srgbClr val="000000">
                    <a:alpha val="43137"/>
                  </a:srgbClr>
                </a:outerShdw>
              </a:effectLst>
            </a:endParaRPr>
          </a:p>
          <a:p>
            <a:endParaRPr lang="es-US" dirty="0">
              <a:effectLst>
                <a:outerShdw blurRad="38100" dist="38100" dir="2700000" algn="tl">
                  <a:srgbClr val="000000">
                    <a:alpha val="43137"/>
                  </a:srgbClr>
                </a:outerShdw>
              </a:effectLst>
            </a:endParaRPr>
          </a:p>
        </p:txBody>
      </p:sp>
      <p:graphicFrame>
        <p:nvGraphicFramePr>
          <p:cNvPr id="8" name="Diagrama 7">
            <a:extLst>
              <a:ext uri="{FF2B5EF4-FFF2-40B4-BE49-F238E27FC236}">
                <a16:creationId xmlns:a16="http://schemas.microsoft.com/office/drawing/2014/main" id="{D2212D79-4E7F-494B-A039-95B831BF9DBA}"/>
              </a:ext>
            </a:extLst>
          </p:cNvPr>
          <p:cNvGraphicFramePr/>
          <p:nvPr>
            <p:extLst>
              <p:ext uri="{D42A27DB-BD31-4B8C-83A1-F6EECF244321}">
                <p14:modId xmlns:p14="http://schemas.microsoft.com/office/powerpoint/2010/main" val="910828442"/>
              </p:ext>
            </p:extLst>
          </p:nvPr>
        </p:nvGraphicFramePr>
        <p:xfrm>
          <a:off x="680320" y="2771336"/>
          <a:ext cx="11008759" cy="37749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743388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48B29F-4312-410B-9676-E118EE75DFDA}"/>
              </a:ext>
            </a:extLst>
          </p:cNvPr>
          <p:cNvSpPr>
            <a:spLocks noGrp="1"/>
          </p:cNvSpPr>
          <p:nvPr>
            <p:ph type="title"/>
          </p:nvPr>
        </p:nvSpPr>
        <p:spPr/>
        <p:txBody>
          <a:bodyPr/>
          <a:lstStyle/>
          <a:p>
            <a:r>
              <a:rPr lang="es-ES" dirty="0"/>
              <a:t>Aspectos ﬁnancieros de los sistemas de telemedicina </a:t>
            </a:r>
            <a:endParaRPr lang="es-US" dirty="0"/>
          </a:p>
        </p:txBody>
      </p:sp>
      <p:sp>
        <p:nvSpPr>
          <p:cNvPr id="6" name="CuadroTexto 5">
            <a:extLst>
              <a:ext uri="{FF2B5EF4-FFF2-40B4-BE49-F238E27FC236}">
                <a16:creationId xmlns:a16="http://schemas.microsoft.com/office/drawing/2014/main" id="{572C25CC-0399-4307-970D-87744D035835}"/>
              </a:ext>
            </a:extLst>
          </p:cNvPr>
          <p:cNvSpPr txBox="1"/>
          <p:nvPr/>
        </p:nvSpPr>
        <p:spPr>
          <a:xfrm>
            <a:off x="680321" y="2438512"/>
            <a:ext cx="10587902" cy="2585323"/>
          </a:xfrm>
          <a:prstGeom prst="rect">
            <a:avLst/>
          </a:prstGeom>
          <a:noFill/>
        </p:spPr>
        <p:txBody>
          <a:bodyPr wrap="square">
            <a:spAutoFit/>
          </a:bodyPr>
          <a:lstStyle/>
          <a:p>
            <a:r>
              <a:rPr lang="es-ES" dirty="0">
                <a:solidFill>
                  <a:schemeClr val="bg1"/>
                </a:solidFill>
              </a:rPr>
              <a:t>Esto ha debido tenerse en cuenta en las fases iniciales del desarrollo del servicio de telemedicina propuesto. Para aprovechar la reducción de costes al mismo tiempo que se mejora la calidad de la asistencia, es preciso determinar con precisión cuál es realmente la evidencia de la eﬁciencia del servicio de telemedicina para ayudar a las administraciones públicas a tomar decisiones adecuadas en la utilización y asignación de recursos.</a:t>
            </a:r>
            <a:endParaRPr lang="es-US" dirty="0">
              <a:solidFill>
                <a:schemeClr val="bg1"/>
              </a:solidFill>
            </a:endParaRPr>
          </a:p>
          <a:p>
            <a:endParaRPr lang="es-US" dirty="0">
              <a:solidFill>
                <a:schemeClr val="bg1"/>
              </a:solidFill>
            </a:endParaRPr>
          </a:p>
          <a:p>
            <a:endParaRPr lang="es-US" dirty="0">
              <a:solidFill>
                <a:schemeClr val="bg1"/>
              </a:solidFill>
            </a:endParaRPr>
          </a:p>
          <a:p>
            <a:r>
              <a:rPr lang="es-US" dirty="0">
                <a:solidFill>
                  <a:schemeClr val="bg1"/>
                </a:solidFill>
              </a:rPr>
              <a:t>Para asegurar el correcto desarrollo del servicio de telemedicina es esencial llevar a cabo un análisis completo de costos y presupuesto que asegure la viabilidad y continuidad del proyecto.</a:t>
            </a:r>
          </a:p>
        </p:txBody>
      </p:sp>
    </p:spTree>
    <p:extLst>
      <p:ext uri="{BB962C8B-B14F-4D97-AF65-F5344CB8AC3E}">
        <p14:creationId xmlns:p14="http://schemas.microsoft.com/office/powerpoint/2010/main" val="13086924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13A841-54FA-4B38-99A6-32740C14B3B6}"/>
              </a:ext>
            </a:extLst>
          </p:cNvPr>
          <p:cNvSpPr>
            <a:spLocks noGrp="1"/>
          </p:cNvSpPr>
          <p:nvPr>
            <p:ph type="title"/>
          </p:nvPr>
        </p:nvSpPr>
        <p:spPr/>
        <p:txBody>
          <a:bodyPr/>
          <a:lstStyle/>
          <a:p>
            <a:r>
              <a:rPr lang="es-ES" dirty="0"/>
              <a:t>Seguridad sobre los servicios de sistemas de telemedicina </a:t>
            </a:r>
            <a:endParaRPr lang="es-US" dirty="0"/>
          </a:p>
        </p:txBody>
      </p:sp>
      <p:sp>
        <p:nvSpPr>
          <p:cNvPr id="6" name="CuadroTexto 5">
            <a:extLst>
              <a:ext uri="{FF2B5EF4-FFF2-40B4-BE49-F238E27FC236}">
                <a16:creationId xmlns:a16="http://schemas.microsoft.com/office/drawing/2014/main" id="{F1EF4B97-2943-4AFF-9D78-4915078398DB}"/>
              </a:ext>
            </a:extLst>
          </p:cNvPr>
          <p:cNvSpPr txBox="1"/>
          <p:nvPr/>
        </p:nvSpPr>
        <p:spPr>
          <a:xfrm>
            <a:off x="323558" y="2295101"/>
            <a:ext cx="11619913" cy="830997"/>
          </a:xfrm>
          <a:prstGeom prst="rect">
            <a:avLst/>
          </a:prstGeom>
          <a:noFill/>
        </p:spPr>
        <p:txBody>
          <a:bodyPr wrap="square">
            <a:spAutoFit/>
          </a:bodyPr>
          <a:lstStyle/>
          <a:p>
            <a:pPr algn="ctr"/>
            <a:r>
              <a:rPr lang="es-US" sz="1600" dirty="0">
                <a:solidFill>
                  <a:schemeClr val="bg1"/>
                </a:solidFill>
              </a:rPr>
              <a:t>Es importante tener en cuenta que la información médica que se maneja en Telemedicina, es en general de tipo conﬁdencial y por lo tanto, requiere ser protegida de ataques y amenazas que puedan afectar el derecho a la intimidad, la privacidad y la protección de los datos de los pacientes. </a:t>
            </a:r>
          </a:p>
        </p:txBody>
      </p:sp>
      <p:sp>
        <p:nvSpPr>
          <p:cNvPr id="8" name="CuadroTexto 7">
            <a:extLst>
              <a:ext uri="{FF2B5EF4-FFF2-40B4-BE49-F238E27FC236}">
                <a16:creationId xmlns:a16="http://schemas.microsoft.com/office/drawing/2014/main" id="{8AE6778D-628D-4F97-A05F-24C4393E0AFE}"/>
              </a:ext>
            </a:extLst>
          </p:cNvPr>
          <p:cNvSpPr txBox="1"/>
          <p:nvPr/>
        </p:nvSpPr>
        <p:spPr>
          <a:xfrm>
            <a:off x="323558" y="3294645"/>
            <a:ext cx="11619914" cy="584775"/>
          </a:xfrm>
          <a:prstGeom prst="rect">
            <a:avLst/>
          </a:prstGeom>
          <a:noFill/>
        </p:spPr>
        <p:txBody>
          <a:bodyPr wrap="square">
            <a:spAutoFit/>
          </a:bodyPr>
          <a:lstStyle/>
          <a:p>
            <a:pPr algn="ctr"/>
            <a:r>
              <a:rPr lang="es-ES" sz="1600" b="0" i="0" dirty="0">
                <a:solidFill>
                  <a:schemeClr val="bg1"/>
                </a:solidFill>
                <a:effectLst/>
                <a:latin typeface="+mj-lt"/>
              </a:rPr>
              <a:t>Para poder establecer mecanismos de prevención y protección de la información en redes de </a:t>
            </a:r>
          </a:p>
          <a:p>
            <a:pPr algn="ctr"/>
            <a:r>
              <a:rPr lang="es-ES" sz="1600" b="0" i="0" dirty="0">
                <a:solidFill>
                  <a:schemeClr val="bg1"/>
                </a:solidFill>
                <a:effectLst/>
                <a:latin typeface="+mj-lt"/>
              </a:rPr>
              <a:t>Telemedicina, se debe determinar las debilidades y defectos denominados vulnerabilidades</a:t>
            </a:r>
          </a:p>
        </p:txBody>
      </p:sp>
      <p:pic>
        <p:nvPicPr>
          <p:cNvPr id="9" name="Imagen 8">
            <a:extLst>
              <a:ext uri="{FF2B5EF4-FFF2-40B4-BE49-F238E27FC236}">
                <a16:creationId xmlns:a16="http://schemas.microsoft.com/office/drawing/2014/main" id="{2B1F45A5-BC0D-402E-8505-49611A6143BF}"/>
              </a:ext>
            </a:extLst>
          </p:cNvPr>
          <p:cNvPicPr>
            <a:picLocks noChangeAspect="1"/>
          </p:cNvPicPr>
          <p:nvPr/>
        </p:nvPicPr>
        <p:blipFill>
          <a:blip r:embed="rId2"/>
          <a:stretch>
            <a:fillRect/>
          </a:stretch>
        </p:blipFill>
        <p:spPr>
          <a:xfrm>
            <a:off x="2392241" y="4047967"/>
            <a:ext cx="7482545" cy="2500942"/>
          </a:xfrm>
          <a:prstGeom prst="rect">
            <a:avLst/>
          </a:prstGeom>
        </p:spPr>
      </p:pic>
    </p:spTree>
    <p:extLst>
      <p:ext uri="{BB962C8B-B14F-4D97-AF65-F5344CB8AC3E}">
        <p14:creationId xmlns:p14="http://schemas.microsoft.com/office/powerpoint/2010/main" val="17467109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C20AF4-1CD3-460D-BEB9-CD4620D3983F}"/>
              </a:ext>
            </a:extLst>
          </p:cNvPr>
          <p:cNvSpPr>
            <a:spLocks noGrp="1"/>
          </p:cNvSpPr>
          <p:nvPr>
            <p:ph type="title"/>
          </p:nvPr>
        </p:nvSpPr>
        <p:spPr/>
        <p:txBody>
          <a:bodyPr/>
          <a:lstStyle/>
          <a:p>
            <a:r>
              <a:rPr lang="es-ES" dirty="0"/>
              <a:t>Análisis de vulnerabilidades y riesgos de los sistemas de telemedicina</a:t>
            </a:r>
            <a:endParaRPr lang="es-US" dirty="0"/>
          </a:p>
        </p:txBody>
      </p:sp>
      <p:sp>
        <p:nvSpPr>
          <p:cNvPr id="8" name="CuadroTexto 7">
            <a:extLst>
              <a:ext uri="{FF2B5EF4-FFF2-40B4-BE49-F238E27FC236}">
                <a16:creationId xmlns:a16="http://schemas.microsoft.com/office/drawing/2014/main" id="{1F6A8A64-C9B6-4448-B08B-824E065FE65F}"/>
              </a:ext>
            </a:extLst>
          </p:cNvPr>
          <p:cNvSpPr txBox="1"/>
          <p:nvPr/>
        </p:nvSpPr>
        <p:spPr>
          <a:xfrm>
            <a:off x="362243" y="2196627"/>
            <a:ext cx="6098344" cy="3693319"/>
          </a:xfrm>
          <a:prstGeom prst="rect">
            <a:avLst/>
          </a:prstGeom>
          <a:noFill/>
        </p:spPr>
        <p:txBody>
          <a:bodyPr wrap="square">
            <a:spAutoFit/>
          </a:bodyPr>
          <a:lstStyle/>
          <a:p>
            <a:r>
              <a:rPr lang="es-ES" b="0" i="0" dirty="0">
                <a:solidFill>
                  <a:srgbClr val="000000"/>
                </a:solidFill>
                <a:effectLst>
                  <a:outerShdw blurRad="38100" dist="38100" dir="2700000" algn="tl">
                    <a:srgbClr val="000000">
                      <a:alpha val="43137"/>
                    </a:srgbClr>
                  </a:outerShdw>
                </a:effectLst>
                <a:latin typeface="Verdana" panose="020B0604030504040204" pitchFamily="34" charset="0"/>
              </a:rPr>
              <a:t>El análisis de los riesgos a los cuales se expone la información en una red de Telemedicina, permite determinar el alcance de los posibles daños a la integridad de la información médica, generados por las vulnerabilidades en una red de Telemedicina.</a:t>
            </a:r>
          </a:p>
          <a:p>
            <a:endParaRPr lang="es-ES" dirty="0">
              <a:solidFill>
                <a:srgbClr val="000000"/>
              </a:solidFill>
              <a:effectLst>
                <a:outerShdw blurRad="38100" dist="38100" dir="2700000" algn="tl">
                  <a:srgbClr val="000000">
                    <a:alpha val="43137"/>
                  </a:srgbClr>
                </a:outerShdw>
              </a:effectLst>
              <a:latin typeface="Verdana" panose="020B0604030504040204" pitchFamily="34" charset="0"/>
            </a:endParaRPr>
          </a:p>
          <a:p>
            <a:r>
              <a:rPr lang="es-ES" dirty="0">
                <a:solidFill>
                  <a:schemeClr val="bg1"/>
                </a:solidFill>
                <a:effectLst>
                  <a:outerShdw blurRad="38100" dist="38100" dir="2700000" algn="tl">
                    <a:srgbClr val="000000">
                      <a:alpha val="43137"/>
                    </a:srgbClr>
                  </a:outerShdw>
                </a:effectLst>
              </a:rPr>
              <a:t>Al igual que las redes de datos, los sistemas de Telemedicina están expuestos a una gran cantidad de amenazas debido a las vulnerabilidades del sistema. La presencia de vulnerabilidades y amenazas en la red, genera un riesgo asociado a la afectación total o parcial de la información</a:t>
            </a:r>
            <a:r>
              <a:rPr lang="es-ES" dirty="0">
                <a:effectLst>
                  <a:outerShdw blurRad="38100" dist="38100" dir="2700000" algn="tl">
                    <a:srgbClr val="000000">
                      <a:alpha val="43137"/>
                    </a:srgbClr>
                  </a:outerShdw>
                </a:effectLst>
              </a:rPr>
              <a:t>. </a:t>
            </a:r>
            <a:endParaRPr lang="es-US" dirty="0">
              <a:effectLst>
                <a:outerShdw blurRad="38100" dist="38100" dir="2700000" algn="tl">
                  <a:srgbClr val="000000">
                    <a:alpha val="43137"/>
                  </a:srgbClr>
                </a:outerShdw>
              </a:effectLst>
            </a:endParaRPr>
          </a:p>
        </p:txBody>
      </p:sp>
      <p:sp>
        <p:nvSpPr>
          <p:cNvPr id="10" name="CuadroTexto 9">
            <a:extLst>
              <a:ext uri="{FF2B5EF4-FFF2-40B4-BE49-F238E27FC236}">
                <a16:creationId xmlns:a16="http://schemas.microsoft.com/office/drawing/2014/main" id="{DE12BA90-8CD2-444F-916F-D6CEF39D957D}"/>
              </a:ext>
            </a:extLst>
          </p:cNvPr>
          <p:cNvSpPr txBox="1"/>
          <p:nvPr/>
        </p:nvSpPr>
        <p:spPr>
          <a:xfrm>
            <a:off x="6794374" y="2196627"/>
            <a:ext cx="5035383" cy="3693319"/>
          </a:xfrm>
          <a:prstGeom prst="rect">
            <a:avLst/>
          </a:prstGeom>
          <a:noFill/>
        </p:spPr>
        <p:txBody>
          <a:bodyPr wrap="square">
            <a:spAutoFit/>
          </a:bodyPr>
          <a:lstStyle/>
          <a:p>
            <a:pPr marL="285750" indent="-285750">
              <a:buFont typeface="Arial" panose="020B0604020202020204" pitchFamily="34" charset="0"/>
              <a:buChar char="•"/>
            </a:pPr>
            <a:r>
              <a:rPr lang="es-US" dirty="0">
                <a:solidFill>
                  <a:schemeClr val="bg1"/>
                </a:solidFill>
              </a:rPr>
              <a:t>El riesgo puede deﬁnirse como el daño potencial causado por una amenaza que puede explotar las vulnerabilidades de la información médica que se maneja sobre el sistema. </a:t>
            </a:r>
          </a:p>
          <a:p>
            <a:pPr marL="285750" indent="-285750">
              <a:buFont typeface="Arial" panose="020B0604020202020204" pitchFamily="34" charset="0"/>
              <a:buChar char="•"/>
            </a:pPr>
            <a:endParaRPr lang="es-US" dirty="0">
              <a:solidFill>
                <a:schemeClr val="bg1"/>
              </a:solidFill>
            </a:endParaRPr>
          </a:p>
          <a:p>
            <a:pPr marL="285750" indent="-285750">
              <a:buFont typeface="Arial" panose="020B0604020202020204" pitchFamily="34" charset="0"/>
              <a:buChar char="•"/>
            </a:pPr>
            <a:r>
              <a:rPr lang="es-ES" dirty="0">
                <a:solidFill>
                  <a:schemeClr val="bg1"/>
                </a:solidFill>
              </a:rPr>
              <a:t>Las amenazas se reﬁeren a la probabilidad de ocurrencia de un evento que puede afectar el sistema en un tiempo dado. </a:t>
            </a:r>
          </a:p>
          <a:p>
            <a:pPr marL="285750" indent="-285750">
              <a:buFont typeface="Arial" panose="020B0604020202020204" pitchFamily="34" charset="0"/>
              <a:buChar char="•"/>
            </a:pPr>
            <a:endParaRPr lang="es-ES" dirty="0">
              <a:solidFill>
                <a:schemeClr val="bg1"/>
              </a:solidFill>
            </a:endParaRPr>
          </a:p>
          <a:p>
            <a:pPr marL="285750" indent="-285750">
              <a:buFont typeface="Arial" panose="020B0604020202020204" pitchFamily="34" charset="0"/>
              <a:buChar char="•"/>
            </a:pPr>
            <a:r>
              <a:rPr lang="es-ES" dirty="0">
                <a:solidFill>
                  <a:schemeClr val="bg1"/>
                </a:solidFill>
              </a:rPr>
              <a:t>Vulnerabilidades se reﬁeren a la magnitud de la intensidad de los daños sufridos frente al impacto de un evento.</a:t>
            </a:r>
            <a:endParaRPr lang="es-US" dirty="0">
              <a:solidFill>
                <a:schemeClr val="bg1"/>
              </a:solidFill>
            </a:endParaRPr>
          </a:p>
        </p:txBody>
      </p:sp>
    </p:spTree>
    <p:extLst>
      <p:ext uri="{BB962C8B-B14F-4D97-AF65-F5344CB8AC3E}">
        <p14:creationId xmlns:p14="http://schemas.microsoft.com/office/powerpoint/2010/main" val="27043219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921D87-97CF-45D1-B98C-0B9B4D34D9AE}"/>
              </a:ext>
            </a:extLst>
          </p:cNvPr>
          <p:cNvSpPr>
            <a:spLocks noGrp="1"/>
          </p:cNvSpPr>
          <p:nvPr>
            <p:ph type="title"/>
          </p:nvPr>
        </p:nvSpPr>
        <p:spPr/>
        <p:txBody>
          <a:bodyPr/>
          <a:lstStyle/>
          <a:p>
            <a:r>
              <a:rPr lang="es-ES" dirty="0"/>
              <a:t>Análisis de vulnerabilidades y riesgos de los sistemas de telemedicina</a:t>
            </a:r>
            <a:endParaRPr lang="es-US" dirty="0"/>
          </a:p>
        </p:txBody>
      </p:sp>
      <p:sp>
        <p:nvSpPr>
          <p:cNvPr id="6" name="CuadroTexto 5">
            <a:extLst>
              <a:ext uri="{FF2B5EF4-FFF2-40B4-BE49-F238E27FC236}">
                <a16:creationId xmlns:a16="http://schemas.microsoft.com/office/drawing/2014/main" id="{17467490-B90F-4910-B91A-37A47C32A98C}"/>
              </a:ext>
            </a:extLst>
          </p:cNvPr>
          <p:cNvSpPr txBox="1"/>
          <p:nvPr/>
        </p:nvSpPr>
        <p:spPr>
          <a:xfrm>
            <a:off x="502920" y="2274051"/>
            <a:ext cx="5593080" cy="2031325"/>
          </a:xfrm>
          <a:prstGeom prst="rect">
            <a:avLst/>
          </a:prstGeom>
          <a:noFill/>
        </p:spPr>
        <p:txBody>
          <a:bodyPr wrap="square">
            <a:spAutoFit/>
          </a:bodyPr>
          <a:lstStyle/>
          <a:p>
            <a:r>
              <a:rPr lang="es-ES" b="1" i="0" dirty="0">
                <a:solidFill>
                  <a:srgbClr val="000000"/>
                </a:solidFill>
                <a:effectLst/>
                <a:latin typeface="Verdana" panose="020B0604030504040204" pitchFamily="34" charset="0"/>
              </a:rPr>
              <a:t>Nivel de efecto</a:t>
            </a:r>
            <a:r>
              <a:rPr lang="es-ES" b="0" i="0" dirty="0">
                <a:solidFill>
                  <a:srgbClr val="000000"/>
                </a:solidFill>
                <a:effectLst/>
                <a:latin typeface="Verdana" panose="020B0604030504040204" pitchFamily="34" charset="0"/>
              </a:rPr>
              <a:t>: El efecto es la repercusión negativa sobre el rendimiento de la red, causada por la explotación de una vulnerabilidad, se puede apreciar la clasificación del efecto, de acuerdo con el nivel de exposición del sistema a determinada vulnerabilidad.</a:t>
            </a:r>
            <a:endParaRPr lang="es-US" dirty="0"/>
          </a:p>
        </p:txBody>
      </p:sp>
      <p:pic>
        <p:nvPicPr>
          <p:cNvPr id="7" name="Imagen 6">
            <a:extLst>
              <a:ext uri="{FF2B5EF4-FFF2-40B4-BE49-F238E27FC236}">
                <a16:creationId xmlns:a16="http://schemas.microsoft.com/office/drawing/2014/main" id="{2CFE8E81-B2AA-4F26-9F11-303882FF873B}"/>
              </a:ext>
            </a:extLst>
          </p:cNvPr>
          <p:cNvPicPr>
            <a:picLocks noChangeAspect="1"/>
          </p:cNvPicPr>
          <p:nvPr/>
        </p:nvPicPr>
        <p:blipFill>
          <a:blip r:embed="rId2"/>
          <a:stretch>
            <a:fillRect/>
          </a:stretch>
        </p:blipFill>
        <p:spPr>
          <a:xfrm>
            <a:off x="502920" y="4389942"/>
            <a:ext cx="5593080" cy="2257745"/>
          </a:xfrm>
          <a:prstGeom prst="rect">
            <a:avLst/>
          </a:prstGeom>
        </p:spPr>
      </p:pic>
      <p:pic>
        <p:nvPicPr>
          <p:cNvPr id="8" name="Imagen 7">
            <a:extLst>
              <a:ext uri="{FF2B5EF4-FFF2-40B4-BE49-F238E27FC236}">
                <a16:creationId xmlns:a16="http://schemas.microsoft.com/office/drawing/2014/main" id="{E6CBBFDA-6C86-44E0-A077-8453DA04095C}"/>
              </a:ext>
            </a:extLst>
          </p:cNvPr>
          <p:cNvPicPr>
            <a:picLocks noChangeAspect="1"/>
          </p:cNvPicPr>
          <p:nvPr/>
        </p:nvPicPr>
        <p:blipFill>
          <a:blip r:embed="rId3"/>
          <a:stretch>
            <a:fillRect/>
          </a:stretch>
        </p:blipFill>
        <p:spPr>
          <a:xfrm>
            <a:off x="6366802" y="4389942"/>
            <a:ext cx="5585654" cy="1886065"/>
          </a:xfrm>
          <a:prstGeom prst="rect">
            <a:avLst/>
          </a:prstGeom>
        </p:spPr>
      </p:pic>
      <p:sp>
        <p:nvSpPr>
          <p:cNvPr id="10" name="CuadroTexto 9">
            <a:extLst>
              <a:ext uri="{FF2B5EF4-FFF2-40B4-BE49-F238E27FC236}">
                <a16:creationId xmlns:a16="http://schemas.microsoft.com/office/drawing/2014/main" id="{7FC095BA-4624-4772-A5AA-04FEC64701A1}"/>
              </a:ext>
            </a:extLst>
          </p:cNvPr>
          <p:cNvSpPr txBox="1"/>
          <p:nvPr/>
        </p:nvSpPr>
        <p:spPr>
          <a:xfrm>
            <a:off x="6366802" y="2281612"/>
            <a:ext cx="5322278" cy="1477328"/>
          </a:xfrm>
          <a:prstGeom prst="rect">
            <a:avLst/>
          </a:prstGeom>
          <a:noFill/>
        </p:spPr>
        <p:txBody>
          <a:bodyPr wrap="square">
            <a:spAutoFit/>
          </a:bodyPr>
          <a:lstStyle/>
          <a:p>
            <a:r>
              <a:rPr lang="es-ES" b="1" i="0" dirty="0">
                <a:solidFill>
                  <a:srgbClr val="000000"/>
                </a:solidFill>
                <a:effectLst/>
                <a:latin typeface="Verdana" panose="020B0604030504040204" pitchFamily="34" charset="0"/>
              </a:rPr>
              <a:t>Nivel de riesgo</a:t>
            </a:r>
            <a:r>
              <a:rPr lang="es-ES" b="0" i="0" dirty="0">
                <a:solidFill>
                  <a:srgbClr val="000000"/>
                </a:solidFill>
                <a:effectLst/>
                <a:latin typeface="Verdana" panose="020B0604030504040204" pitchFamily="34" charset="0"/>
              </a:rPr>
              <a:t>: El nivel de riesgo define la clasificación del riesgo asociado a la afectación del activo, según la estimación de la probabilidad de que una amenaza se haga efectiva</a:t>
            </a:r>
            <a:endParaRPr lang="es-US" dirty="0"/>
          </a:p>
        </p:txBody>
      </p:sp>
    </p:spTree>
    <p:extLst>
      <p:ext uri="{BB962C8B-B14F-4D97-AF65-F5344CB8AC3E}">
        <p14:creationId xmlns:p14="http://schemas.microsoft.com/office/powerpoint/2010/main" val="32975342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6587D0-3524-4FB4-969D-FB3552BEB6A5}"/>
              </a:ext>
            </a:extLst>
          </p:cNvPr>
          <p:cNvSpPr>
            <a:spLocks noGrp="1"/>
          </p:cNvSpPr>
          <p:nvPr>
            <p:ph type="title"/>
          </p:nvPr>
        </p:nvSpPr>
        <p:spPr/>
        <p:txBody>
          <a:bodyPr/>
          <a:lstStyle/>
          <a:p>
            <a:r>
              <a:rPr lang="es-ES" dirty="0"/>
              <a:t>Análisis de vulnerabilidades y riesgos de los sistemas de telemedicina</a:t>
            </a:r>
            <a:endParaRPr lang="es-US" dirty="0"/>
          </a:p>
        </p:txBody>
      </p:sp>
      <p:pic>
        <p:nvPicPr>
          <p:cNvPr id="5" name="Imagen 4">
            <a:extLst>
              <a:ext uri="{FF2B5EF4-FFF2-40B4-BE49-F238E27FC236}">
                <a16:creationId xmlns:a16="http://schemas.microsoft.com/office/drawing/2014/main" id="{9685B75C-BCCF-4B68-9000-1F3B2EEE7477}"/>
              </a:ext>
            </a:extLst>
          </p:cNvPr>
          <p:cNvPicPr>
            <a:picLocks noChangeAspect="1"/>
          </p:cNvPicPr>
          <p:nvPr/>
        </p:nvPicPr>
        <p:blipFill>
          <a:blip r:embed="rId2"/>
          <a:stretch>
            <a:fillRect/>
          </a:stretch>
        </p:blipFill>
        <p:spPr>
          <a:xfrm>
            <a:off x="7446282" y="2951946"/>
            <a:ext cx="3714750" cy="809625"/>
          </a:xfrm>
          <a:prstGeom prst="rect">
            <a:avLst/>
          </a:prstGeom>
        </p:spPr>
      </p:pic>
      <p:sp>
        <p:nvSpPr>
          <p:cNvPr id="7" name="CuadroTexto 6">
            <a:extLst>
              <a:ext uri="{FF2B5EF4-FFF2-40B4-BE49-F238E27FC236}">
                <a16:creationId xmlns:a16="http://schemas.microsoft.com/office/drawing/2014/main" id="{3885A2CC-9752-4D4A-9F08-DE03ACFF0EBE}"/>
              </a:ext>
            </a:extLst>
          </p:cNvPr>
          <p:cNvSpPr txBox="1"/>
          <p:nvPr/>
        </p:nvSpPr>
        <p:spPr>
          <a:xfrm>
            <a:off x="944733" y="2895094"/>
            <a:ext cx="6096000" cy="923330"/>
          </a:xfrm>
          <a:prstGeom prst="rect">
            <a:avLst/>
          </a:prstGeom>
          <a:noFill/>
        </p:spPr>
        <p:txBody>
          <a:bodyPr wrap="square">
            <a:spAutoFit/>
          </a:bodyPr>
          <a:lstStyle/>
          <a:p>
            <a:r>
              <a:rPr lang="es-ES" b="0" i="0" dirty="0">
                <a:solidFill>
                  <a:srgbClr val="000000"/>
                </a:solidFill>
                <a:effectLst/>
                <a:latin typeface="Verdana" panose="020B0604030504040204" pitchFamily="34" charset="0"/>
              </a:rPr>
              <a:t>Para determinar el nivel de riesgo promedio en donde se encuentra el activo, es necesario aplicar la ecuación.</a:t>
            </a:r>
            <a:endParaRPr lang="es-US" dirty="0"/>
          </a:p>
        </p:txBody>
      </p:sp>
      <p:sp>
        <p:nvSpPr>
          <p:cNvPr id="9" name="CuadroTexto 8">
            <a:extLst>
              <a:ext uri="{FF2B5EF4-FFF2-40B4-BE49-F238E27FC236}">
                <a16:creationId xmlns:a16="http://schemas.microsoft.com/office/drawing/2014/main" id="{54FEE62E-366F-4E40-826D-FA162D73F1B8}"/>
              </a:ext>
            </a:extLst>
          </p:cNvPr>
          <p:cNvSpPr txBox="1"/>
          <p:nvPr/>
        </p:nvSpPr>
        <p:spPr>
          <a:xfrm>
            <a:off x="987850" y="4402297"/>
            <a:ext cx="10216299" cy="954107"/>
          </a:xfrm>
          <a:prstGeom prst="rect">
            <a:avLst/>
          </a:prstGeom>
          <a:noFill/>
        </p:spPr>
        <p:txBody>
          <a:bodyPr wrap="square">
            <a:spAutoFit/>
          </a:bodyPr>
          <a:lstStyle/>
          <a:p>
            <a:r>
              <a:rPr lang="es-ES" sz="1400" b="1" i="0" dirty="0">
                <a:solidFill>
                  <a:srgbClr val="000000"/>
                </a:solidFill>
                <a:effectLst/>
                <a:latin typeface="Verdana" panose="020B0604030504040204" pitchFamily="34" charset="0"/>
              </a:rPr>
              <a:t>La fórmula anterior determina en cuál nivel de la clasificación de riesgo se encuentra la información médica, para poder evaluar de acuerdo con las vulnerabilidades, amenazas y requerimientos de seguridad, las medidas preventivas o correctivas necesarias para evitar daños a la información de los pacientes.</a:t>
            </a:r>
            <a:endParaRPr lang="es-US" sz="1400" b="1" dirty="0"/>
          </a:p>
        </p:txBody>
      </p:sp>
    </p:spTree>
    <p:extLst>
      <p:ext uri="{BB962C8B-B14F-4D97-AF65-F5344CB8AC3E}">
        <p14:creationId xmlns:p14="http://schemas.microsoft.com/office/powerpoint/2010/main" val="21610018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4DD7A0-54F2-4208-B7B4-E2E8F5390825}"/>
              </a:ext>
            </a:extLst>
          </p:cNvPr>
          <p:cNvSpPr>
            <a:spLocks noGrp="1"/>
          </p:cNvSpPr>
          <p:nvPr>
            <p:ph type="title"/>
          </p:nvPr>
        </p:nvSpPr>
        <p:spPr/>
        <p:txBody>
          <a:bodyPr/>
          <a:lstStyle/>
          <a:p>
            <a:r>
              <a:rPr lang="es-ES" dirty="0"/>
              <a:t>Modelos de evaluación útiles para los sistemas de telemedicina</a:t>
            </a:r>
            <a:endParaRPr lang="es-US" dirty="0"/>
          </a:p>
        </p:txBody>
      </p:sp>
      <p:sp>
        <p:nvSpPr>
          <p:cNvPr id="6" name="CuadroTexto 5">
            <a:extLst>
              <a:ext uri="{FF2B5EF4-FFF2-40B4-BE49-F238E27FC236}">
                <a16:creationId xmlns:a16="http://schemas.microsoft.com/office/drawing/2014/main" id="{E32D2D4B-E491-4E25-8641-44FB95173B00}"/>
              </a:ext>
            </a:extLst>
          </p:cNvPr>
          <p:cNvSpPr txBox="1"/>
          <p:nvPr/>
        </p:nvSpPr>
        <p:spPr>
          <a:xfrm>
            <a:off x="522513" y="2304533"/>
            <a:ext cx="7561943" cy="400110"/>
          </a:xfrm>
          <a:prstGeom prst="rect">
            <a:avLst/>
          </a:prstGeom>
          <a:noFill/>
        </p:spPr>
        <p:txBody>
          <a:bodyPr wrap="square">
            <a:spAutoFit/>
          </a:bodyPr>
          <a:lstStyle/>
          <a:p>
            <a:r>
              <a:rPr lang="es-US" sz="2000" b="1" dirty="0">
                <a:solidFill>
                  <a:schemeClr val="bg1"/>
                </a:solidFill>
              </a:rPr>
              <a:t>Evaluación de la calidad de los servicios de telemedicina: </a:t>
            </a:r>
          </a:p>
        </p:txBody>
      </p:sp>
      <p:sp>
        <p:nvSpPr>
          <p:cNvPr id="8" name="CuadroTexto 7">
            <a:extLst>
              <a:ext uri="{FF2B5EF4-FFF2-40B4-BE49-F238E27FC236}">
                <a16:creationId xmlns:a16="http://schemas.microsoft.com/office/drawing/2014/main" id="{F0132ADF-0E17-4722-AC42-9382D87CCF3F}"/>
              </a:ext>
            </a:extLst>
          </p:cNvPr>
          <p:cNvSpPr txBox="1"/>
          <p:nvPr/>
        </p:nvSpPr>
        <p:spPr>
          <a:xfrm>
            <a:off x="522512" y="2772065"/>
            <a:ext cx="10638972" cy="923330"/>
          </a:xfrm>
          <a:prstGeom prst="rect">
            <a:avLst/>
          </a:prstGeom>
          <a:noFill/>
        </p:spPr>
        <p:txBody>
          <a:bodyPr wrap="square">
            <a:spAutoFit/>
          </a:bodyPr>
          <a:lstStyle/>
          <a:p>
            <a:r>
              <a:rPr lang="es-US" dirty="0">
                <a:solidFill>
                  <a:schemeClr val="bg1"/>
                </a:solidFill>
              </a:rPr>
              <a:t>Al plantear la evaluación en media de la calidad de los servicios, debe centrarse principalmente en la medida del efecto de la telemedicina en los resultados de salud inmediatos, intermedios y a largo plazo –en comparación con las alternativas–, y en el proceso asistencial</a:t>
            </a:r>
            <a:r>
              <a:rPr lang="es-US" dirty="0"/>
              <a:t>.</a:t>
            </a:r>
          </a:p>
        </p:txBody>
      </p:sp>
      <p:sp>
        <p:nvSpPr>
          <p:cNvPr id="10" name="CuadroTexto 9">
            <a:extLst>
              <a:ext uri="{FF2B5EF4-FFF2-40B4-BE49-F238E27FC236}">
                <a16:creationId xmlns:a16="http://schemas.microsoft.com/office/drawing/2014/main" id="{E5EF4EBD-98C3-47F8-8FEF-1A3273612DFD}"/>
              </a:ext>
            </a:extLst>
          </p:cNvPr>
          <p:cNvSpPr txBox="1"/>
          <p:nvPr/>
        </p:nvSpPr>
        <p:spPr>
          <a:xfrm>
            <a:off x="522512" y="4138841"/>
            <a:ext cx="7823201" cy="400110"/>
          </a:xfrm>
          <a:prstGeom prst="rect">
            <a:avLst/>
          </a:prstGeom>
          <a:noFill/>
        </p:spPr>
        <p:txBody>
          <a:bodyPr wrap="square">
            <a:spAutoFit/>
          </a:bodyPr>
          <a:lstStyle/>
          <a:p>
            <a:r>
              <a:rPr lang="es-US" sz="2000" b="1" dirty="0">
                <a:solidFill>
                  <a:schemeClr val="bg1"/>
                </a:solidFill>
              </a:rPr>
              <a:t>Evaluación del acceso de los servicios de telemedicina:</a:t>
            </a:r>
          </a:p>
        </p:txBody>
      </p:sp>
      <p:sp>
        <p:nvSpPr>
          <p:cNvPr id="12" name="CuadroTexto 11">
            <a:extLst>
              <a:ext uri="{FF2B5EF4-FFF2-40B4-BE49-F238E27FC236}">
                <a16:creationId xmlns:a16="http://schemas.microsoft.com/office/drawing/2014/main" id="{9AA3633C-6C13-43DC-A00F-5FDB3C50D2D1}"/>
              </a:ext>
            </a:extLst>
          </p:cNvPr>
          <p:cNvSpPr txBox="1"/>
          <p:nvPr/>
        </p:nvSpPr>
        <p:spPr>
          <a:xfrm>
            <a:off x="522513" y="4538951"/>
            <a:ext cx="10638971" cy="1754326"/>
          </a:xfrm>
          <a:prstGeom prst="rect">
            <a:avLst/>
          </a:prstGeom>
          <a:noFill/>
        </p:spPr>
        <p:txBody>
          <a:bodyPr wrap="square">
            <a:spAutoFit/>
          </a:bodyPr>
          <a:lstStyle/>
          <a:p>
            <a:r>
              <a:rPr lang="es-US" dirty="0">
                <a:solidFill>
                  <a:schemeClr val="bg1"/>
                </a:solidFill>
              </a:rPr>
              <a:t>Desde el punto de vista social, la telemedicina debería reducir la necesidad de desplazamientos y mejorar el nivel de satisfacción de comunidades situadas en zonas remotas o sanitariamente infradotadas.</a:t>
            </a:r>
          </a:p>
          <a:p>
            <a:endParaRPr lang="es-US" dirty="0">
              <a:solidFill>
                <a:schemeClr val="bg1"/>
              </a:solidFill>
            </a:endParaRPr>
          </a:p>
          <a:p>
            <a:r>
              <a:rPr lang="es-US" dirty="0">
                <a:solidFill>
                  <a:schemeClr val="bg1"/>
                </a:solidFill>
              </a:rPr>
              <a:t>Asimismo, a través de la telemedicina podrían verse reducidas no solo las barreras de distancia sino también las relacionadas con la calidad y el tiempo.</a:t>
            </a:r>
          </a:p>
        </p:txBody>
      </p:sp>
    </p:spTree>
    <p:extLst>
      <p:ext uri="{BB962C8B-B14F-4D97-AF65-F5344CB8AC3E}">
        <p14:creationId xmlns:p14="http://schemas.microsoft.com/office/powerpoint/2010/main" val="35198450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131809-A131-4DAD-8AB5-25CE8E17A693}"/>
              </a:ext>
            </a:extLst>
          </p:cNvPr>
          <p:cNvSpPr>
            <a:spLocks noGrp="1"/>
          </p:cNvSpPr>
          <p:nvPr>
            <p:ph type="title"/>
          </p:nvPr>
        </p:nvSpPr>
        <p:spPr/>
        <p:txBody>
          <a:bodyPr/>
          <a:lstStyle/>
          <a:p>
            <a:r>
              <a:rPr lang="es-ES" dirty="0"/>
              <a:t>Modelos de evaluación útiles para los sistemas de telemedicina</a:t>
            </a:r>
            <a:endParaRPr lang="es-US" dirty="0"/>
          </a:p>
        </p:txBody>
      </p:sp>
      <p:sp>
        <p:nvSpPr>
          <p:cNvPr id="6" name="CuadroTexto 5">
            <a:extLst>
              <a:ext uri="{FF2B5EF4-FFF2-40B4-BE49-F238E27FC236}">
                <a16:creationId xmlns:a16="http://schemas.microsoft.com/office/drawing/2014/main" id="{96C42BBB-ECFF-4159-AE83-649B0D322DE1}"/>
              </a:ext>
            </a:extLst>
          </p:cNvPr>
          <p:cNvSpPr txBox="1"/>
          <p:nvPr/>
        </p:nvSpPr>
        <p:spPr>
          <a:xfrm>
            <a:off x="680321" y="2340206"/>
            <a:ext cx="8812022" cy="400110"/>
          </a:xfrm>
          <a:prstGeom prst="rect">
            <a:avLst/>
          </a:prstGeom>
          <a:noFill/>
        </p:spPr>
        <p:txBody>
          <a:bodyPr wrap="square">
            <a:spAutoFit/>
          </a:bodyPr>
          <a:lstStyle/>
          <a:p>
            <a:r>
              <a:rPr lang="es-US" sz="2000" b="1" dirty="0">
                <a:solidFill>
                  <a:schemeClr val="bg1"/>
                </a:solidFill>
              </a:rPr>
              <a:t>Evaluación de la aceptabilidad de los servicios de telemedicina:</a:t>
            </a:r>
          </a:p>
        </p:txBody>
      </p:sp>
      <p:sp>
        <p:nvSpPr>
          <p:cNvPr id="8" name="CuadroTexto 7">
            <a:extLst>
              <a:ext uri="{FF2B5EF4-FFF2-40B4-BE49-F238E27FC236}">
                <a16:creationId xmlns:a16="http://schemas.microsoft.com/office/drawing/2014/main" id="{0D8D0FE5-B5F7-4C7A-A7CA-FF31C9BC80F4}"/>
              </a:ext>
            </a:extLst>
          </p:cNvPr>
          <p:cNvSpPr txBox="1"/>
          <p:nvPr/>
        </p:nvSpPr>
        <p:spPr>
          <a:xfrm>
            <a:off x="680321" y="2990894"/>
            <a:ext cx="10742422" cy="1477328"/>
          </a:xfrm>
          <a:prstGeom prst="rect">
            <a:avLst/>
          </a:prstGeom>
          <a:noFill/>
        </p:spPr>
        <p:txBody>
          <a:bodyPr wrap="square">
            <a:spAutoFit/>
          </a:bodyPr>
          <a:lstStyle/>
          <a:p>
            <a:r>
              <a:rPr lang="es-US" dirty="0">
                <a:solidFill>
                  <a:schemeClr val="bg1"/>
                </a:solidFill>
              </a:rPr>
              <a:t>La aceptabilidad se entiende como la capacidad, tanto del personal sanitario como de los pacientes, de trabajar de forma “amigable” con las TIC.</a:t>
            </a:r>
          </a:p>
          <a:p>
            <a:endParaRPr lang="es-US" dirty="0">
              <a:solidFill>
                <a:schemeClr val="bg1"/>
              </a:solidFill>
            </a:endParaRPr>
          </a:p>
          <a:p>
            <a:r>
              <a:rPr lang="es-US" dirty="0">
                <a:solidFill>
                  <a:schemeClr val="bg1"/>
                </a:solidFill>
              </a:rPr>
              <a:t>Este es uno de los aspectos más frecuentemente evaluados en las experiencias de telemedicina y, por lo general, ofrece unos índices elevados de satisfacción.</a:t>
            </a:r>
          </a:p>
        </p:txBody>
      </p:sp>
      <p:sp>
        <p:nvSpPr>
          <p:cNvPr id="9" name="CuadroTexto 8">
            <a:extLst>
              <a:ext uri="{FF2B5EF4-FFF2-40B4-BE49-F238E27FC236}">
                <a16:creationId xmlns:a16="http://schemas.microsoft.com/office/drawing/2014/main" id="{3F474B35-4A0C-42C0-80BE-424AC21A6746}"/>
              </a:ext>
            </a:extLst>
          </p:cNvPr>
          <p:cNvSpPr txBox="1"/>
          <p:nvPr/>
        </p:nvSpPr>
        <p:spPr>
          <a:xfrm>
            <a:off x="578721" y="4736720"/>
            <a:ext cx="8420136" cy="400110"/>
          </a:xfrm>
          <a:prstGeom prst="rect">
            <a:avLst/>
          </a:prstGeom>
          <a:noFill/>
        </p:spPr>
        <p:txBody>
          <a:bodyPr wrap="square">
            <a:spAutoFit/>
          </a:bodyPr>
          <a:lstStyle/>
          <a:p>
            <a:r>
              <a:rPr lang="es-ES" sz="2000" b="1" dirty="0">
                <a:solidFill>
                  <a:schemeClr val="bg1"/>
                </a:solidFill>
              </a:rPr>
              <a:t>Evaluación del impacto en la organización sanitaria:</a:t>
            </a:r>
            <a:endParaRPr lang="es-US" sz="2000" b="1" dirty="0">
              <a:solidFill>
                <a:schemeClr val="bg1"/>
              </a:solidFill>
            </a:endParaRPr>
          </a:p>
        </p:txBody>
      </p:sp>
      <p:sp>
        <p:nvSpPr>
          <p:cNvPr id="11" name="CuadroTexto 10">
            <a:extLst>
              <a:ext uri="{FF2B5EF4-FFF2-40B4-BE49-F238E27FC236}">
                <a16:creationId xmlns:a16="http://schemas.microsoft.com/office/drawing/2014/main" id="{07E067C9-906C-4446-A6F7-4C73F97BE4E0}"/>
              </a:ext>
            </a:extLst>
          </p:cNvPr>
          <p:cNvSpPr txBox="1"/>
          <p:nvPr/>
        </p:nvSpPr>
        <p:spPr>
          <a:xfrm>
            <a:off x="578721" y="5264297"/>
            <a:ext cx="10365050" cy="646331"/>
          </a:xfrm>
          <a:prstGeom prst="rect">
            <a:avLst/>
          </a:prstGeom>
          <a:noFill/>
        </p:spPr>
        <p:txBody>
          <a:bodyPr wrap="square">
            <a:spAutoFit/>
          </a:bodyPr>
          <a:lstStyle/>
          <a:p>
            <a:r>
              <a:rPr lang="es-US" dirty="0">
                <a:solidFill>
                  <a:schemeClr val="bg1"/>
                </a:solidFill>
              </a:rPr>
              <a:t>El marco de evaluación incorpora, una serie de consideraciones relativas al contexto que se deben tener en cuenta en las etapas iniciales de la implantación de un servicio de telemedicina</a:t>
            </a:r>
          </a:p>
        </p:txBody>
      </p:sp>
    </p:spTree>
    <p:extLst>
      <p:ext uri="{BB962C8B-B14F-4D97-AF65-F5344CB8AC3E}">
        <p14:creationId xmlns:p14="http://schemas.microsoft.com/office/powerpoint/2010/main" val="29474054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52744F-5CEC-46A0-A057-FBDD554968F9}"/>
              </a:ext>
            </a:extLst>
          </p:cNvPr>
          <p:cNvSpPr>
            <a:spLocks noGrp="1"/>
          </p:cNvSpPr>
          <p:nvPr>
            <p:ph type="title"/>
          </p:nvPr>
        </p:nvSpPr>
        <p:spPr/>
        <p:txBody>
          <a:bodyPr/>
          <a:lstStyle/>
          <a:p>
            <a:r>
              <a:rPr lang="es-ES" dirty="0"/>
              <a:t>Historia clínicas electrónicas</a:t>
            </a:r>
            <a:endParaRPr lang="es-US" dirty="0"/>
          </a:p>
        </p:txBody>
      </p:sp>
      <p:sp>
        <p:nvSpPr>
          <p:cNvPr id="6" name="CuadroTexto 5">
            <a:extLst>
              <a:ext uri="{FF2B5EF4-FFF2-40B4-BE49-F238E27FC236}">
                <a16:creationId xmlns:a16="http://schemas.microsoft.com/office/drawing/2014/main" id="{9AF81710-F9BE-43F7-8F28-F67CEF3B65EC}"/>
              </a:ext>
            </a:extLst>
          </p:cNvPr>
          <p:cNvSpPr txBox="1"/>
          <p:nvPr/>
        </p:nvSpPr>
        <p:spPr>
          <a:xfrm>
            <a:off x="680321" y="3202322"/>
            <a:ext cx="10510193" cy="1200329"/>
          </a:xfrm>
          <a:prstGeom prst="rect">
            <a:avLst/>
          </a:prstGeom>
          <a:noFill/>
        </p:spPr>
        <p:txBody>
          <a:bodyPr wrap="square">
            <a:spAutoFit/>
          </a:bodyPr>
          <a:lstStyle/>
          <a:p>
            <a:r>
              <a:rPr lang="es-US" dirty="0">
                <a:solidFill>
                  <a:schemeClr val="bg1"/>
                </a:solidFill>
              </a:rPr>
              <a:t>Una historia clínica es un conjunto de los registros de salud de un paciente. Las historias clínicas incluyen información como edad, género, etnia, antecedentes médicos, medicamentos, alergias, vacunas, resultados de análisis de laboratorio, instrucciones de alta del hospital e información sobre facturación.</a:t>
            </a:r>
          </a:p>
        </p:txBody>
      </p:sp>
      <p:sp>
        <p:nvSpPr>
          <p:cNvPr id="7" name="Rectángulo 6">
            <a:extLst>
              <a:ext uri="{FF2B5EF4-FFF2-40B4-BE49-F238E27FC236}">
                <a16:creationId xmlns:a16="http://schemas.microsoft.com/office/drawing/2014/main" id="{DBA190A3-5746-4634-9E5C-02856C1505B7}"/>
              </a:ext>
            </a:extLst>
          </p:cNvPr>
          <p:cNvSpPr/>
          <p:nvPr/>
        </p:nvSpPr>
        <p:spPr>
          <a:xfrm>
            <a:off x="504290" y="2455349"/>
            <a:ext cx="5439310" cy="584775"/>
          </a:xfrm>
          <a:prstGeom prst="rect">
            <a:avLst/>
          </a:prstGeom>
          <a:noFill/>
        </p:spPr>
        <p:txBody>
          <a:bodyPr wrap="none" lIns="91440" tIns="45720" rIns="91440" bIns="45720">
            <a:spAutoFit/>
          </a:bodyPr>
          <a:lstStyle/>
          <a:p>
            <a:pPr algn="ctr"/>
            <a:r>
              <a:rPr lang="es-E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¿Que es una </a:t>
            </a:r>
            <a:r>
              <a:rPr lang="es-ES" sz="2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historia</a:t>
            </a:r>
            <a:r>
              <a:rPr lang="es-E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 clínica?</a:t>
            </a:r>
          </a:p>
        </p:txBody>
      </p:sp>
      <p:sp>
        <p:nvSpPr>
          <p:cNvPr id="8" name="AutoShape 2" descr="Historia Clínica - Clínica Propedéutica">
            <a:extLst>
              <a:ext uri="{FF2B5EF4-FFF2-40B4-BE49-F238E27FC236}">
                <a16:creationId xmlns:a16="http://schemas.microsoft.com/office/drawing/2014/main" id="{5EA9ACB6-88BC-4CDC-ACF9-7415F97054F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US"/>
          </a:p>
        </p:txBody>
      </p:sp>
      <p:sp>
        <p:nvSpPr>
          <p:cNvPr id="11" name="CuadroTexto 10">
            <a:extLst>
              <a:ext uri="{FF2B5EF4-FFF2-40B4-BE49-F238E27FC236}">
                <a16:creationId xmlns:a16="http://schemas.microsoft.com/office/drawing/2014/main" id="{A11EAAF1-A2A4-4D0D-A48C-3E3631B88957}"/>
              </a:ext>
            </a:extLst>
          </p:cNvPr>
          <p:cNvSpPr txBox="1"/>
          <p:nvPr/>
        </p:nvSpPr>
        <p:spPr>
          <a:xfrm>
            <a:off x="667870" y="4476929"/>
            <a:ext cx="10522643" cy="646331"/>
          </a:xfrm>
          <a:prstGeom prst="rect">
            <a:avLst/>
          </a:prstGeom>
          <a:noFill/>
        </p:spPr>
        <p:txBody>
          <a:bodyPr wrap="square">
            <a:spAutoFit/>
          </a:bodyPr>
          <a:lstStyle/>
          <a:p>
            <a:r>
              <a:rPr lang="es-US" dirty="0">
                <a:solidFill>
                  <a:schemeClr val="bg1"/>
                </a:solidFill>
              </a:rPr>
              <a:t>Los profesionales del cuidado de la salud pueden compartir estos registros médicos si están en el mismo hospital, la misma clínica o el mismo sistema de salud.</a:t>
            </a:r>
          </a:p>
        </p:txBody>
      </p:sp>
    </p:spTree>
    <p:extLst>
      <p:ext uri="{BB962C8B-B14F-4D97-AF65-F5344CB8AC3E}">
        <p14:creationId xmlns:p14="http://schemas.microsoft.com/office/powerpoint/2010/main" val="21868752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52744F-5CEC-46A0-A057-FBDD554968F9}"/>
              </a:ext>
            </a:extLst>
          </p:cNvPr>
          <p:cNvSpPr>
            <a:spLocks noGrp="1"/>
          </p:cNvSpPr>
          <p:nvPr>
            <p:ph type="title"/>
          </p:nvPr>
        </p:nvSpPr>
        <p:spPr/>
        <p:txBody>
          <a:bodyPr/>
          <a:lstStyle/>
          <a:p>
            <a:r>
              <a:rPr lang="es-ES" dirty="0"/>
              <a:t>Historia clínicas electrónicas</a:t>
            </a:r>
            <a:endParaRPr lang="es-US" dirty="0"/>
          </a:p>
        </p:txBody>
      </p:sp>
      <p:sp>
        <p:nvSpPr>
          <p:cNvPr id="6" name="CuadroTexto 5">
            <a:extLst>
              <a:ext uri="{FF2B5EF4-FFF2-40B4-BE49-F238E27FC236}">
                <a16:creationId xmlns:a16="http://schemas.microsoft.com/office/drawing/2014/main" id="{9AF81710-F9BE-43F7-8F28-F67CEF3B65EC}"/>
              </a:ext>
            </a:extLst>
          </p:cNvPr>
          <p:cNvSpPr txBox="1"/>
          <p:nvPr/>
        </p:nvSpPr>
        <p:spPr>
          <a:xfrm>
            <a:off x="680321" y="3202322"/>
            <a:ext cx="10510193" cy="2800767"/>
          </a:xfrm>
          <a:prstGeom prst="rect">
            <a:avLst/>
          </a:prstGeom>
          <a:noFill/>
        </p:spPr>
        <p:txBody>
          <a:bodyPr wrap="square">
            <a:spAutoFit/>
          </a:bodyPr>
          <a:lstStyle/>
          <a:p>
            <a:pPr algn="just"/>
            <a:r>
              <a:rPr lang="es-ES" sz="1600" b="0" i="0" dirty="0">
                <a:solidFill>
                  <a:srgbClr val="000000"/>
                </a:solidFill>
                <a:effectLst/>
                <a:latin typeface="Verdana" panose="020B0604030504040204" pitchFamily="34" charset="0"/>
              </a:rPr>
              <a:t>La información clínica hay que complementarla con otras informaciones, que van desde la suministrada por un conjunto de profesionales de la salud –del centro hospitalario, del centro de asistencia primaria, de la mutua laboral, de la asistencia psiquiátrica, del centro geriátrico…–, hasta la atención sociosanitaria, todo ello dentro de la asistencia pública pero también en la privada, de forma esporádica o habitual.</a:t>
            </a:r>
          </a:p>
          <a:p>
            <a:pPr algn="just"/>
            <a:endParaRPr lang="es-ES" sz="1600" b="0" i="0" dirty="0">
              <a:solidFill>
                <a:srgbClr val="000000"/>
              </a:solidFill>
              <a:effectLst/>
              <a:latin typeface="Verdana" panose="020B0604030504040204" pitchFamily="34" charset="0"/>
            </a:endParaRPr>
          </a:p>
          <a:p>
            <a:pPr algn="just"/>
            <a:r>
              <a:rPr lang="es-ES" sz="1600" b="0" i="0" dirty="0">
                <a:solidFill>
                  <a:srgbClr val="000000"/>
                </a:solidFill>
                <a:effectLst/>
                <a:latin typeface="Verdana" panose="020B0604030504040204" pitchFamily="34" charset="0"/>
              </a:rPr>
              <a:t>La información clínica pasa a abordar una concepción de información mucho más amplia e interrelacionada que se ha dado en llamar información sanitaria donde el paciente se convierte en ciudadano y el médico en profesional sanitario.</a:t>
            </a:r>
          </a:p>
          <a:p>
            <a:pPr algn="just"/>
            <a:r>
              <a:rPr lang="es-ES" sz="1600" b="0" i="0" dirty="0">
                <a:solidFill>
                  <a:srgbClr val="000000"/>
                </a:solidFill>
                <a:effectLst/>
                <a:latin typeface="Verdana" panose="020B0604030504040204" pitchFamily="34" charset="0"/>
              </a:rPr>
              <a:t>La recopilación de toda esta información sanitaria da lugar a un concepto más amplio que la HC que no es más que la historia de salud.</a:t>
            </a:r>
          </a:p>
        </p:txBody>
      </p:sp>
      <p:sp>
        <p:nvSpPr>
          <p:cNvPr id="7" name="Rectángulo 6">
            <a:extLst>
              <a:ext uri="{FF2B5EF4-FFF2-40B4-BE49-F238E27FC236}">
                <a16:creationId xmlns:a16="http://schemas.microsoft.com/office/drawing/2014/main" id="{DBA190A3-5746-4634-9E5C-02856C1505B7}"/>
              </a:ext>
            </a:extLst>
          </p:cNvPr>
          <p:cNvSpPr/>
          <p:nvPr/>
        </p:nvSpPr>
        <p:spPr>
          <a:xfrm>
            <a:off x="667870" y="2455349"/>
            <a:ext cx="6946132" cy="523220"/>
          </a:xfrm>
          <a:prstGeom prst="rect">
            <a:avLst/>
          </a:prstGeom>
          <a:noFill/>
        </p:spPr>
        <p:txBody>
          <a:bodyPr wrap="none" lIns="91440" tIns="45720" rIns="91440" bIns="45720">
            <a:spAutoFit/>
          </a:bodyPr>
          <a:lstStyle/>
          <a:p>
            <a:pPr algn="ctr"/>
            <a:r>
              <a:rPr lang="es-ES" sz="2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¿Que es una historia clínica electrónica?</a:t>
            </a:r>
          </a:p>
        </p:txBody>
      </p:sp>
      <p:sp>
        <p:nvSpPr>
          <p:cNvPr id="8" name="AutoShape 2" descr="Historia Clínica - Clínica Propedéutica">
            <a:extLst>
              <a:ext uri="{FF2B5EF4-FFF2-40B4-BE49-F238E27FC236}">
                <a16:creationId xmlns:a16="http://schemas.microsoft.com/office/drawing/2014/main" id="{5EA9ACB6-88BC-4CDC-ACF9-7415F97054F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US"/>
          </a:p>
        </p:txBody>
      </p:sp>
    </p:spTree>
    <p:extLst>
      <p:ext uri="{BB962C8B-B14F-4D97-AF65-F5344CB8AC3E}">
        <p14:creationId xmlns:p14="http://schemas.microsoft.com/office/powerpoint/2010/main" val="20985183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52744F-5CEC-46A0-A057-FBDD554968F9}"/>
              </a:ext>
            </a:extLst>
          </p:cNvPr>
          <p:cNvSpPr>
            <a:spLocks noGrp="1"/>
          </p:cNvSpPr>
          <p:nvPr>
            <p:ph type="title"/>
          </p:nvPr>
        </p:nvSpPr>
        <p:spPr/>
        <p:txBody>
          <a:bodyPr/>
          <a:lstStyle/>
          <a:p>
            <a:r>
              <a:rPr lang="es-ES" dirty="0"/>
              <a:t>Historia clínicas electrónicas</a:t>
            </a:r>
            <a:endParaRPr lang="es-US" dirty="0"/>
          </a:p>
        </p:txBody>
      </p:sp>
      <p:sp>
        <p:nvSpPr>
          <p:cNvPr id="6" name="CuadroTexto 5">
            <a:extLst>
              <a:ext uri="{FF2B5EF4-FFF2-40B4-BE49-F238E27FC236}">
                <a16:creationId xmlns:a16="http://schemas.microsoft.com/office/drawing/2014/main" id="{9AF81710-F9BE-43F7-8F28-F67CEF3B65EC}"/>
              </a:ext>
            </a:extLst>
          </p:cNvPr>
          <p:cNvSpPr txBox="1"/>
          <p:nvPr/>
        </p:nvSpPr>
        <p:spPr>
          <a:xfrm>
            <a:off x="728744" y="2397948"/>
            <a:ext cx="5367255" cy="1815882"/>
          </a:xfrm>
          <a:prstGeom prst="rect">
            <a:avLst/>
          </a:prstGeom>
          <a:noFill/>
        </p:spPr>
        <p:txBody>
          <a:bodyPr wrap="square">
            <a:spAutoFit/>
          </a:bodyPr>
          <a:lstStyle/>
          <a:p>
            <a:pPr algn="just"/>
            <a:r>
              <a:rPr lang="es-ES" sz="1600" b="0" i="0" dirty="0">
                <a:solidFill>
                  <a:srgbClr val="000000"/>
                </a:solidFill>
                <a:effectLst/>
                <a:latin typeface="Verdana" panose="020B0604030504040204" pitchFamily="34" charset="0"/>
              </a:rPr>
              <a:t>La introducción de las TIC da lugar a la informatización de la HC, pasándose a llamar HCE. Ésta deja de ser un registro de la información generada por un profesional sanitario o un centro sanitario y un paciente, para convertirse en una parte del sistema integrado de información de salud de un ciudadano.</a:t>
            </a:r>
          </a:p>
        </p:txBody>
      </p:sp>
      <p:sp>
        <p:nvSpPr>
          <p:cNvPr id="8" name="AutoShape 2" descr="Historia Clínica - Clínica Propedéutica">
            <a:extLst>
              <a:ext uri="{FF2B5EF4-FFF2-40B4-BE49-F238E27FC236}">
                <a16:creationId xmlns:a16="http://schemas.microsoft.com/office/drawing/2014/main" id="{5EA9ACB6-88BC-4CDC-ACF9-7415F97054F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US"/>
          </a:p>
        </p:txBody>
      </p:sp>
      <p:pic>
        <p:nvPicPr>
          <p:cNvPr id="7170" name="Picture 2" descr="Concepto de Historia Clínica Electrónica">
            <a:extLst>
              <a:ext uri="{FF2B5EF4-FFF2-40B4-BE49-F238E27FC236}">
                <a16:creationId xmlns:a16="http://schemas.microsoft.com/office/drawing/2014/main" id="{611C4925-479D-48C6-ADA6-88C284AE9E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56770" y="232012"/>
            <a:ext cx="4965539" cy="5449679"/>
          </a:xfrm>
          <a:prstGeom prst="rect">
            <a:avLst/>
          </a:prstGeom>
          <a:noFill/>
          <a:extLst>
            <a:ext uri="{909E8E84-426E-40DD-AFC4-6F175D3DCCD1}">
              <a14:hiddenFill xmlns:a14="http://schemas.microsoft.com/office/drawing/2010/main">
                <a:solidFill>
                  <a:srgbClr val="FFFFFF"/>
                </a:solidFill>
              </a14:hiddenFill>
            </a:ext>
          </a:extLst>
        </p:spPr>
      </p:pic>
      <p:sp>
        <p:nvSpPr>
          <p:cNvPr id="9" name="CuadroTexto 8">
            <a:extLst>
              <a:ext uri="{FF2B5EF4-FFF2-40B4-BE49-F238E27FC236}">
                <a16:creationId xmlns:a16="http://schemas.microsoft.com/office/drawing/2014/main" id="{AAE9F06A-E9EA-4A62-97BA-D0C5446BDF57}"/>
              </a:ext>
            </a:extLst>
          </p:cNvPr>
          <p:cNvSpPr txBox="1"/>
          <p:nvPr/>
        </p:nvSpPr>
        <p:spPr>
          <a:xfrm>
            <a:off x="728744" y="4288890"/>
            <a:ext cx="5519656" cy="1815882"/>
          </a:xfrm>
          <a:prstGeom prst="rect">
            <a:avLst/>
          </a:prstGeom>
          <a:noFill/>
        </p:spPr>
        <p:txBody>
          <a:bodyPr wrap="square">
            <a:spAutoFit/>
          </a:bodyPr>
          <a:lstStyle/>
          <a:p>
            <a:r>
              <a:rPr lang="es-US" sz="1600" dirty="0">
                <a:solidFill>
                  <a:schemeClr val="bg1"/>
                </a:solidFill>
              </a:rPr>
              <a:t>La historia clínica electrónica supone incorporar las Tecnologías de la Información y la Comunicación (TIC) en el núcleo de la actividad sanitaria. Esto trae como consecuencia que la historia deje de ser un registro de la información generada en la relación entre un paciente y un profesional o un centro sanitario, para formar parte de un sistema integrado de información clínica</a:t>
            </a:r>
          </a:p>
        </p:txBody>
      </p:sp>
    </p:spTree>
    <p:extLst>
      <p:ext uri="{BB962C8B-B14F-4D97-AF65-F5344CB8AC3E}">
        <p14:creationId xmlns:p14="http://schemas.microsoft.com/office/powerpoint/2010/main" val="600535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52744F-5CEC-46A0-A057-FBDD554968F9}"/>
              </a:ext>
            </a:extLst>
          </p:cNvPr>
          <p:cNvSpPr>
            <a:spLocks noGrp="1"/>
          </p:cNvSpPr>
          <p:nvPr>
            <p:ph type="title"/>
          </p:nvPr>
        </p:nvSpPr>
        <p:spPr/>
        <p:txBody>
          <a:bodyPr/>
          <a:lstStyle/>
          <a:p>
            <a:r>
              <a:rPr lang="es-ES" dirty="0"/>
              <a:t>Historia clínicas electrónicas</a:t>
            </a:r>
            <a:endParaRPr lang="es-US" dirty="0"/>
          </a:p>
        </p:txBody>
      </p:sp>
      <p:sp>
        <p:nvSpPr>
          <p:cNvPr id="8" name="AutoShape 2" descr="Historia Clínica - Clínica Propedéutica">
            <a:extLst>
              <a:ext uri="{FF2B5EF4-FFF2-40B4-BE49-F238E27FC236}">
                <a16:creationId xmlns:a16="http://schemas.microsoft.com/office/drawing/2014/main" id="{5EA9ACB6-88BC-4CDC-ACF9-7415F97054F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US"/>
          </a:p>
        </p:txBody>
      </p:sp>
      <p:sp>
        <p:nvSpPr>
          <p:cNvPr id="10" name="CuadroTexto 9">
            <a:extLst>
              <a:ext uri="{FF2B5EF4-FFF2-40B4-BE49-F238E27FC236}">
                <a16:creationId xmlns:a16="http://schemas.microsoft.com/office/drawing/2014/main" id="{10A0568F-7AA9-4F3A-9152-2689DD04C6AF}"/>
              </a:ext>
            </a:extLst>
          </p:cNvPr>
          <p:cNvSpPr txBox="1"/>
          <p:nvPr/>
        </p:nvSpPr>
        <p:spPr>
          <a:xfrm>
            <a:off x="680321" y="1464834"/>
            <a:ext cx="6096000" cy="369332"/>
          </a:xfrm>
          <a:prstGeom prst="rect">
            <a:avLst/>
          </a:prstGeom>
          <a:noFill/>
        </p:spPr>
        <p:txBody>
          <a:bodyPr wrap="square">
            <a:spAutoFit/>
          </a:bodyPr>
          <a:lstStyle/>
          <a:p>
            <a:r>
              <a:rPr lang="es-ES" dirty="0"/>
              <a:t>Las ventajas de las historias clínicas electrónicas:</a:t>
            </a:r>
            <a:endParaRPr lang="es-US" dirty="0"/>
          </a:p>
        </p:txBody>
      </p:sp>
      <p:sp>
        <p:nvSpPr>
          <p:cNvPr id="11" name="CuadroTexto 10">
            <a:extLst>
              <a:ext uri="{FF2B5EF4-FFF2-40B4-BE49-F238E27FC236}">
                <a16:creationId xmlns:a16="http://schemas.microsoft.com/office/drawing/2014/main" id="{50F85569-8BE8-4687-A984-95FD2728938D}"/>
              </a:ext>
            </a:extLst>
          </p:cNvPr>
          <p:cNvSpPr txBox="1"/>
          <p:nvPr/>
        </p:nvSpPr>
        <p:spPr>
          <a:xfrm>
            <a:off x="472682" y="2545772"/>
            <a:ext cx="11246636" cy="3816429"/>
          </a:xfrm>
          <a:prstGeom prst="rect">
            <a:avLst/>
          </a:prstGeom>
          <a:noFill/>
        </p:spPr>
        <p:txBody>
          <a:bodyPr wrap="square">
            <a:spAutoFit/>
          </a:bodyPr>
          <a:lstStyle/>
          <a:p>
            <a:pPr marL="342900" indent="-342900">
              <a:buFont typeface="+mj-lt"/>
              <a:buAutoNum type="arabicPeriod"/>
            </a:pPr>
            <a:r>
              <a:rPr lang="es-ES" sz="1600" dirty="0">
                <a:solidFill>
                  <a:schemeClr val="bg1"/>
                </a:solidFill>
                <a:effectLst>
                  <a:outerShdw blurRad="38100" dist="38100" dir="2700000" algn="tl">
                    <a:srgbClr val="000000">
                      <a:alpha val="43137"/>
                    </a:srgbClr>
                  </a:outerShdw>
                </a:effectLst>
              </a:rPr>
              <a:t>Los sistemas de historias electrónicas están diseñados para almacenar datos con precisión y capturar el estado de un paciente a lo largo del tiempo. </a:t>
            </a:r>
          </a:p>
          <a:p>
            <a:pPr marL="342900" indent="-342900">
              <a:buFont typeface="+mj-lt"/>
              <a:buAutoNum type="arabicPeriod"/>
            </a:pPr>
            <a:r>
              <a:rPr lang="es-ES" sz="1600" dirty="0">
                <a:solidFill>
                  <a:schemeClr val="bg1"/>
                </a:solidFill>
                <a:effectLst>
                  <a:outerShdw blurRad="38100" dist="38100" dir="2700000" algn="tl">
                    <a:srgbClr val="000000">
                      <a:alpha val="43137"/>
                    </a:srgbClr>
                  </a:outerShdw>
                </a:effectLst>
              </a:rPr>
              <a:t>Eliminan la necesidad de rastrear los registros médicos previos en papel de un paciente y ayuda a garantizar que los datos sean precisos y legibles. </a:t>
            </a:r>
          </a:p>
          <a:p>
            <a:pPr marL="342900" indent="-342900">
              <a:buFont typeface="+mj-lt"/>
              <a:buAutoNum type="arabicPeriod"/>
            </a:pPr>
            <a:r>
              <a:rPr lang="es-ES" sz="1600" dirty="0">
                <a:solidFill>
                  <a:schemeClr val="bg1"/>
                </a:solidFill>
                <a:effectLst>
                  <a:outerShdw blurRad="38100" dist="38100" dir="2700000" algn="tl">
                    <a:srgbClr val="000000">
                      <a:alpha val="43137"/>
                    </a:srgbClr>
                  </a:outerShdw>
                </a:effectLst>
              </a:rPr>
              <a:t>Reducen el riesgo de replicación de datos, es más probable que el archivo esté actualizado y disminuye el riesgo de pérdida de documentación. </a:t>
            </a:r>
          </a:p>
          <a:p>
            <a:pPr marL="342900" indent="-342900">
              <a:buFont typeface="+mj-lt"/>
              <a:buAutoNum type="arabicPeriod"/>
            </a:pPr>
            <a:r>
              <a:rPr lang="es-ES" sz="1600" dirty="0">
                <a:solidFill>
                  <a:schemeClr val="bg1"/>
                </a:solidFill>
                <a:effectLst>
                  <a:outerShdw blurRad="38100" dist="38100" dir="2700000" algn="tl">
                    <a:srgbClr val="000000">
                      <a:alpha val="43137"/>
                    </a:srgbClr>
                  </a:outerShdw>
                </a:effectLst>
              </a:rPr>
              <a:t>Son más efectivos al extraer datos médicos para examinar posibles tendencias y cambios a largo plazo en un paciente. </a:t>
            </a:r>
          </a:p>
          <a:p>
            <a:pPr marL="342900" indent="-342900">
              <a:buFont typeface="+mj-lt"/>
              <a:buAutoNum type="arabicPeriod"/>
            </a:pPr>
            <a:r>
              <a:rPr lang="es-ES" sz="1600" dirty="0">
                <a:solidFill>
                  <a:schemeClr val="bg1"/>
                </a:solidFill>
                <a:effectLst>
                  <a:outerShdw blurRad="38100" dist="38100" dir="2700000" algn="tl">
                    <a:srgbClr val="000000">
                      <a:alpha val="43137"/>
                    </a:srgbClr>
                  </a:outerShdw>
                </a:effectLst>
              </a:rPr>
              <a:t>Los estudios poblacionales de registros médicos también pueden facilitarse mediante su adopción generalizada.</a:t>
            </a:r>
          </a:p>
          <a:p>
            <a:pPr marL="342900" indent="-342900">
              <a:buFont typeface="+mj-lt"/>
              <a:buAutoNum type="arabicPeriod"/>
            </a:pPr>
            <a:r>
              <a:rPr lang="es-ES" sz="1600" dirty="0">
                <a:solidFill>
                  <a:schemeClr val="bg1"/>
                </a:solidFill>
                <a:effectLst>
                  <a:outerShdw blurRad="38100" dist="38100" dir="2700000" algn="tl">
                    <a:srgbClr val="000000">
                      <a:alpha val="43137"/>
                    </a:srgbClr>
                  </a:outerShdw>
                </a:effectLst>
              </a:rPr>
              <a:t>El formato digital permite que la información se use y se comparta a través de redes seguras. </a:t>
            </a:r>
          </a:p>
          <a:p>
            <a:pPr marL="342900" indent="-342900">
              <a:buFont typeface="+mj-lt"/>
              <a:buAutoNum type="arabicPeriod"/>
            </a:pPr>
            <a:r>
              <a:rPr lang="es-ES" sz="1600" dirty="0">
                <a:solidFill>
                  <a:schemeClr val="bg1"/>
                </a:solidFill>
                <a:effectLst>
                  <a:outerShdw blurRad="38100" dist="38100" dir="2700000" algn="tl">
                    <a:srgbClr val="000000">
                      <a:alpha val="43137"/>
                    </a:srgbClr>
                  </a:outerShdw>
                </a:effectLst>
              </a:rPr>
              <a:t>Permiten el seguimiento de la atención y resultados. </a:t>
            </a:r>
          </a:p>
          <a:p>
            <a:pPr marL="342900" indent="-342900">
              <a:buFont typeface="+mj-lt"/>
              <a:buAutoNum type="arabicPeriod"/>
            </a:pPr>
            <a:r>
              <a:rPr lang="es-ES" sz="1600" dirty="0">
                <a:solidFill>
                  <a:schemeClr val="bg1"/>
                </a:solidFill>
                <a:effectLst>
                  <a:outerShdw blurRad="38100" dist="38100" dir="2700000" algn="tl">
                    <a:srgbClr val="000000">
                      <a:alpha val="43137"/>
                    </a:srgbClr>
                  </a:outerShdw>
                </a:effectLst>
              </a:rPr>
              <a:t>Permiten activar advertencias y recordatorios. </a:t>
            </a:r>
          </a:p>
          <a:p>
            <a:pPr marL="342900" indent="-342900">
              <a:buFont typeface="+mj-lt"/>
              <a:buAutoNum type="arabicPeriod"/>
            </a:pPr>
            <a:r>
              <a:rPr lang="es-ES" sz="1600" dirty="0">
                <a:solidFill>
                  <a:schemeClr val="bg1"/>
                </a:solidFill>
                <a:effectLst>
                  <a:outerShdw blurRad="38100" dist="38100" dir="2700000" algn="tl">
                    <a:srgbClr val="000000">
                      <a:alpha val="43137"/>
                    </a:srgbClr>
                  </a:outerShdw>
                </a:effectLst>
              </a:rPr>
              <a:t>Permiten enviar y recibir pedidos, informes y resultados. </a:t>
            </a:r>
          </a:p>
          <a:p>
            <a:pPr marL="342900" indent="-342900">
              <a:buFont typeface="+mj-lt"/>
              <a:buAutoNum type="arabicPeriod"/>
            </a:pPr>
            <a:r>
              <a:rPr lang="es-ES" sz="1600" dirty="0">
                <a:solidFill>
                  <a:schemeClr val="bg1"/>
                </a:solidFill>
                <a:effectLst>
                  <a:outerShdw blurRad="38100" dist="38100" dir="2700000" algn="tl">
                    <a:srgbClr val="000000">
                      <a:alpha val="43137"/>
                    </a:srgbClr>
                  </a:outerShdw>
                </a:effectLst>
              </a:rPr>
              <a:t>Disminuyen el tiempo de procesamiento de facturación y crean un sistema de facturación más preciso </a:t>
            </a:r>
          </a:p>
          <a:p>
            <a:pPr marL="342900" indent="-342900">
              <a:buFont typeface="+mj-lt"/>
              <a:buAutoNum type="arabicPeriod"/>
            </a:pPr>
            <a:r>
              <a:rPr lang="es-ES" sz="1600" dirty="0">
                <a:solidFill>
                  <a:schemeClr val="bg1"/>
                </a:solidFill>
                <a:effectLst>
                  <a:outerShdw blurRad="38100" dist="38100" dir="2700000" algn="tl">
                    <a:srgbClr val="000000">
                      <a:alpha val="43137"/>
                    </a:srgbClr>
                  </a:outerShdw>
                </a:effectLst>
              </a:rPr>
              <a:t>Permiten que la información se mueva electrónicamente entre organizaciones</a:t>
            </a:r>
            <a:endParaRPr lang="es-US" sz="1600" dirty="0">
              <a:solidFill>
                <a:schemeClr val="bg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1514995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ECECD1-2D0E-4204-988D-08C620EF786D}"/>
              </a:ext>
            </a:extLst>
          </p:cNvPr>
          <p:cNvSpPr>
            <a:spLocks noGrp="1"/>
          </p:cNvSpPr>
          <p:nvPr>
            <p:ph type="title"/>
          </p:nvPr>
        </p:nvSpPr>
        <p:spPr/>
        <p:txBody>
          <a:bodyPr/>
          <a:lstStyle/>
          <a:p>
            <a:r>
              <a:rPr lang="es-ES" dirty="0"/>
              <a:t>Amenazas a las historias clínicas electrónicas</a:t>
            </a:r>
            <a:endParaRPr lang="es-US" dirty="0"/>
          </a:p>
        </p:txBody>
      </p:sp>
      <p:sp>
        <p:nvSpPr>
          <p:cNvPr id="6" name="CuadroTexto 5">
            <a:extLst>
              <a:ext uri="{FF2B5EF4-FFF2-40B4-BE49-F238E27FC236}">
                <a16:creationId xmlns:a16="http://schemas.microsoft.com/office/drawing/2014/main" id="{6E1262C8-40A1-4BDD-A70B-09C0EBF8E525}"/>
              </a:ext>
            </a:extLst>
          </p:cNvPr>
          <p:cNvSpPr txBox="1"/>
          <p:nvPr/>
        </p:nvSpPr>
        <p:spPr>
          <a:xfrm>
            <a:off x="442292" y="2507757"/>
            <a:ext cx="9851890" cy="707886"/>
          </a:xfrm>
          <a:prstGeom prst="rect">
            <a:avLst/>
          </a:prstGeom>
          <a:noFill/>
        </p:spPr>
        <p:txBody>
          <a:bodyPr wrap="square">
            <a:spAutoFit/>
          </a:bodyPr>
          <a:lstStyle/>
          <a:p>
            <a:r>
              <a:rPr lang="es-US" sz="2000" b="1" dirty="0">
                <a:solidFill>
                  <a:schemeClr val="bg1"/>
                </a:solidFill>
              </a:rPr>
              <a:t>Estas amenazas pueden ser internas, externas, intencionales y no intencionales. Las amenazas a la información sobre la atención médica se clasiﬁcar en:</a:t>
            </a:r>
          </a:p>
        </p:txBody>
      </p:sp>
      <p:sp>
        <p:nvSpPr>
          <p:cNvPr id="8" name="CuadroTexto 7">
            <a:extLst>
              <a:ext uri="{FF2B5EF4-FFF2-40B4-BE49-F238E27FC236}">
                <a16:creationId xmlns:a16="http://schemas.microsoft.com/office/drawing/2014/main" id="{F9BEEA79-B682-4DED-8180-ADDF98D3D232}"/>
              </a:ext>
            </a:extLst>
          </p:cNvPr>
          <p:cNvSpPr txBox="1"/>
          <p:nvPr/>
        </p:nvSpPr>
        <p:spPr>
          <a:xfrm>
            <a:off x="442292" y="3427569"/>
            <a:ext cx="8105360" cy="923330"/>
          </a:xfrm>
          <a:prstGeom prst="rect">
            <a:avLst/>
          </a:prstGeom>
          <a:noFill/>
        </p:spPr>
        <p:txBody>
          <a:bodyPr wrap="square">
            <a:spAutoFit/>
          </a:bodyPr>
          <a:lstStyle/>
          <a:p>
            <a:pPr marL="342900" indent="-342900">
              <a:buFont typeface="+mj-lt"/>
              <a:buAutoNum type="arabicPeriod"/>
            </a:pPr>
            <a:r>
              <a:rPr lang="es-US" dirty="0">
                <a:solidFill>
                  <a:schemeClr val="bg1"/>
                </a:solidFill>
              </a:rPr>
              <a:t>Amenazas humanas, como empleados o hackers. </a:t>
            </a:r>
          </a:p>
          <a:p>
            <a:pPr marL="342900" indent="-342900">
              <a:buFont typeface="+mj-lt"/>
              <a:buAutoNum type="arabicPeriod"/>
            </a:pPr>
            <a:r>
              <a:rPr lang="es-US" dirty="0">
                <a:solidFill>
                  <a:schemeClr val="bg1"/>
                </a:solidFill>
              </a:rPr>
              <a:t>Amenazas naturales y ambientales, como terremotos, incendios. </a:t>
            </a:r>
          </a:p>
          <a:p>
            <a:pPr marL="342900" indent="-342900">
              <a:buFont typeface="+mj-lt"/>
              <a:buAutoNum type="arabicPeriod"/>
            </a:pPr>
            <a:r>
              <a:rPr lang="es-US" dirty="0">
                <a:solidFill>
                  <a:schemeClr val="bg1"/>
                </a:solidFill>
              </a:rPr>
              <a:t>Fallos tecnológicos, como el bloqueo de un sistema</a:t>
            </a:r>
          </a:p>
        </p:txBody>
      </p:sp>
      <p:sp>
        <p:nvSpPr>
          <p:cNvPr id="10" name="CuadroTexto 9">
            <a:extLst>
              <a:ext uri="{FF2B5EF4-FFF2-40B4-BE49-F238E27FC236}">
                <a16:creationId xmlns:a16="http://schemas.microsoft.com/office/drawing/2014/main" id="{174E8D80-8AD8-48DD-B340-6FA14FC830F0}"/>
              </a:ext>
            </a:extLst>
          </p:cNvPr>
          <p:cNvSpPr txBox="1"/>
          <p:nvPr/>
        </p:nvSpPr>
        <p:spPr>
          <a:xfrm>
            <a:off x="553359" y="4904443"/>
            <a:ext cx="10801578" cy="923330"/>
          </a:xfrm>
          <a:prstGeom prst="rect">
            <a:avLst/>
          </a:prstGeom>
          <a:noFill/>
        </p:spPr>
        <p:txBody>
          <a:bodyPr wrap="square">
            <a:spAutoFit/>
          </a:bodyPr>
          <a:lstStyle/>
          <a:p>
            <a:r>
              <a:rPr lang="es-US" dirty="0">
                <a:solidFill>
                  <a:schemeClr val="bg1"/>
                </a:solidFill>
              </a:rPr>
              <a:t>Además, existe una falta de conciencia de seguridad entre los profesionales de la salud en muchos países. HIPAA ha desarrollado un marco para mitigar el daño de estas amenazas sin limitar las opciones de los profesionales de la salud que puedan tener acceso a diferentes tecnologías.</a:t>
            </a:r>
          </a:p>
        </p:txBody>
      </p:sp>
    </p:spTree>
    <p:extLst>
      <p:ext uri="{BB962C8B-B14F-4D97-AF65-F5344CB8AC3E}">
        <p14:creationId xmlns:p14="http://schemas.microsoft.com/office/powerpoint/2010/main" val="6353905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C51EFC-1347-45AA-BD40-6D8670A263AA}"/>
              </a:ext>
            </a:extLst>
          </p:cNvPr>
          <p:cNvSpPr>
            <a:spLocks noGrp="1"/>
          </p:cNvSpPr>
          <p:nvPr>
            <p:ph type="title"/>
          </p:nvPr>
        </p:nvSpPr>
        <p:spPr/>
        <p:txBody>
          <a:bodyPr/>
          <a:lstStyle/>
          <a:p>
            <a:r>
              <a:rPr lang="es-US" dirty="0"/>
              <a:t>Responsabilidad legal en historias clínicas electrónicas</a:t>
            </a:r>
          </a:p>
        </p:txBody>
      </p:sp>
      <p:sp>
        <p:nvSpPr>
          <p:cNvPr id="8" name="CuadroTexto 7">
            <a:extLst>
              <a:ext uri="{FF2B5EF4-FFF2-40B4-BE49-F238E27FC236}">
                <a16:creationId xmlns:a16="http://schemas.microsoft.com/office/drawing/2014/main" id="{42BCBF9E-2D6C-40C5-9E79-D13970DC88F3}"/>
              </a:ext>
            </a:extLst>
          </p:cNvPr>
          <p:cNvSpPr txBox="1"/>
          <p:nvPr/>
        </p:nvSpPr>
        <p:spPr>
          <a:xfrm>
            <a:off x="680320" y="2474879"/>
            <a:ext cx="10265183" cy="2585323"/>
          </a:xfrm>
          <a:prstGeom prst="rect">
            <a:avLst/>
          </a:prstGeom>
          <a:noFill/>
        </p:spPr>
        <p:txBody>
          <a:bodyPr wrap="square">
            <a:spAutoFit/>
          </a:bodyPr>
          <a:lstStyle/>
          <a:p>
            <a:r>
              <a:rPr lang="es-US" dirty="0">
                <a:solidFill>
                  <a:schemeClr val="bg1"/>
                </a:solidFill>
              </a:rPr>
              <a:t>Las fallas o daños  durante la instalación o utilización de un sistema son temidos como una amenaza en los juicios. Esta preocupación es de especial interés para los fabricantes, ya que algunas empresas pueden verse obligadas a abandonar el mercado en función de las leyes de responsabilidad. </a:t>
            </a:r>
          </a:p>
          <a:p>
            <a:endParaRPr lang="es-US" dirty="0">
              <a:solidFill>
                <a:schemeClr val="bg1"/>
              </a:solidFill>
            </a:endParaRPr>
          </a:p>
          <a:p>
            <a:r>
              <a:rPr lang="es-US" dirty="0">
                <a:solidFill>
                  <a:schemeClr val="bg1"/>
                </a:solidFill>
              </a:rPr>
              <a:t>Además, si bien no hay argumento de que la documentación electrónica de las visitas y los datos de los pacientes brinde una mejor atención al paciente, existe una creciente preocupación de que dicha documentación pueda abrir a los médicos a una mayor incidencia de demandas por negligencia. </a:t>
            </a:r>
          </a:p>
        </p:txBody>
      </p:sp>
    </p:spTree>
    <p:extLst>
      <p:ext uri="{BB962C8B-B14F-4D97-AF65-F5344CB8AC3E}">
        <p14:creationId xmlns:p14="http://schemas.microsoft.com/office/powerpoint/2010/main" val="1898747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6765F5-2134-45AB-BF52-AE2162B97B73}"/>
              </a:ext>
            </a:extLst>
          </p:cNvPr>
          <p:cNvSpPr>
            <a:spLocks noGrp="1"/>
          </p:cNvSpPr>
          <p:nvPr>
            <p:ph type="title"/>
          </p:nvPr>
        </p:nvSpPr>
        <p:spPr/>
        <p:txBody>
          <a:bodyPr/>
          <a:lstStyle/>
          <a:p>
            <a:r>
              <a:rPr lang="es-US" dirty="0"/>
              <a:t>Ejemplos de historias clínicas electrónicas</a:t>
            </a:r>
          </a:p>
        </p:txBody>
      </p:sp>
      <p:sp>
        <p:nvSpPr>
          <p:cNvPr id="5" name="CuadroTexto 4">
            <a:extLst>
              <a:ext uri="{FF2B5EF4-FFF2-40B4-BE49-F238E27FC236}">
                <a16:creationId xmlns:a16="http://schemas.microsoft.com/office/drawing/2014/main" id="{B7F39ECD-924F-466A-8CC5-1559AEED0983}"/>
              </a:ext>
            </a:extLst>
          </p:cNvPr>
          <p:cNvSpPr txBox="1"/>
          <p:nvPr/>
        </p:nvSpPr>
        <p:spPr>
          <a:xfrm>
            <a:off x="504966" y="2287793"/>
            <a:ext cx="10413241" cy="646331"/>
          </a:xfrm>
          <a:prstGeom prst="rect">
            <a:avLst/>
          </a:prstGeom>
          <a:noFill/>
        </p:spPr>
        <p:txBody>
          <a:bodyPr wrap="square" rtlCol="0">
            <a:spAutoFit/>
          </a:bodyPr>
          <a:lstStyle/>
          <a:p>
            <a:pPr algn="l" fontAlgn="base"/>
            <a:r>
              <a:rPr lang="es-ES" b="1" dirty="0">
                <a:solidFill>
                  <a:schemeClr val="bg1"/>
                </a:solidFill>
                <a:latin typeface="+mj-lt"/>
              </a:rPr>
              <a:t>Clinic Cloud : </a:t>
            </a:r>
            <a:r>
              <a:rPr lang="es-US" sz="1600" i="0" dirty="0">
                <a:solidFill>
                  <a:srgbClr val="444444"/>
                </a:solidFill>
                <a:effectLst/>
                <a:latin typeface="+mj-lt"/>
              </a:rPr>
              <a:t>Software médico para gestión de clínicas, Programa historias clínicas en la nube</a:t>
            </a:r>
          </a:p>
          <a:p>
            <a:endParaRPr lang="es-US" dirty="0">
              <a:solidFill>
                <a:schemeClr val="bg1"/>
              </a:solidFill>
            </a:endParaRPr>
          </a:p>
        </p:txBody>
      </p:sp>
      <p:sp>
        <p:nvSpPr>
          <p:cNvPr id="9" name="CuadroTexto 8">
            <a:extLst>
              <a:ext uri="{FF2B5EF4-FFF2-40B4-BE49-F238E27FC236}">
                <a16:creationId xmlns:a16="http://schemas.microsoft.com/office/drawing/2014/main" id="{99FDB3FC-3BE0-45B1-9076-AAD552F7C03C}"/>
              </a:ext>
            </a:extLst>
          </p:cNvPr>
          <p:cNvSpPr txBox="1"/>
          <p:nvPr/>
        </p:nvSpPr>
        <p:spPr>
          <a:xfrm>
            <a:off x="504966" y="2762599"/>
            <a:ext cx="9921922" cy="1077218"/>
          </a:xfrm>
          <a:prstGeom prst="rect">
            <a:avLst/>
          </a:prstGeom>
          <a:noFill/>
        </p:spPr>
        <p:txBody>
          <a:bodyPr wrap="square">
            <a:spAutoFit/>
          </a:bodyPr>
          <a:lstStyle/>
          <a:p>
            <a:pPr algn="just"/>
            <a:r>
              <a:rPr lang="es-ES" sz="1600" b="1" i="0" strike="noStrike" dirty="0">
                <a:solidFill>
                  <a:schemeClr val="bg1"/>
                </a:solidFill>
                <a:effectLst/>
                <a:latin typeface="+mj-lt"/>
                <a:hlinkClick r:id="rId2" tooltip="Programa FreeMed para clínicas y hospitales">
                  <a:extLst>
                    <a:ext uri="{A12FA001-AC4F-418D-AE19-62706E023703}">
                      <ahyp:hlinkClr xmlns:ahyp="http://schemas.microsoft.com/office/drawing/2018/hyperlinkcolor" val="tx"/>
                    </a:ext>
                  </a:extLst>
                </a:hlinkClick>
              </a:rPr>
              <a:t>FreeMED</a:t>
            </a:r>
            <a:r>
              <a:rPr lang="es-ES" sz="1600" b="0" i="0" dirty="0">
                <a:solidFill>
                  <a:schemeClr val="bg1"/>
                </a:solidFill>
                <a:effectLst/>
                <a:latin typeface="+mj-lt"/>
              </a:rPr>
              <a:t> es un programa de historia clínica electrónica HCE o ECE desarrollado por FreeMED Software </a:t>
            </a:r>
            <a:r>
              <a:rPr lang="es-ES" sz="1600" b="0" i="0" dirty="0" err="1">
                <a:solidFill>
                  <a:schemeClr val="bg1"/>
                </a:solidFill>
                <a:effectLst/>
                <a:latin typeface="+mj-lt"/>
              </a:rPr>
              <a:t>Foundation</a:t>
            </a:r>
            <a:r>
              <a:rPr lang="es-ES" sz="1600" b="0" i="0" dirty="0">
                <a:solidFill>
                  <a:schemeClr val="bg1"/>
                </a:solidFill>
                <a:effectLst/>
                <a:latin typeface="+mj-lt"/>
              </a:rPr>
              <a:t> en 1999, implantado en más de 80.000 centros clínico hospitalarios públicos y privadas de todo el mundo. Cuenta un una gran comunidad de desarrolladores y apoyo técnico pero se ha detenido su evolución desde el año 2012.</a:t>
            </a:r>
          </a:p>
        </p:txBody>
      </p:sp>
      <p:sp>
        <p:nvSpPr>
          <p:cNvPr id="11" name="CuadroTexto 10">
            <a:extLst>
              <a:ext uri="{FF2B5EF4-FFF2-40B4-BE49-F238E27FC236}">
                <a16:creationId xmlns:a16="http://schemas.microsoft.com/office/drawing/2014/main" id="{27EAA287-F5DB-4E07-A14A-B9A646A52CA3}"/>
              </a:ext>
            </a:extLst>
          </p:cNvPr>
          <p:cNvSpPr txBox="1"/>
          <p:nvPr/>
        </p:nvSpPr>
        <p:spPr>
          <a:xfrm>
            <a:off x="504965" y="4042669"/>
            <a:ext cx="10413241" cy="2062103"/>
          </a:xfrm>
          <a:prstGeom prst="rect">
            <a:avLst/>
          </a:prstGeom>
          <a:noFill/>
        </p:spPr>
        <p:txBody>
          <a:bodyPr wrap="square">
            <a:spAutoFit/>
          </a:bodyPr>
          <a:lstStyle/>
          <a:p>
            <a:r>
              <a:rPr lang="es-US" sz="1600" b="1" i="0" u="sng" dirty="0">
                <a:solidFill>
                  <a:schemeClr val="bg1"/>
                </a:solidFill>
                <a:effectLst/>
                <a:latin typeface="+mj-lt"/>
                <a:hlinkClick r:id="rId3" tooltip="Software para historia clínica electrónica ">
                  <a:extLst>
                    <a:ext uri="{A12FA001-AC4F-418D-AE19-62706E023703}">
                      <ahyp:hlinkClr xmlns:ahyp="http://schemas.microsoft.com/office/drawing/2018/hyperlinkcolor" val="tx"/>
                    </a:ext>
                  </a:extLst>
                </a:hlinkClick>
              </a:rPr>
              <a:t>NOSH</a:t>
            </a:r>
            <a:r>
              <a:rPr lang="es-US" sz="1600" b="0" i="0" dirty="0">
                <a:solidFill>
                  <a:schemeClr val="bg1"/>
                </a:solidFill>
                <a:effectLst/>
                <a:latin typeface="+mj-lt"/>
              </a:rPr>
              <a:t> (New Open </a:t>
            </a:r>
            <a:r>
              <a:rPr lang="es-US" sz="1600" b="0" i="0" dirty="0" err="1">
                <a:solidFill>
                  <a:schemeClr val="bg1"/>
                </a:solidFill>
                <a:effectLst/>
                <a:latin typeface="+mj-lt"/>
              </a:rPr>
              <a:t>Source</a:t>
            </a:r>
            <a:r>
              <a:rPr lang="es-US" sz="1600" b="0" i="0" dirty="0">
                <a:solidFill>
                  <a:schemeClr val="bg1"/>
                </a:solidFill>
                <a:effectLst/>
                <a:latin typeface="+mj-lt"/>
              </a:rPr>
              <a:t> </a:t>
            </a:r>
            <a:r>
              <a:rPr lang="es-US" sz="1600" b="0" i="0" dirty="0" err="1">
                <a:solidFill>
                  <a:schemeClr val="bg1"/>
                </a:solidFill>
                <a:effectLst/>
                <a:latin typeface="+mj-lt"/>
              </a:rPr>
              <a:t>Charting</a:t>
            </a:r>
            <a:r>
              <a:rPr lang="es-US" sz="1600" b="0" i="0" dirty="0">
                <a:solidFill>
                  <a:schemeClr val="bg1"/>
                </a:solidFill>
                <a:effectLst/>
                <a:latin typeface="+mj-lt"/>
              </a:rPr>
              <a:t> </a:t>
            </a:r>
            <a:r>
              <a:rPr lang="es-US" sz="1600" b="0" i="0" dirty="0" err="1">
                <a:solidFill>
                  <a:schemeClr val="bg1"/>
                </a:solidFill>
                <a:effectLst/>
                <a:latin typeface="+mj-lt"/>
              </a:rPr>
              <a:t>System</a:t>
            </a:r>
            <a:r>
              <a:rPr lang="es-US" sz="1600" b="0" i="0" dirty="0">
                <a:solidFill>
                  <a:schemeClr val="bg1"/>
                </a:solidFill>
                <a:effectLst/>
                <a:latin typeface="+mj-lt"/>
              </a:rPr>
              <a:t>) es una Historia Clínica Digital o Electronic Medical </a:t>
            </a:r>
            <a:r>
              <a:rPr lang="es-US" sz="1600" b="0" i="0" dirty="0" err="1">
                <a:solidFill>
                  <a:schemeClr val="bg1"/>
                </a:solidFill>
                <a:effectLst/>
                <a:latin typeface="+mj-lt"/>
              </a:rPr>
              <a:t>Records</a:t>
            </a:r>
            <a:r>
              <a:rPr lang="es-US" sz="1600" b="0" i="0" dirty="0">
                <a:solidFill>
                  <a:schemeClr val="bg1"/>
                </a:solidFill>
                <a:effectLst/>
                <a:latin typeface="+mj-lt"/>
              </a:rPr>
              <a:t> (EMR) de código abierto diseñado para clínicas ambulatorias diseñado y desarrollado por un médico de familia.</a:t>
            </a:r>
          </a:p>
          <a:p>
            <a:endParaRPr lang="es-US" sz="1600" dirty="0">
              <a:solidFill>
                <a:schemeClr val="bg1"/>
              </a:solidFill>
              <a:latin typeface="louis_george_caferegular"/>
            </a:endParaRPr>
          </a:p>
          <a:p>
            <a:r>
              <a:rPr lang="es-ES" sz="1600" b="1" i="0" u="sng" dirty="0" err="1">
                <a:solidFill>
                  <a:schemeClr val="bg1"/>
                </a:solidFill>
                <a:effectLst/>
                <a:latin typeface="+mj-lt"/>
                <a:hlinkClick r:id="rId4" tooltip="OpenEMR software libre para hospital y clínica">
                  <a:extLst>
                    <a:ext uri="{A12FA001-AC4F-418D-AE19-62706E023703}">
                      <ahyp:hlinkClr xmlns:ahyp="http://schemas.microsoft.com/office/drawing/2018/hyperlinkcolor" val="tx"/>
                    </a:ext>
                  </a:extLst>
                </a:hlinkClick>
              </a:rPr>
              <a:t>OpenEMR</a:t>
            </a:r>
            <a:r>
              <a:rPr lang="es-ES" sz="1600" b="0" i="0" dirty="0">
                <a:solidFill>
                  <a:schemeClr val="bg1"/>
                </a:solidFill>
                <a:effectLst/>
                <a:latin typeface="+mj-lt"/>
              </a:rPr>
              <a:t> es un programa Historia Clínica Digital de fuente abierta, totalmente basado en la web que cuenta con la certificación 2014 de EHR Ambulatorio Completo de la Oficina de Coordinación Nacional para la Tecnología de la Información de Salud de Estados Unidos (Office </a:t>
            </a:r>
            <a:r>
              <a:rPr lang="es-ES" sz="1600" b="0" i="0" dirty="0" err="1">
                <a:solidFill>
                  <a:schemeClr val="bg1"/>
                </a:solidFill>
                <a:effectLst/>
                <a:latin typeface="+mj-lt"/>
              </a:rPr>
              <a:t>of</a:t>
            </a:r>
            <a:r>
              <a:rPr lang="es-ES" sz="1600" b="0" i="0" dirty="0">
                <a:solidFill>
                  <a:schemeClr val="bg1"/>
                </a:solidFill>
                <a:effectLst/>
                <a:latin typeface="+mj-lt"/>
              </a:rPr>
              <a:t> </a:t>
            </a:r>
            <a:r>
              <a:rPr lang="es-ES" sz="1600" b="0" i="0" dirty="0" err="1">
                <a:solidFill>
                  <a:schemeClr val="bg1"/>
                </a:solidFill>
                <a:effectLst/>
                <a:latin typeface="+mj-lt"/>
              </a:rPr>
              <a:t>the</a:t>
            </a:r>
            <a:r>
              <a:rPr lang="es-ES" sz="1600" b="0" i="0" dirty="0">
                <a:solidFill>
                  <a:schemeClr val="bg1"/>
                </a:solidFill>
                <a:effectLst/>
                <a:latin typeface="+mj-lt"/>
              </a:rPr>
              <a:t> </a:t>
            </a:r>
            <a:r>
              <a:rPr lang="es-ES" sz="1600" b="0" i="0" dirty="0" err="1">
                <a:solidFill>
                  <a:schemeClr val="bg1"/>
                </a:solidFill>
                <a:effectLst/>
                <a:latin typeface="+mj-lt"/>
              </a:rPr>
              <a:t>National</a:t>
            </a:r>
            <a:r>
              <a:rPr lang="es-ES" sz="1600" b="0" i="0" dirty="0">
                <a:solidFill>
                  <a:schemeClr val="bg1"/>
                </a:solidFill>
                <a:effectLst/>
                <a:latin typeface="+mj-lt"/>
              </a:rPr>
              <a:t> </a:t>
            </a:r>
            <a:r>
              <a:rPr lang="es-ES" sz="1600" b="0" i="0" dirty="0" err="1">
                <a:solidFill>
                  <a:schemeClr val="bg1"/>
                </a:solidFill>
                <a:effectLst/>
                <a:latin typeface="+mj-lt"/>
              </a:rPr>
              <a:t>Coordinator</a:t>
            </a:r>
            <a:r>
              <a:rPr lang="es-ES" sz="1600" b="0" i="0" dirty="0">
                <a:solidFill>
                  <a:schemeClr val="bg1"/>
                </a:solidFill>
                <a:effectLst/>
                <a:latin typeface="+mj-lt"/>
              </a:rPr>
              <a:t> </a:t>
            </a:r>
            <a:r>
              <a:rPr lang="es-ES" sz="1600" b="0" i="0" dirty="0" err="1">
                <a:solidFill>
                  <a:schemeClr val="bg1"/>
                </a:solidFill>
                <a:effectLst/>
                <a:latin typeface="+mj-lt"/>
              </a:rPr>
              <a:t>for</a:t>
            </a:r>
            <a:r>
              <a:rPr lang="es-ES" sz="1600" b="0" i="0" dirty="0">
                <a:solidFill>
                  <a:schemeClr val="bg1"/>
                </a:solidFill>
                <a:effectLst/>
                <a:latin typeface="+mj-lt"/>
              </a:rPr>
              <a:t> </a:t>
            </a:r>
            <a:r>
              <a:rPr lang="es-ES" sz="1600" b="0" i="0" dirty="0" err="1">
                <a:solidFill>
                  <a:schemeClr val="bg1"/>
                </a:solidFill>
                <a:effectLst/>
                <a:latin typeface="+mj-lt"/>
              </a:rPr>
              <a:t>Health</a:t>
            </a:r>
            <a:r>
              <a:rPr lang="es-ES" sz="1600" b="0" i="0" dirty="0">
                <a:solidFill>
                  <a:schemeClr val="bg1"/>
                </a:solidFill>
                <a:effectLst/>
                <a:latin typeface="+mj-lt"/>
              </a:rPr>
              <a:t> </a:t>
            </a:r>
            <a:r>
              <a:rPr lang="es-ES" sz="1600" b="0" i="0" dirty="0" err="1">
                <a:solidFill>
                  <a:schemeClr val="bg1"/>
                </a:solidFill>
                <a:effectLst/>
                <a:latin typeface="+mj-lt"/>
              </a:rPr>
              <a:t>Information</a:t>
            </a:r>
            <a:r>
              <a:rPr lang="es-ES" sz="1600" b="0" i="0" dirty="0">
                <a:solidFill>
                  <a:schemeClr val="bg1"/>
                </a:solidFill>
                <a:effectLst/>
                <a:latin typeface="+mj-lt"/>
              </a:rPr>
              <a:t> </a:t>
            </a:r>
            <a:r>
              <a:rPr lang="es-ES" sz="1600" b="0" i="0" dirty="0" err="1">
                <a:solidFill>
                  <a:schemeClr val="bg1"/>
                </a:solidFill>
                <a:effectLst/>
                <a:latin typeface="+mj-lt"/>
              </a:rPr>
              <a:t>Technology</a:t>
            </a:r>
            <a:r>
              <a:rPr lang="es-ES" sz="1600" b="0" i="0" dirty="0">
                <a:solidFill>
                  <a:schemeClr val="bg1"/>
                </a:solidFill>
                <a:effectLst/>
                <a:latin typeface="+mj-lt"/>
              </a:rPr>
              <a:t> ONC). Ofrece Prescripción médica electrónica, programación de pacientes para múltiples instalaciones, recordatorios de citas de pacientes por correo electrónico y SMS.</a:t>
            </a:r>
            <a:endParaRPr lang="es-US" sz="1600" dirty="0">
              <a:solidFill>
                <a:schemeClr val="bg1"/>
              </a:solidFill>
              <a:latin typeface="+mj-lt"/>
            </a:endParaRPr>
          </a:p>
        </p:txBody>
      </p:sp>
    </p:spTree>
    <p:extLst>
      <p:ext uri="{BB962C8B-B14F-4D97-AF65-F5344CB8AC3E}">
        <p14:creationId xmlns:p14="http://schemas.microsoft.com/office/powerpoint/2010/main" val="38333148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6765F5-2134-45AB-BF52-AE2162B97B73}"/>
              </a:ext>
            </a:extLst>
          </p:cNvPr>
          <p:cNvSpPr>
            <a:spLocks noGrp="1"/>
          </p:cNvSpPr>
          <p:nvPr>
            <p:ph type="title"/>
          </p:nvPr>
        </p:nvSpPr>
        <p:spPr/>
        <p:txBody>
          <a:bodyPr/>
          <a:lstStyle/>
          <a:p>
            <a:r>
              <a:rPr lang="es-US" dirty="0"/>
              <a:t>Ejemplos de historias clínicas electrónicas</a:t>
            </a:r>
          </a:p>
        </p:txBody>
      </p:sp>
      <p:sp>
        <p:nvSpPr>
          <p:cNvPr id="7" name="CuadroTexto 6">
            <a:extLst>
              <a:ext uri="{FF2B5EF4-FFF2-40B4-BE49-F238E27FC236}">
                <a16:creationId xmlns:a16="http://schemas.microsoft.com/office/drawing/2014/main" id="{092DEF20-D7E6-4876-9A1B-BBC7B2AC14BF}"/>
              </a:ext>
            </a:extLst>
          </p:cNvPr>
          <p:cNvSpPr txBox="1"/>
          <p:nvPr/>
        </p:nvSpPr>
        <p:spPr>
          <a:xfrm>
            <a:off x="358255" y="2297964"/>
            <a:ext cx="11242341" cy="4370427"/>
          </a:xfrm>
          <a:prstGeom prst="rect">
            <a:avLst/>
          </a:prstGeom>
          <a:noFill/>
        </p:spPr>
        <p:txBody>
          <a:bodyPr wrap="square">
            <a:spAutoFit/>
          </a:bodyPr>
          <a:lstStyle/>
          <a:p>
            <a:r>
              <a:rPr lang="es-ES" sz="1600" b="0" i="0" dirty="0">
                <a:solidFill>
                  <a:schemeClr val="bg1"/>
                </a:solidFill>
                <a:effectLst/>
                <a:latin typeface="+mj-lt"/>
              </a:rPr>
              <a:t>El sistema de </a:t>
            </a:r>
            <a:r>
              <a:rPr lang="es-ES" sz="1600" b="1" i="0" dirty="0">
                <a:solidFill>
                  <a:schemeClr val="bg1"/>
                </a:solidFill>
                <a:effectLst/>
                <a:latin typeface="+mj-lt"/>
              </a:rPr>
              <a:t>administración clínicas  </a:t>
            </a:r>
            <a:r>
              <a:rPr lang="es-ES" sz="1600" b="1" i="0" u="none" strike="noStrike" dirty="0" err="1">
                <a:solidFill>
                  <a:schemeClr val="bg1"/>
                </a:solidFill>
                <a:effectLst/>
                <a:latin typeface="+mj-lt"/>
                <a:hlinkClick r:id="rId2" tooltip="Software Solismed para historia clínica electrónica ">
                  <a:extLst>
                    <a:ext uri="{A12FA001-AC4F-418D-AE19-62706E023703}">
                      <ahyp:hlinkClr xmlns:ahyp="http://schemas.microsoft.com/office/drawing/2018/hyperlinkcolor" val="tx"/>
                    </a:ext>
                  </a:extLst>
                </a:hlinkClick>
              </a:rPr>
              <a:t>Solismed</a:t>
            </a:r>
            <a:r>
              <a:rPr lang="es-ES" sz="1600" b="0" i="0" dirty="0">
                <a:solidFill>
                  <a:schemeClr val="bg1"/>
                </a:solidFill>
                <a:effectLst/>
                <a:latin typeface="+mj-lt"/>
              </a:rPr>
              <a:t> es un </a:t>
            </a:r>
            <a:r>
              <a:rPr lang="es-ES" sz="1600" b="1" i="0" dirty="0">
                <a:solidFill>
                  <a:schemeClr val="bg1"/>
                </a:solidFill>
                <a:effectLst/>
                <a:latin typeface="+mj-lt"/>
              </a:rPr>
              <a:t>EMR</a:t>
            </a:r>
            <a:r>
              <a:rPr lang="es-ES" sz="1600" b="0" i="0" dirty="0">
                <a:solidFill>
                  <a:schemeClr val="bg1"/>
                </a:solidFill>
                <a:effectLst/>
                <a:latin typeface="+mj-lt"/>
              </a:rPr>
              <a:t> de </a:t>
            </a:r>
            <a:r>
              <a:rPr lang="es-ES" sz="1600" b="1" i="0" dirty="0">
                <a:solidFill>
                  <a:schemeClr val="bg1"/>
                </a:solidFill>
                <a:effectLst/>
                <a:latin typeface="+mj-lt"/>
              </a:rPr>
              <a:t>código abierto</a:t>
            </a:r>
            <a:r>
              <a:rPr lang="es-ES" sz="1600" b="0" i="0" dirty="0">
                <a:solidFill>
                  <a:schemeClr val="bg1"/>
                </a:solidFill>
                <a:effectLst/>
                <a:latin typeface="+mj-lt"/>
              </a:rPr>
              <a:t> que presenta una serie de funciones de inteligencia artificial y convencional para administrar operaciones de </a:t>
            </a:r>
            <a:r>
              <a:rPr lang="es-ES" sz="1600" b="1" i="0" dirty="0">
                <a:solidFill>
                  <a:schemeClr val="bg1"/>
                </a:solidFill>
                <a:effectLst/>
                <a:latin typeface="+mj-lt"/>
              </a:rPr>
              <a:t>hospitales</a:t>
            </a:r>
            <a:r>
              <a:rPr lang="es-ES" sz="1600" b="0" i="0" dirty="0">
                <a:solidFill>
                  <a:schemeClr val="bg1"/>
                </a:solidFill>
                <a:effectLst/>
                <a:latin typeface="+mj-lt"/>
              </a:rPr>
              <a:t>, </a:t>
            </a:r>
            <a:r>
              <a:rPr lang="es-ES" sz="1600" b="1" i="0" dirty="0">
                <a:solidFill>
                  <a:schemeClr val="bg1"/>
                </a:solidFill>
                <a:effectLst/>
                <a:latin typeface="+mj-lt"/>
              </a:rPr>
              <a:t>clínicas</a:t>
            </a:r>
            <a:r>
              <a:rPr lang="es-ES" sz="1600" b="0" i="0" dirty="0">
                <a:solidFill>
                  <a:schemeClr val="bg1"/>
                </a:solidFill>
                <a:effectLst/>
                <a:latin typeface="+mj-lt"/>
              </a:rPr>
              <a:t>, </a:t>
            </a:r>
            <a:r>
              <a:rPr lang="es-ES" sz="1600" b="1" i="0" dirty="0">
                <a:solidFill>
                  <a:schemeClr val="bg1"/>
                </a:solidFill>
                <a:effectLst/>
                <a:latin typeface="+mj-lt"/>
              </a:rPr>
              <a:t>sanatorios</a:t>
            </a:r>
            <a:r>
              <a:rPr lang="es-ES" sz="1600" b="0" i="0" dirty="0">
                <a:solidFill>
                  <a:schemeClr val="bg1"/>
                </a:solidFill>
                <a:effectLst/>
                <a:latin typeface="+mj-lt"/>
              </a:rPr>
              <a:t> y </a:t>
            </a:r>
            <a:r>
              <a:rPr lang="es-ES" sz="1600" b="1" i="0" dirty="0">
                <a:solidFill>
                  <a:schemeClr val="bg1"/>
                </a:solidFill>
                <a:effectLst/>
                <a:latin typeface="+mj-lt"/>
              </a:rPr>
              <a:t>centros de salud</a:t>
            </a:r>
            <a:r>
              <a:rPr lang="es-ES" sz="1600" b="0" i="0" dirty="0">
                <a:solidFill>
                  <a:schemeClr val="bg1"/>
                </a:solidFill>
                <a:effectLst/>
                <a:latin typeface="+mj-lt"/>
              </a:rPr>
              <a:t>.</a:t>
            </a:r>
          </a:p>
          <a:p>
            <a:endParaRPr lang="es-ES" b="0" i="0" dirty="0">
              <a:solidFill>
                <a:schemeClr val="bg1"/>
              </a:solidFill>
              <a:effectLst/>
              <a:latin typeface="+mj-lt"/>
            </a:endParaRPr>
          </a:p>
          <a:p>
            <a:r>
              <a:rPr lang="es-ES" sz="1600" b="1" i="0" u="sng" dirty="0" err="1">
                <a:solidFill>
                  <a:schemeClr val="bg1"/>
                </a:solidFill>
                <a:effectLst/>
                <a:latin typeface="+mj-lt"/>
                <a:hlinkClick r:id="rId3" tooltip="software libre para gestión hospitalaria SmarteCare de ERPNext">
                  <a:extLst>
                    <a:ext uri="{A12FA001-AC4F-418D-AE19-62706E023703}">
                      <ahyp:hlinkClr xmlns:ahyp="http://schemas.microsoft.com/office/drawing/2018/hyperlinkcolor" val="tx"/>
                    </a:ext>
                  </a:extLst>
                </a:hlinkClick>
              </a:rPr>
              <a:t>smarteCare</a:t>
            </a:r>
            <a:r>
              <a:rPr lang="es-ES" sz="1600" b="0" i="0" dirty="0">
                <a:solidFill>
                  <a:schemeClr val="bg1"/>
                </a:solidFill>
                <a:effectLst/>
                <a:latin typeface="+mj-lt"/>
              </a:rPr>
              <a:t> es un </a:t>
            </a:r>
            <a:r>
              <a:rPr lang="es-ES" sz="1600" b="1" i="0" dirty="0">
                <a:solidFill>
                  <a:schemeClr val="bg1"/>
                </a:solidFill>
                <a:effectLst/>
                <a:latin typeface="+mj-lt"/>
              </a:rPr>
              <a:t>software</a:t>
            </a:r>
            <a:r>
              <a:rPr lang="es-ES" sz="1600" b="0" i="0" dirty="0">
                <a:solidFill>
                  <a:schemeClr val="bg1"/>
                </a:solidFill>
                <a:effectLst/>
                <a:latin typeface="+mj-lt"/>
              </a:rPr>
              <a:t> especializado en gestión de práctica médica y </a:t>
            </a:r>
            <a:r>
              <a:rPr lang="es-ES" sz="1600" b="1" i="0" dirty="0">
                <a:solidFill>
                  <a:schemeClr val="bg1"/>
                </a:solidFill>
                <a:effectLst/>
                <a:latin typeface="+mj-lt"/>
              </a:rPr>
              <a:t>administración</a:t>
            </a:r>
            <a:r>
              <a:rPr lang="es-ES" sz="1600" b="0" i="0" dirty="0">
                <a:solidFill>
                  <a:schemeClr val="bg1"/>
                </a:solidFill>
                <a:effectLst/>
                <a:latin typeface="+mj-lt"/>
              </a:rPr>
              <a:t> de </a:t>
            </a:r>
            <a:r>
              <a:rPr lang="es-ES" sz="1600" b="1" i="0" dirty="0">
                <a:solidFill>
                  <a:schemeClr val="bg1"/>
                </a:solidFill>
                <a:effectLst/>
                <a:latin typeface="+mj-lt"/>
              </a:rPr>
              <a:t>clínicas</a:t>
            </a:r>
            <a:r>
              <a:rPr lang="es-ES" sz="1600" b="0" i="0" dirty="0">
                <a:solidFill>
                  <a:schemeClr val="bg1"/>
                </a:solidFill>
                <a:effectLst/>
                <a:latin typeface="+mj-lt"/>
              </a:rPr>
              <a:t>, </a:t>
            </a:r>
            <a:r>
              <a:rPr lang="es-ES" sz="1600" b="1" i="0" dirty="0">
                <a:solidFill>
                  <a:schemeClr val="bg1"/>
                </a:solidFill>
                <a:effectLst/>
                <a:latin typeface="+mj-lt"/>
              </a:rPr>
              <a:t>policlínicos</a:t>
            </a:r>
            <a:r>
              <a:rPr lang="es-ES" sz="1600" b="0" i="0" dirty="0">
                <a:solidFill>
                  <a:schemeClr val="bg1"/>
                </a:solidFill>
                <a:effectLst/>
                <a:latin typeface="+mj-lt"/>
              </a:rPr>
              <a:t>, </a:t>
            </a:r>
            <a:r>
              <a:rPr lang="es-ES" sz="1600" b="1" i="0" dirty="0">
                <a:solidFill>
                  <a:schemeClr val="bg1"/>
                </a:solidFill>
                <a:effectLst/>
                <a:latin typeface="+mj-lt"/>
              </a:rPr>
              <a:t>hospitales</a:t>
            </a:r>
            <a:r>
              <a:rPr lang="es-ES" sz="1600" b="0" i="0" dirty="0">
                <a:solidFill>
                  <a:schemeClr val="bg1"/>
                </a:solidFill>
                <a:effectLst/>
                <a:latin typeface="+mj-lt"/>
              </a:rPr>
              <a:t>, </a:t>
            </a:r>
            <a:r>
              <a:rPr lang="es-ES" sz="1600" b="1" i="0" dirty="0">
                <a:solidFill>
                  <a:schemeClr val="bg1"/>
                </a:solidFill>
                <a:effectLst/>
                <a:latin typeface="+mj-lt"/>
              </a:rPr>
              <a:t>sanatorios</a:t>
            </a:r>
            <a:r>
              <a:rPr lang="es-ES" sz="1600" b="0" i="0" dirty="0">
                <a:solidFill>
                  <a:schemeClr val="bg1"/>
                </a:solidFill>
                <a:effectLst/>
                <a:latin typeface="+mj-lt"/>
              </a:rPr>
              <a:t> y </a:t>
            </a:r>
            <a:r>
              <a:rPr lang="es-ES" sz="1600" b="1" i="0" dirty="0">
                <a:solidFill>
                  <a:schemeClr val="bg1"/>
                </a:solidFill>
                <a:effectLst/>
                <a:latin typeface="+mj-lt"/>
              </a:rPr>
              <a:t>laboratorios</a:t>
            </a:r>
            <a:r>
              <a:rPr lang="es-ES" sz="1600" b="0" i="0" dirty="0">
                <a:solidFill>
                  <a:schemeClr val="bg1"/>
                </a:solidFill>
                <a:effectLst/>
                <a:latin typeface="+mj-lt"/>
              </a:rPr>
              <a:t> del </a:t>
            </a:r>
            <a:r>
              <a:rPr lang="es-ES" sz="1600" b="1" i="0" dirty="0">
                <a:solidFill>
                  <a:schemeClr val="bg1"/>
                </a:solidFill>
                <a:effectLst/>
                <a:latin typeface="+mj-lt"/>
              </a:rPr>
              <a:t>ERP </a:t>
            </a:r>
            <a:r>
              <a:rPr lang="es-ES" sz="1600" b="1" i="0" dirty="0" err="1">
                <a:solidFill>
                  <a:schemeClr val="bg1"/>
                </a:solidFill>
                <a:effectLst/>
                <a:latin typeface="+mj-lt"/>
              </a:rPr>
              <a:t>opensource</a:t>
            </a:r>
            <a:r>
              <a:rPr lang="es-ES" sz="1600" b="0" i="0" dirty="0">
                <a:solidFill>
                  <a:schemeClr val="bg1"/>
                </a:solidFill>
                <a:effectLst/>
                <a:latin typeface="+mj-lt"/>
              </a:rPr>
              <a:t> de origen indio </a:t>
            </a:r>
            <a:r>
              <a:rPr lang="es-ES" sz="1600" b="1" i="0" dirty="0" err="1">
                <a:solidFill>
                  <a:schemeClr val="bg1"/>
                </a:solidFill>
                <a:effectLst/>
                <a:latin typeface="+mj-lt"/>
              </a:rPr>
              <a:t>ERPNext</a:t>
            </a:r>
            <a:r>
              <a:rPr lang="es-ES" sz="1600" b="0" i="0" dirty="0">
                <a:solidFill>
                  <a:schemeClr val="bg1"/>
                </a:solidFill>
                <a:effectLst/>
                <a:latin typeface="+mj-lt"/>
              </a:rPr>
              <a:t>. Un punto débil de este programa es que aún no tiene una presencia extensiva en España y América Latina, como </a:t>
            </a:r>
            <a:r>
              <a:rPr lang="es-ES" sz="1600" b="1" i="0" dirty="0" err="1">
                <a:solidFill>
                  <a:schemeClr val="bg1"/>
                </a:solidFill>
                <a:effectLst/>
                <a:latin typeface="+mj-lt"/>
              </a:rPr>
              <a:t>Odoo</a:t>
            </a:r>
            <a:r>
              <a:rPr lang="es-ES" sz="1600" b="0" i="0" dirty="0">
                <a:solidFill>
                  <a:schemeClr val="bg1"/>
                </a:solidFill>
                <a:effectLst/>
                <a:latin typeface="+mj-lt"/>
              </a:rPr>
              <a:t> </a:t>
            </a:r>
            <a:r>
              <a:rPr lang="es-ES" sz="1600" b="1" i="0" dirty="0">
                <a:solidFill>
                  <a:schemeClr val="bg1"/>
                </a:solidFill>
                <a:effectLst/>
                <a:latin typeface="+mj-lt"/>
              </a:rPr>
              <a:t>ERP</a:t>
            </a:r>
            <a:r>
              <a:rPr lang="es-ES" sz="1600" b="0" i="0" dirty="0">
                <a:solidFill>
                  <a:schemeClr val="bg1"/>
                </a:solidFill>
                <a:effectLst/>
                <a:latin typeface="+mj-lt"/>
              </a:rPr>
              <a:t>, por lo que en algún país puede haber dificultades para la localización contable y financiera.</a:t>
            </a:r>
          </a:p>
          <a:p>
            <a:endParaRPr lang="es-ES" dirty="0">
              <a:solidFill>
                <a:schemeClr val="bg1"/>
              </a:solidFill>
              <a:latin typeface="+mj-lt"/>
            </a:endParaRPr>
          </a:p>
          <a:p>
            <a:pPr algn="just"/>
            <a:r>
              <a:rPr lang="es-ES" sz="1600" b="1" i="0" u="none" strike="noStrike" dirty="0" err="1">
                <a:solidFill>
                  <a:schemeClr val="bg1"/>
                </a:solidFill>
                <a:effectLst/>
                <a:latin typeface="+mj-lt"/>
                <a:hlinkClick r:id="rId4" tooltip="software historia clínica VistA">
                  <a:extLst>
                    <a:ext uri="{A12FA001-AC4F-418D-AE19-62706E023703}">
                      <ahyp:hlinkClr xmlns:ahyp="http://schemas.microsoft.com/office/drawing/2018/hyperlinkcolor" val="tx"/>
                    </a:ext>
                  </a:extLst>
                </a:hlinkClick>
              </a:rPr>
              <a:t>VistA</a:t>
            </a:r>
            <a:r>
              <a:rPr lang="es-ES" sz="1600" b="0" i="0" dirty="0">
                <a:solidFill>
                  <a:schemeClr val="bg1"/>
                </a:solidFill>
                <a:effectLst/>
                <a:latin typeface="+mj-lt"/>
              </a:rPr>
              <a:t> (</a:t>
            </a:r>
            <a:r>
              <a:rPr lang="es-ES" sz="1600" b="0" i="1" dirty="0" err="1">
                <a:solidFill>
                  <a:schemeClr val="bg1"/>
                </a:solidFill>
                <a:effectLst/>
                <a:latin typeface="+mj-lt"/>
              </a:rPr>
              <a:t>Veterans</a:t>
            </a:r>
            <a:r>
              <a:rPr lang="es-ES" sz="1600" b="0" i="1" dirty="0">
                <a:solidFill>
                  <a:schemeClr val="bg1"/>
                </a:solidFill>
                <a:effectLst/>
                <a:latin typeface="+mj-lt"/>
              </a:rPr>
              <a:t> </a:t>
            </a:r>
            <a:r>
              <a:rPr lang="es-ES" sz="1600" b="0" i="1" dirty="0" err="1">
                <a:solidFill>
                  <a:schemeClr val="bg1"/>
                </a:solidFill>
                <a:effectLst/>
                <a:latin typeface="+mj-lt"/>
              </a:rPr>
              <a:t>Health</a:t>
            </a:r>
            <a:r>
              <a:rPr lang="es-ES" sz="1600" b="0" i="1" dirty="0">
                <a:solidFill>
                  <a:schemeClr val="bg1"/>
                </a:solidFill>
                <a:effectLst/>
                <a:latin typeface="+mj-lt"/>
              </a:rPr>
              <a:t> </a:t>
            </a:r>
            <a:r>
              <a:rPr lang="es-ES" sz="1600" b="0" i="1" dirty="0" err="1">
                <a:solidFill>
                  <a:schemeClr val="bg1"/>
                </a:solidFill>
                <a:effectLst/>
                <a:latin typeface="+mj-lt"/>
              </a:rPr>
              <a:t>Information</a:t>
            </a:r>
            <a:r>
              <a:rPr lang="es-ES" sz="1600" b="0" i="1" dirty="0">
                <a:solidFill>
                  <a:schemeClr val="bg1"/>
                </a:solidFill>
                <a:effectLst/>
                <a:latin typeface="+mj-lt"/>
              </a:rPr>
              <a:t> </a:t>
            </a:r>
            <a:r>
              <a:rPr lang="es-ES" sz="1600" b="0" i="1" dirty="0" err="1">
                <a:solidFill>
                  <a:schemeClr val="bg1"/>
                </a:solidFill>
                <a:effectLst/>
                <a:latin typeface="+mj-lt"/>
              </a:rPr>
              <a:t>Systems</a:t>
            </a:r>
            <a:r>
              <a:rPr lang="es-ES" sz="1600" b="0" i="1" dirty="0">
                <a:solidFill>
                  <a:schemeClr val="bg1"/>
                </a:solidFill>
                <a:effectLst/>
                <a:latin typeface="+mj-lt"/>
              </a:rPr>
              <a:t> and </a:t>
            </a:r>
            <a:r>
              <a:rPr lang="es-ES" sz="1600" b="0" i="1" dirty="0" err="1">
                <a:solidFill>
                  <a:schemeClr val="bg1"/>
                </a:solidFill>
                <a:effectLst/>
                <a:latin typeface="+mj-lt"/>
              </a:rPr>
              <a:t>Technology</a:t>
            </a:r>
            <a:r>
              <a:rPr lang="es-ES" sz="1600" b="0" i="1" dirty="0">
                <a:solidFill>
                  <a:schemeClr val="bg1"/>
                </a:solidFill>
                <a:effectLst/>
                <a:latin typeface="+mj-lt"/>
              </a:rPr>
              <a:t> </a:t>
            </a:r>
            <a:r>
              <a:rPr lang="es-ES" sz="1600" b="0" i="1" dirty="0" err="1">
                <a:solidFill>
                  <a:schemeClr val="bg1"/>
                </a:solidFill>
                <a:effectLst/>
                <a:latin typeface="+mj-lt"/>
              </a:rPr>
              <a:t>Architecture</a:t>
            </a:r>
            <a:r>
              <a:rPr lang="es-ES" sz="1600" b="0" i="0" dirty="0">
                <a:solidFill>
                  <a:schemeClr val="bg1"/>
                </a:solidFill>
                <a:effectLst/>
                <a:latin typeface="+mj-lt"/>
              </a:rPr>
              <a:t>) es el EHR más utilizado en Estados Unidos (y posiblemente del mundo). Fue desarrollado por el Departamento Veteranos de EE.UU. y gestiona más de 8 millones de registros médicos. Debido a que más del 65% de todos los médicos en los EEUU rotan a través del Departamento de Veteranos en las materias optativas clínicas, muchos médicos tienen experiencia en su uso.</a:t>
            </a:r>
          </a:p>
          <a:p>
            <a:pPr algn="just"/>
            <a:r>
              <a:rPr lang="es-ES" sz="1600" b="0" i="0" dirty="0">
                <a:solidFill>
                  <a:schemeClr val="bg1"/>
                </a:solidFill>
                <a:effectLst/>
                <a:latin typeface="+mj-lt"/>
              </a:rPr>
              <a:t>Su código fuente pasó al dominio público bajo la Ley de Libertad de Información (FOIA, 1996), pero este año el Departamento de Veteranos ha anunciado que su plataforma será cambiada por soluciones de software privativo de Cerner. </a:t>
            </a:r>
            <a:r>
              <a:rPr lang="es-ES" sz="1600" b="0" i="0" dirty="0" err="1">
                <a:solidFill>
                  <a:schemeClr val="bg1"/>
                </a:solidFill>
                <a:effectLst/>
                <a:latin typeface="+mj-lt"/>
              </a:rPr>
              <a:t>VistA</a:t>
            </a:r>
            <a:r>
              <a:rPr lang="es-ES" sz="1600" b="0" i="0" dirty="0">
                <a:solidFill>
                  <a:schemeClr val="bg1"/>
                </a:solidFill>
                <a:effectLst/>
                <a:latin typeface="+mj-lt"/>
              </a:rPr>
              <a:t> no es un programa joven ni fácil de usar o fácil de mantener.</a:t>
            </a:r>
          </a:p>
          <a:p>
            <a:endParaRPr lang="es-US" dirty="0">
              <a:solidFill>
                <a:schemeClr val="bg1"/>
              </a:solidFill>
            </a:endParaRPr>
          </a:p>
        </p:txBody>
      </p:sp>
    </p:spTree>
    <p:extLst>
      <p:ext uri="{BB962C8B-B14F-4D97-AF65-F5344CB8AC3E}">
        <p14:creationId xmlns:p14="http://schemas.microsoft.com/office/powerpoint/2010/main" val="22270249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6765F5-2134-45AB-BF52-AE2162B97B73}"/>
              </a:ext>
            </a:extLst>
          </p:cNvPr>
          <p:cNvSpPr>
            <a:spLocks noGrp="1"/>
          </p:cNvSpPr>
          <p:nvPr>
            <p:ph type="title"/>
          </p:nvPr>
        </p:nvSpPr>
        <p:spPr/>
        <p:txBody>
          <a:bodyPr/>
          <a:lstStyle/>
          <a:p>
            <a:r>
              <a:rPr lang="es-US" dirty="0"/>
              <a:t>Ejemplos de historias clínicas electrónicas</a:t>
            </a:r>
          </a:p>
        </p:txBody>
      </p:sp>
      <p:sp>
        <p:nvSpPr>
          <p:cNvPr id="7" name="CuadroTexto 6">
            <a:extLst>
              <a:ext uri="{FF2B5EF4-FFF2-40B4-BE49-F238E27FC236}">
                <a16:creationId xmlns:a16="http://schemas.microsoft.com/office/drawing/2014/main" id="{092DEF20-D7E6-4876-9A1B-BBC7B2AC14BF}"/>
              </a:ext>
            </a:extLst>
          </p:cNvPr>
          <p:cNvSpPr txBox="1"/>
          <p:nvPr/>
        </p:nvSpPr>
        <p:spPr>
          <a:xfrm>
            <a:off x="481083" y="2297964"/>
            <a:ext cx="11242341" cy="400110"/>
          </a:xfrm>
          <a:prstGeom prst="rect">
            <a:avLst/>
          </a:prstGeom>
          <a:noFill/>
        </p:spPr>
        <p:txBody>
          <a:bodyPr wrap="square">
            <a:spAutoFit/>
          </a:bodyPr>
          <a:lstStyle/>
          <a:p>
            <a:r>
              <a:rPr lang="es-US" sz="2000" b="1" i="0" dirty="0">
                <a:solidFill>
                  <a:srgbClr val="000000"/>
                </a:solidFill>
                <a:effectLst/>
                <a:latin typeface="verdana" panose="020B0604030504040204" pitchFamily="34" charset="0"/>
              </a:rPr>
              <a:t>PROYECTO </a:t>
            </a:r>
            <a:r>
              <a:rPr lang="es-US" sz="2000" b="1" i="0" dirty="0" err="1">
                <a:solidFill>
                  <a:srgbClr val="000000"/>
                </a:solidFill>
                <a:effectLst/>
                <a:latin typeface="verdana" panose="020B0604030504040204" pitchFamily="34" charset="0"/>
              </a:rPr>
              <a:t>AmIHEALTH</a:t>
            </a:r>
            <a:endParaRPr lang="es-US" sz="2000" dirty="0">
              <a:solidFill>
                <a:schemeClr val="bg1"/>
              </a:solidFill>
            </a:endParaRPr>
          </a:p>
        </p:txBody>
      </p:sp>
      <p:sp>
        <p:nvSpPr>
          <p:cNvPr id="5" name="CuadroTexto 4">
            <a:extLst>
              <a:ext uri="{FF2B5EF4-FFF2-40B4-BE49-F238E27FC236}">
                <a16:creationId xmlns:a16="http://schemas.microsoft.com/office/drawing/2014/main" id="{99F3F1D1-6DDB-460A-8388-86086170BF0E}"/>
              </a:ext>
            </a:extLst>
          </p:cNvPr>
          <p:cNvSpPr txBox="1"/>
          <p:nvPr/>
        </p:nvSpPr>
        <p:spPr>
          <a:xfrm>
            <a:off x="481083" y="2779679"/>
            <a:ext cx="10232410" cy="2646878"/>
          </a:xfrm>
          <a:prstGeom prst="rect">
            <a:avLst/>
          </a:prstGeom>
          <a:noFill/>
        </p:spPr>
        <p:txBody>
          <a:bodyPr wrap="square">
            <a:spAutoFit/>
          </a:bodyPr>
          <a:lstStyle/>
          <a:p>
            <a:r>
              <a:rPr lang="es-ES" sz="1600" b="0" i="0" dirty="0">
                <a:solidFill>
                  <a:schemeClr val="bg1"/>
                </a:solidFill>
                <a:effectLst/>
                <a:latin typeface="+mj-lt"/>
              </a:rPr>
              <a:t>es una plataforma tecnológica que permite el seguimiento médico de pacientes a través de la web y móvil, para entornos de hipertensión Arterial.</a:t>
            </a:r>
          </a:p>
          <a:p>
            <a:endParaRPr lang="es-ES" dirty="0">
              <a:solidFill>
                <a:schemeClr val="bg1"/>
              </a:solidFill>
              <a:latin typeface="Segoe UI Historic" panose="020B0502040204020203" pitchFamily="34" charset="0"/>
            </a:endParaRPr>
          </a:p>
          <a:p>
            <a:r>
              <a:rPr lang="es-ES" sz="1600" b="0" i="0" dirty="0">
                <a:solidFill>
                  <a:srgbClr val="000000"/>
                </a:solidFill>
                <a:effectLst/>
                <a:latin typeface="+mj-lt"/>
              </a:rPr>
              <a:t>Almacena así un historial médico de los pacientes, donde los datos podrán ser supervisados por el médico asociado a dicho paciente desde la comodidad de su oficina, para brindar una ayuda y un mejor control sobre la enfermedad. Cabe señalar que este proyecto no ha sido desarrollado con el propósito de curar enfermedades, pero sí permite que las enfermedades incorporadas en la plataforma para su seguimiento y monitoreo sean más llevaderas en la vida del paciente. Finalmente, se obtiene una solución genérica, remota y móvil de una forma adaptativa, la cual permitirá incorporar nuevos módulos de atención de otras enfermedades.</a:t>
            </a:r>
            <a:endParaRPr lang="es-US" sz="1600" dirty="0">
              <a:solidFill>
                <a:schemeClr val="bg1"/>
              </a:solidFill>
              <a:latin typeface="+mj-lt"/>
            </a:endParaRPr>
          </a:p>
        </p:txBody>
      </p:sp>
    </p:spTree>
    <p:extLst>
      <p:ext uri="{BB962C8B-B14F-4D97-AF65-F5344CB8AC3E}">
        <p14:creationId xmlns:p14="http://schemas.microsoft.com/office/powerpoint/2010/main" val="4366120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2C9865-D70E-4EC9-916F-BE2FE23AEDEC}"/>
              </a:ext>
            </a:extLst>
          </p:cNvPr>
          <p:cNvSpPr>
            <a:spLocks noGrp="1"/>
          </p:cNvSpPr>
          <p:nvPr>
            <p:ph type="title"/>
          </p:nvPr>
        </p:nvSpPr>
        <p:spPr/>
        <p:txBody>
          <a:bodyPr/>
          <a:lstStyle/>
          <a:p>
            <a:r>
              <a:rPr lang="es-ES" dirty="0"/>
              <a:t>Estándares de las historias clínicas electrónicas</a:t>
            </a:r>
            <a:endParaRPr lang="es-US" dirty="0"/>
          </a:p>
        </p:txBody>
      </p:sp>
      <p:sp>
        <p:nvSpPr>
          <p:cNvPr id="6" name="CuadroTexto 5">
            <a:extLst>
              <a:ext uri="{FF2B5EF4-FFF2-40B4-BE49-F238E27FC236}">
                <a16:creationId xmlns:a16="http://schemas.microsoft.com/office/drawing/2014/main" id="{6061D143-4CA1-41DD-90B3-BF5644E80C36}"/>
              </a:ext>
            </a:extLst>
          </p:cNvPr>
          <p:cNvSpPr txBox="1"/>
          <p:nvPr/>
        </p:nvSpPr>
        <p:spPr>
          <a:xfrm>
            <a:off x="627614" y="2413337"/>
            <a:ext cx="9719273" cy="2031325"/>
          </a:xfrm>
          <a:prstGeom prst="rect">
            <a:avLst/>
          </a:prstGeom>
          <a:noFill/>
        </p:spPr>
        <p:txBody>
          <a:bodyPr wrap="square">
            <a:spAutoFit/>
          </a:bodyPr>
          <a:lstStyle/>
          <a:p>
            <a:r>
              <a:rPr lang="es-ES" dirty="0">
                <a:solidFill>
                  <a:schemeClr val="bg1"/>
                </a:solidFill>
              </a:rPr>
              <a:t>proyectos y estándares se han dirigido a definir las características genéricas de información de HCE e incorporarla en modelos de información y modelos de mensajes que pudieran proveer una interfaz estándar entre sistemas clínicos. La visión de este trabajo ha sido facilitar que sistemas clínicos diversos puedan intercambiar la totalidad o partes de la HCE de un paciente de forma estandarizada, tal que puedan representar de forma rigurosa y genérica los valores de los datos y la organización contextual de la información del sistema que la origine.</a:t>
            </a:r>
            <a:endParaRPr lang="es-US" dirty="0">
              <a:solidFill>
                <a:schemeClr val="bg1"/>
              </a:solidFill>
            </a:endParaRPr>
          </a:p>
        </p:txBody>
      </p:sp>
      <p:sp>
        <p:nvSpPr>
          <p:cNvPr id="10" name="CuadroTexto 9">
            <a:extLst>
              <a:ext uri="{FF2B5EF4-FFF2-40B4-BE49-F238E27FC236}">
                <a16:creationId xmlns:a16="http://schemas.microsoft.com/office/drawing/2014/main" id="{E4123501-51DB-4C55-8972-B6D0C7D1EE7F}"/>
              </a:ext>
            </a:extLst>
          </p:cNvPr>
          <p:cNvSpPr txBox="1"/>
          <p:nvPr/>
        </p:nvSpPr>
        <p:spPr>
          <a:xfrm>
            <a:off x="680321" y="4627444"/>
            <a:ext cx="9840219" cy="1477328"/>
          </a:xfrm>
          <a:prstGeom prst="rect">
            <a:avLst/>
          </a:prstGeom>
          <a:noFill/>
        </p:spPr>
        <p:txBody>
          <a:bodyPr wrap="square">
            <a:spAutoFit/>
          </a:bodyPr>
          <a:lstStyle/>
          <a:p>
            <a:r>
              <a:rPr lang="es-US" dirty="0">
                <a:solidFill>
                  <a:schemeClr val="bg1"/>
                </a:solidFill>
              </a:rPr>
              <a:t>En la actualidad existen seis aproximaciones principales que están compitiendo por ser la plataforma para la interoperabilidad en HCE. Estas son OSI (Open </a:t>
            </a:r>
            <a:r>
              <a:rPr lang="es-US" dirty="0" err="1">
                <a:solidFill>
                  <a:schemeClr val="bg1"/>
                </a:solidFill>
              </a:rPr>
              <a:t>Systems</a:t>
            </a:r>
            <a:r>
              <a:rPr lang="es-US" dirty="0">
                <a:solidFill>
                  <a:schemeClr val="bg1"/>
                </a:solidFill>
              </a:rPr>
              <a:t> </a:t>
            </a:r>
            <a:r>
              <a:rPr lang="es-US" dirty="0" err="1">
                <a:solidFill>
                  <a:schemeClr val="bg1"/>
                </a:solidFill>
              </a:rPr>
              <a:t>Interconnection</a:t>
            </a:r>
            <a:r>
              <a:rPr lang="es-US" dirty="0">
                <a:solidFill>
                  <a:schemeClr val="bg1"/>
                </a:solidFill>
              </a:rPr>
              <a:t>), CORBA (</a:t>
            </a:r>
            <a:r>
              <a:rPr lang="es-US" dirty="0" err="1">
                <a:solidFill>
                  <a:schemeClr val="bg1"/>
                </a:solidFill>
              </a:rPr>
              <a:t>Common</a:t>
            </a:r>
            <a:r>
              <a:rPr lang="es-US" dirty="0">
                <a:solidFill>
                  <a:schemeClr val="bg1"/>
                </a:solidFill>
              </a:rPr>
              <a:t> </a:t>
            </a:r>
            <a:r>
              <a:rPr lang="es-US" dirty="0" err="1">
                <a:solidFill>
                  <a:schemeClr val="bg1"/>
                </a:solidFill>
              </a:rPr>
              <a:t>Object</a:t>
            </a:r>
            <a:r>
              <a:rPr lang="es-US" dirty="0">
                <a:solidFill>
                  <a:schemeClr val="bg1"/>
                </a:solidFill>
              </a:rPr>
              <a:t> </a:t>
            </a:r>
            <a:r>
              <a:rPr lang="es-US" dirty="0" err="1">
                <a:solidFill>
                  <a:schemeClr val="bg1"/>
                </a:solidFill>
              </a:rPr>
              <a:t>Request</a:t>
            </a:r>
            <a:r>
              <a:rPr lang="es-US" dirty="0">
                <a:solidFill>
                  <a:schemeClr val="bg1"/>
                </a:solidFill>
              </a:rPr>
              <a:t> </a:t>
            </a:r>
            <a:r>
              <a:rPr lang="es-US" dirty="0" err="1">
                <a:solidFill>
                  <a:schemeClr val="bg1"/>
                </a:solidFill>
              </a:rPr>
              <a:t>Broker</a:t>
            </a:r>
            <a:r>
              <a:rPr lang="es-US" dirty="0">
                <a:solidFill>
                  <a:schemeClr val="bg1"/>
                </a:solidFill>
              </a:rPr>
              <a:t> </a:t>
            </a:r>
            <a:r>
              <a:rPr lang="es-US" dirty="0" err="1">
                <a:solidFill>
                  <a:schemeClr val="bg1"/>
                </a:solidFill>
              </a:rPr>
              <a:t>Arquitecture</a:t>
            </a:r>
            <a:r>
              <a:rPr lang="es-US" dirty="0">
                <a:solidFill>
                  <a:schemeClr val="bg1"/>
                </a:solidFill>
              </a:rPr>
              <a:t>), GEHR (Good </a:t>
            </a:r>
            <a:r>
              <a:rPr lang="es-US" dirty="0" err="1">
                <a:solidFill>
                  <a:schemeClr val="bg1"/>
                </a:solidFill>
              </a:rPr>
              <a:t>European</a:t>
            </a:r>
            <a:r>
              <a:rPr lang="es-US" dirty="0">
                <a:solidFill>
                  <a:schemeClr val="bg1"/>
                </a:solidFill>
              </a:rPr>
              <a:t> </a:t>
            </a:r>
            <a:r>
              <a:rPr lang="es-US" dirty="0" err="1">
                <a:solidFill>
                  <a:schemeClr val="bg1"/>
                </a:solidFill>
              </a:rPr>
              <a:t>Health</a:t>
            </a:r>
            <a:r>
              <a:rPr lang="es-US" dirty="0">
                <a:solidFill>
                  <a:schemeClr val="bg1"/>
                </a:solidFill>
              </a:rPr>
              <a:t> </a:t>
            </a:r>
            <a:r>
              <a:rPr lang="es-US" dirty="0" err="1">
                <a:solidFill>
                  <a:schemeClr val="bg1"/>
                </a:solidFill>
              </a:rPr>
              <a:t>Record</a:t>
            </a:r>
            <a:r>
              <a:rPr lang="es-US" dirty="0">
                <a:solidFill>
                  <a:schemeClr val="bg1"/>
                </a:solidFill>
              </a:rPr>
              <a:t>), HL7-CDA (</a:t>
            </a:r>
            <a:r>
              <a:rPr lang="es-US" dirty="0" err="1">
                <a:solidFill>
                  <a:schemeClr val="bg1"/>
                </a:solidFill>
              </a:rPr>
              <a:t>Clinical</a:t>
            </a:r>
            <a:r>
              <a:rPr lang="es-US" dirty="0">
                <a:solidFill>
                  <a:schemeClr val="bg1"/>
                </a:solidFill>
              </a:rPr>
              <a:t> </a:t>
            </a:r>
            <a:r>
              <a:rPr lang="es-US" dirty="0" err="1">
                <a:solidFill>
                  <a:schemeClr val="bg1"/>
                </a:solidFill>
              </a:rPr>
              <a:t>Document</a:t>
            </a:r>
            <a:r>
              <a:rPr lang="es-US" dirty="0">
                <a:solidFill>
                  <a:schemeClr val="bg1"/>
                </a:solidFill>
              </a:rPr>
              <a:t> </a:t>
            </a:r>
            <a:r>
              <a:rPr lang="es-US" dirty="0" err="1">
                <a:solidFill>
                  <a:schemeClr val="bg1"/>
                </a:solidFill>
              </a:rPr>
              <a:t>Architecture</a:t>
            </a:r>
            <a:r>
              <a:rPr lang="es-US" dirty="0">
                <a:solidFill>
                  <a:schemeClr val="bg1"/>
                </a:solidFill>
              </a:rPr>
              <a:t>), </a:t>
            </a:r>
            <a:r>
              <a:rPr lang="es-US" dirty="0" err="1">
                <a:solidFill>
                  <a:schemeClr val="bg1"/>
                </a:solidFill>
              </a:rPr>
              <a:t>openEHR</a:t>
            </a:r>
            <a:r>
              <a:rPr lang="es-US" dirty="0">
                <a:solidFill>
                  <a:schemeClr val="bg1"/>
                </a:solidFill>
              </a:rPr>
              <a:t> , y la aproximación genérica XML/Ontología.</a:t>
            </a:r>
          </a:p>
        </p:txBody>
      </p:sp>
    </p:spTree>
    <p:extLst>
      <p:ext uri="{BB962C8B-B14F-4D97-AF65-F5344CB8AC3E}">
        <p14:creationId xmlns:p14="http://schemas.microsoft.com/office/powerpoint/2010/main" val="21926995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78DA14-2133-423D-8C22-FD6F9D56AD5F}"/>
              </a:ext>
            </a:extLst>
          </p:cNvPr>
          <p:cNvSpPr>
            <a:spLocks noGrp="1"/>
          </p:cNvSpPr>
          <p:nvPr>
            <p:ph type="title"/>
          </p:nvPr>
        </p:nvSpPr>
        <p:spPr/>
        <p:txBody>
          <a:bodyPr/>
          <a:lstStyle/>
          <a:p>
            <a:r>
              <a:rPr lang="es-ES" dirty="0"/>
              <a:t>Estándares de las historias clínicas electrónicas</a:t>
            </a:r>
            <a:endParaRPr lang="es-US" dirty="0"/>
          </a:p>
        </p:txBody>
      </p:sp>
      <p:sp>
        <p:nvSpPr>
          <p:cNvPr id="6" name="CuadroTexto 5">
            <a:extLst>
              <a:ext uri="{FF2B5EF4-FFF2-40B4-BE49-F238E27FC236}">
                <a16:creationId xmlns:a16="http://schemas.microsoft.com/office/drawing/2014/main" id="{708CA779-2EEB-4982-AE88-5FD9B684BE09}"/>
              </a:ext>
            </a:extLst>
          </p:cNvPr>
          <p:cNvSpPr txBox="1"/>
          <p:nvPr/>
        </p:nvSpPr>
        <p:spPr>
          <a:xfrm>
            <a:off x="680321" y="2220120"/>
            <a:ext cx="9896694" cy="1354217"/>
          </a:xfrm>
          <a:prstGeom prst="rect">
            <a:avLst/>
          </a:prstGeom>
          <a:noFill/>
        </p:spPr>
        <p:txBody>
          <a:bodyPr wrap="square">
            <a:spAutoFit/>
          </a:bodyPr>
          <a:lstStyle/>
          <a:p>
            <a:r>
              <a:rPr lang="es-US" b="1" i="1" dirty="0" err="1">
                <a:solidFill>
                  <a:srgbClr val="000000"/>
                </a:solidFill>
                <a:effectLst/>
                <a:latin typeface="+mj-lt"/>
              </a:rPr>
              <a:t>Health</a:t>
            </a:r>
            <a:r>
              <a:rPr lang="es-US" b="1" i="1" dirty="0">
                <a:solidFill>
                  <a:srgbClr val="000000"/>
                </a:solidFill>
                <a:effectLst/>
                <a:latin typeface="+mj-lt"/>
              </a:rPr>
              <a:t> </a:t>
            </a:r>
            <a:r>
              <a:rPr lang="es-US" b="1" i="1" dirty="0" err="1">
                <a:solidFill>
                  <a:srgbClr val="000000"/>
                </a:solidFill>
                <a:effectLst/>
                <a:latin typeface="+mj-lt"/>
              </a:rPr>
              <a:t>Level</a:t>
            </a:r>
            <a:r>
              <a:rPr lang="es-US" b="1" i="1" dirty="0">
                <a:solidFill>
                  <a:srgbClr val="000000"/>
                </a:solidFill>
                <a:effectLst/>
                <a:latin typeface="+mj-lt"/>
              </a:rPr>
              <a:t> </a:t>
            </a:r>
            <a:r>
              <a:rPr lang="es-US" b="1" i="1" dirty="0" err="1">
                <a:solidFill>
                  <a:srgbClr val="000000"/>
                </a:solidFill>
                <a:effectLst/>
                <a:latin typeface="+mj-lt"/>
              </a:rPr>
              <a:t>Seven</a:t>
            </a:r>
            <a:r>
              <a:rPr lang="es-US" b="1" i="1" dirty="0">
                <a:solidFill>
                  <a:srgbClr val="000000"/>
                </a:solidFill>
                <a:effectLst/>
                <a:latin typeface="+mj-lt"/>
              </a:rPr>
              <a:t> </a:t>
            </a:r>
            <a:r>
              <a:rPr lang="es-US" b="1" i="1" dirty="0" err="1">
                <a:solidFill>
                  <a:srgbClr val="000000"/>
                </a:solidFill>
                <a:effectLst/>
                <a:latin typeface="+mj-lt"/>
              </a:rPr>
              <a:t>Fast</a:t>
            </a:r>
            <a:r>
              <a:rPr lang="es-US" b="1" i="1" dirty="0">
                <a:solidFill>
                  <a:srgbClr val="000000"/>
                </a:solidFill>
                <a:effectLst/>
                <a:latin typeface="+mj-lt"/>
              </a:rPr>
              <a:t> </a:t>
            </a:r>
            <a:r>
              <a:rPr lang="es-US" b="1" i="1" dirty="0" err="1">
                <a:solidFill>
                  <a:srgbClr val="000000"/>
                </a:solidFill>
                <a:effectLst/>
                <a:latin typeface="+mj-lt"/>
              </a:rPr>
              <a:t>Healthcare</a:t>
            </a:r>
            <a:r>
              <a:rPr lang="es-US" b="1" i="1" dirty="0">
                <a:solidFill>
                  <a:srgbClr val="000000"/>
                </a:solidFill>
                <a:effectLst/>
                <a:latin typeface="+mj-lt"/>
              </a:rPr>
              <a:t> </a:t>
            </a:r>
            <a:r>
              <a:rPr lang="es-US" b="1" i="1" dirty="0" err="1">
                <a:solidFill>
                  <a:srgbClr val="000000"/>
                </a:solidFill>
                <a:effectLst/>
                <a:latin typeface="+mj-lt"/>
              </a:rPr>
              <a:t>Interoperability</a:t>
            </a:r>
            <a:r>
              <a:rPr lang="es-US" b="1" i="1" dirty="0">
                <a:solidFill>
                  <a:srgbClr val="000000"/>
                </a:solidFill>
                <a:effectLst/>
                <a:latin typeface="+mj-lt"/>
              </a:rPr>
              <a:t> </a:t>
            </a:r>
            <a:r>
              <a:rPr lang="es-US" b="1" i="1" dirty="0" err="1">
                <a:solidFill>
                  <a:srgbClr val="000000"/>
                </a:solidFill>
                <a:effectLst/>
                <a:latin typeface="+mj-lt"/>
              </a:rPr>
              <a:t>Resources</a:t>
            </a:r>
            <a:r>
              <a:rPr lang="es-US" b="1" i="0" dirty="0">
                <a:solidFill>
                  <a:srgbClr val="000000"/>
                </a:solidFill>
                <a:effectLst/>
                <a:latin typeface="+mj-lt"/>
              </a:rPr>
              <a:t> (HL7 FHIR),</a:t>
            </a:r>
            <a:r>
              <a:rPr lang="es-US" sz="1600" b="1" i="0" dirty="0">
                <a:solidFill>
                  <a:srgbClr val="000000"/>
                </a:solidFill>
                <a:effectLst/>
                <a:latin typeface="+mj-lt"/>
              </a:rPr>
              <a:t> </a:t>
            </a:r>
            <a:r>
              <a:rPr lang="es-US" sz="1600" b="0" i="0" dirty="0">
                <a:solidFill>
                  <a:srgbClr val="000000"/>
                </a:solidFill>
                <a:effectLst/>
                <a:latin typeface="+mj-lt"/>
              </a:rPr>
              <a:t>es un estándar de interoperabilidad que combina los mejores aspectos de HL7 V2 y HL7 V3. Además, se centra en facilitar su implementación utilizando sintaxis XML, </a:t>
            </a:r>
            <a:r>
              <a:rPr lang="es-US" sz="1600" b="0" i="1" dirty="0">
                <a:solidFill>
                  <a:srgbClr val="000000"/>
                </a:solidFill>
                <a:effectLst/>
                <a:latin typeface="+mj-lt"/>
              </a:rPr>
              <a:t>JavaScript </a:t>
            </a:r>
            <a:r>
              <a:rPr lang="es-US" sz="1600" b="0" i="1" dirty="0" err="1">
                <a:solidFill>
                  <a:srgbClr val="000000"/>
                </a:solidFill>
                <a:effectLst/>
                <a:latin typeface="+mj-lt"/>
              </a:rPr>
              <a:t>Object</a:t>
            </a:r>
            <a:r>
              <a:rPr lang="es-US" sz="1600" b="0" i="1" dirty="0">
                <a:solidFill>
                  <a:srgbClr val="000000"/>
                </a:solidFill>
                <a:effectLst/>
                <a:latin typeface="+mj-lt"/>
              </a:rPr>
              <a:t> </a:t>
            </a:r>
            <a:r>
              <a:rPr lang="es-US" sz="1600" b="0" i="1" dirty="0" err="1">
                <a:solidFill>
                  <a:srgbClr val="000000"/>
                </a:solidFill>
                <a:effectLst/>
                <a:latin typeface="+mj-lt"/>
              </a:rPr>
              <a:t>Notation</a:t>
            </a:r>
            <a:r>
              <a:rPr lang="es-US" sz="1600" b="0" i="0" dirty="0">
                <a:solidFill>
                  <a:srgbClr val="000000"/>
                </a:solidFill>
                <a:effectLst/>
                <a:latin typeface="+mj-lt"/>
              </a:rPr>
              <a:t> (JSON) y </a:t>
            </a:r>
            <a:r>
              <a:rPr lang="es-US" sz="1600" b="0" i="1" dirty="0" err="1">
                <a:solidFill>
                  <a:srgbClr val="000000"/>
                </a:solidFill>
                <a:effectLst/>
                <a:latin typeface="+mj-lt"/>
              </a:rPr>
              <a:t>Hypertext</a:t>
            </a:r>
            <a:r>
              <a:rPr lang="es-US" sz="1600" b="0" i="1" dirty="0">
                <a:solidFill>
                  <a:srgbClr val="000000"/>
                </a:solidFill>
                <a:effectLst/>
                <a:latin typeface="+mj-lt"/>
              </a:rPr>
              <a:t> Transfer </a:t>
            </a:r>
            <a:r>
              <a:rPr lang="es-US" sz="1600" b="0" i="1" dirty="0" err="1">
                <a:solidFill>
                  <a:srgbClr val="000000"/>
                </a:solidFill>
                <a:effectLst/>
                <a:latin typeface="+mj-lt"/>
              </a:rPr>
              <a:t>Protocol</a:t>
            </a:r>
            <a:r>
              <a:rPr lang="es-US" sz="1600" b="0" i="0" dirty="0">
                <a:solidFill>
                  <a:srgbClr val="000000"/>
                </a:solidFill>
                <a:effectLst/>
                <a:latin typeface="+mj-lt"/>
              </a:rPr>
              <a:t> (HTTP) para representar los recursos.</a:t>
            </a:r>
          </a:p>
          <a:p>
            <a:endParaRPr lang="es-US" sz="1600" b="0" i="0" dirty="0">
              <a:solidFill>
                <a:srgbClr val="000000"/>
              </a:solidFill>
              <a:effectLst/>
              <a:latin typeface="+mj-lt"/>
            </a:endParaRPr>
          </a:p>
        </p:txBody>
      </p:sp>
      <p:pic>
        <p:nvPicPr>
          <p:cNvPr id="9218" name="Picture 2">
            <a:extLst>
              <a:ext uri="{FF2B5EF4-FFF2-40B4-BE49-F238E27FC236}">
                <a16:creationId xmlns:a16="http://schemas.microsoft.com/office/drawing/2014/main" id="{D01CEE7D-C29D-437B-8D3B-E059F5820B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321" y="3574337"/>
            <a:ext cx="6839595" cy="23345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8972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8BB3D7-9E1E-46E8-ADBC-F4EC025229E8}"/>
              </a:ext>
            </a:extLst>
          </p:cNvPr>
          <p:cNvSpPr>
            <a:spLocks noGrp="1"/>
          </p:cNvSpPr>
          <p:nvPr>
            <p:ph type="title"/>
          </p:nvPr>
        </p:nvSpPr>
        <p:spPr/>
        <p:txBody>
          <a:bodyPr/>
          <a:lstStyle/>
          <a:p>
            <a:r>
              <a:rPr lang="es-ES" dirty="0"/>
              <a:t>Estándares de las historias clínicas electrónicas</a:t>
            </a:r>
            <a:endParaRPr lang="es-US" dirty="0"/>
          </a:p>
        </p:txBody>
      </p:sp>
      <p:sp>
        <p:nvSpPr>
          <p:cNvPr id="6" name="CuadroTexto 5">
            <a:extLst>
              <a:ext uri="{FF2B5EF4-FFF2-40B4-BE49-F238E27FC236}">
                <a16:creationId xmlns:a16="http://schemas.microsoft.com/office/drawing/2014/main" id="{D952D275-6DD5-49D8-AFD1-1198C4A0B8A7}"/>
              </a:ext>
            </a:extLst>
          </p:cNvPr>
          <p:cNvSpPr txBox="1"/>
          <p:nvPr/>
        </p:nvSpPr>
        <p:spPr>
          <a:xfrm>
            <a:off x="822278" y="2149355"/>
            <a:ext cx="10368886" cy="2031325"/>
          </a:xfrm>
          <a:prstGeom prst="rect">
            <a:avLst/>
          </a:prstGeom>
          <a:noFill/>
        </p:spPr>
        <p:txBody>
          <a:bodyPr wrap="square">
            <a:spAutoFit/>
          </a:bodyPr>
          <a:lstStyle/>
          <a:p>
            <a:endParaRPr lang="es-ES" dirty="0">
              <a:solidFill>
                <a:srgbClr val="292929"/>
              </a:solidFill>
              <a:latin typeface="+mj-lt"/>
            </a:endParaRPr>
          </a:p>
          <a:p>
            <a:r>
              <a:rPr lang="es-ES" b="1" i="0" dirty="0">
                <a:solidFill>
                  <a:srgbClr val="292929"/>
                </a:solidFill>
                <a:effectLst/>
                <a:latin typeface="+mj-lt"/>
              </a:rPr>
              <a:t>CIE-10: </a:t>
            </a:r>
            <a:r>
              <a:rPr lang="es-ES" b="0" i="0" dirty="0">
                <a:solidFill>
                  <a:srgbClr val="292929"/>
                </a:solidFill>
                <a:effectLst/>
                <a:latin typeface="+mj-lt"/>
              </a:rPr>
              <a:t>Clasificación Internacional de Enfermedades en su décima versión, correspondiente a la versión en español de la International </a:t>
            </a:r>
            <a:r>
              <a:rPr lang="es-ES" b="0" i="0" dirty="0" err="1">
                <a:solidFill>
                  <a:srgbClr val="292929"/>
                </a:solidFill>
                <a:effectLst/>
                <a:latin typeface="+mj-lt"/>
              </a:rPr>
              <a:t>Statistical</a:t>
            </a:r>
            <a:r>
              <a:rPr lang="es-ES" b="0" i="0" dirty="0">
                <a:solidFill>
                  <a:srgbClr val="292929"/>
                </a:solidFill>
                <a:effectLst/>
                <a:latin typeface="+mj-lt"/>
              </a:rPr>
              <a:t> </a:t>
            </a:r>
            <a:r>
              <a:rPr lang="es-ES" b="0" i="0" dirty="0" err="1">
                <a:solidFill>
                  <a:srgbClr val="292929"/>
                </a:solidFill>
                <a:effectLst/>
                <a:latin typeface="+mj-lt"/>
              </a:rPr>
              <a:t>Classification</a:t>
            </a:r>
            <a:r>
              <a:rPr lang="es-ES" b="0" i="0" dirty="0">
                <a:solidFill>
                  <a:srgbClr val="292929"/>
                </a:solidFill>
                <a:effectLst/>
                <a:latin typeface="+mj-lt"/>
              </a:rPr>
              <a:t> </a:t>
            </a:r>
            <a:r>
              <a:rPr lang="es-ES" b="0" i="0" dirty="0" err="1">
                <a:solidFill>
                  <a:srgbClr val="292929"/>
                </a:solidFill>
                <a:effectLst/>
                <a:latin typeface="+mj-lt"/>
              </a:rPr>
              <a:t>of</a:t>
            </a:r>
            <a:r>
              <a:rPr lang="es-ES" b="0" i="0" dirty="0">
                <a:solidFill>
                  <a:srgbClr val="292929"/>
                </a:solidFill>
                <a:effectLst/>
                <a:latin typeface="+mj-lt"/>
              </a:rPr>
              <a:t> </a:t>
            </a:r>
            <a:r>
              <a:rPr lang="es-ES" b="0" i="0" dirty="0" err="1">
                <a:solidFill>
                  <a:srgbClr val="292929"/>
                </a:solidFill>
                <a:effectLst/>
                <a:latin typeface="+mj-lt"/>
              </a:rPr>
              <a:t>Diseases</a:t>
            </a:r>
            <a:r>
              <a:rPr lang="es-ES" b="0" i="0" dirty="0">
                <a:solidFill>
                  <a:srgbClr val="292929"/>
                </a:solidFill>
                <a:effectLst/>
                <a:latin typeface="+mj-lt"/>
              </a:rPr>
              <a:t> and </a:t>
            </a:r>
            <a:r>
              <a:rPr lang="es-ES" b="0" i="0" dirty="0" err="1">
                <a:solidFill>
                  <a:srgbClr val="292929"/>
                </a:solidFill>
                <a:effectLst/>
                <a:latin typeface="+mj-lt"/>
              </a:rPr>
              <a:t>Related</a:t>
            </a:r>
            <a:r>
              <a:rPr lang="es-ES" b="0" i="0" dirty="0">
                <a:solidFill>
                  <a:srgbClr val="292929"/>
                </a:solidFill>
                <a:effectLst/>
                <a:latin typeface="+mj-lt"/>
              </a:rPr>
              <a:t> </a:t>
            </a:r>
            <a:r>
              <a:rPr lang="es-ES" b="0" i="0" dirty="0" err="1">
                <a:solidFill>
                  <a:srgbClr val="292929"/>
                </a:solidFill>
                <a:effectLst/>
                <a:latin typeface="+mj-lt"/>
              </a:rPr>
              <a:t>Health</a:t>
            </a:r>
            <a:r>
              <a:rPr lang="es-ES" b="0" i="0" dirty="0">
                <a:solidFill>
                  <a:srgbClr val="292929"/>
                </a:solidFill>
                <a:effectLst/>
                <a:latin typeface="+mj-lt"/>
              </a:rPr>
              <a:t> </a:t>
            </a:r>
            <a:r>
              <a:rPr lang="es-ES" b="0" i="0" dirty="0" err="1">
                <a:solidFill>
                  <a:srgbClr val="292929"/>
                </a:solidFill>
                <a:effectLst/>
                <a:latin typeface="+mj-lt"/>
              </a:rPr>
              <a:t>Problems</a:t>
            </a:r>
            <a:r>
              <a:rPr lang="es-ES" b="0" i="0" dirty="0">
                <a:solidFill>
                  <a:srgbClr val="292929"/>
                </a:solidFill>
                <a:effectLst/>
                <a:latin typeface="+mj-lt"/>
              </a:rPr>
              <a:t> (ICD). Ya está en proceso de socialización la CIE-11.</a:t>
            </a:r>
          </a:p>
          <a:p>
            <a:endParaRPr lang="es-ES" dirty="0">
              <a:solidFill>
                <a:srgbClr val="292929"/>
              </a:solidFill>
              <a:latin typeface="+mj-lt"/>
            </a:endParaRPr>
          </a:p>
          <a:p>
            <a:r>
              <a:rPr lang="es-ES" b="1" i="0" dirty="0">
                <a:solidFill>
                  <a:srgbClr val="292929"/>
                </a:solidFill>
                <a:effectLst/>
                <a:latin typeface="+mj-lt"/>
              </a:rPr>
              <a:t>Digital </a:t>
            </a:r>
            <a:r>
              <a:rPr lang="es-ES" b="1" i="0" dirty="0" err="1">
                <a:solidFill>
                  <a:srgbClr val="292929"/>
                </a:solidFill>
                <a:effectLst/>
                <a:latin typeface="+mj-lt"/>
              </a:rPr>
              <a:t>Imaging</a:t>
            </a:r>
            <a:r>
              <a:rPr lang="es-ES" b="1" i="0" dirty="0">
                <a:solidFill>
                  <a:srgbClr val="292929"/>
                </a:solidFill>
                <a:effectLst/>
                <a:latin typeface="+mj-lt"/>
              </a:rPr>
              <a:t> and </a:t>
            </a:r>
            <a:r>
              <a:rPr lang="es-ES" b="1" i="0" dirty="0" err="1">
                <a:solidFill>
                  <a:srgbClr val="292929"/>
                </a:solidFill>
                <a:effectLst/>
                <a:latin typeface="+mj-lt"/>
              </a:rPr>
              <a:t>Communications</a:t>
            </a:r>
            <a:r>
              <a:rPr lang="es-ES" b="1" i="0" dirty="0">
                <a:solidFill>
                  <a:srgbClr val="292929"/>
                </a:solidFill>
                <a:effectLst/>
                <a:latin typeface="+mj-lt"/>
              </a:rPr>
              <a:t> in Medicine (DICOM): </a:t>
            </a:r>
            <a:r>
              <a:rPr lang="es-ES" b="0" i="0" dirty="0">
                <a:solidFill>
                  <a:srgbClr val="292929"/>
                </a:solidFill>
                <a:effectLst/>
                <a:latin typeface="+mj-lt"/>
              </a:rPr>
              <a:t>Estándar para el intercambio, manejo, almacenamiento, impresión y transmisión de imágenes médicas.</a:t>
            </a:r>
            <a:endParaRPr lang="es-US" dirty="0">
              <a:latin typeface="+mj-lt"/>
            </a:endParaRPr>
          </a:p>
        </p:txBody>
      </p:sp>
      <p:pic>
        <p:nvPicPr>
          <p:cNvPr id="11266" name="Picture 2">
            <a:extLst>
              <a:ext uri="{FF2B5EF4-FFF2-40B4-BE49-F238E27FC236}">
                <a16:creationId xmlns:a16="http://schemas.microsoft.com/office/drawing/2014/main" id="{436C4A8E-0ECE-46ED-8D30-C468C60CE0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2278" y="4303797"/>
            <a:ext cx="3870619" cy="2205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22214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7EBF11-C574-42F3-B864-84DB625E018B}"/>
              </a:ext>
            </a:extLst>
          </p:cNvPr>
          <p:cNvSpPr>
            <a:spLocks noGrp="1"/>
          </p:cNvSpPr>
          <p:nvPr>
            <p:ph type="title"/>
          </p:nvPr>
        </p:nvSpPr>
        <p:spPr/>
        <p:txBody>
          <a:bodyPr/>
          <a:lstStyle/>
          <a:p>
            <a:r>
              <a:rPr lang="es-ES" dirty="0"/>
              <a:t>Estándares de las historias clínicas electrónicas</a:t>
            </a:r>
            <a:endParaRPr lang="es-US" dirty="0"/>
          </a:p>
        </p:txBody>
      </p:sp>
      <p:sp>
        <p:nvSpPr>
          <p:cNvPr id="3" name="Marcador de contenido 2">
            <a:extLst>
              <a:ext uri="{FF2B5EF4-FFF2-40B4-BE49-F238E27FC236}">
                <a16:creationId xmlns:a16="http://schemas.microsoft.com/office/drawing/2014/main" id="{56750E30-1470-45D7-8BBD-25190AB4E182}"/>
              </a:ext>
            </a:extLst>
          </p:cNvPr>
          <p:cNvSpPr>
            <a:spLocks noGrp="1"/>
          </p:cNvSpPr>
          <p:nvPr>
            <p:ph sz="half" idx="1"/>
          </p:nvPr>
        </p:nvSpPr>
        <p:spPr/>
        <p:txBody>
          <a:bodyPr>
            <a:normAutofit fontScale="85000" lnSpcReduction="10000"/>
          </a:bodyPr>
          <a:lstStyle/>
          <a:p>
            <a:pPr algn="l"/>
            <a:r>
              <a:rPr lang="es-ES" b="1" i="0" dirty="0">
                <a:solidFill>
                  <a:srgbClr val="000000"/>
                </a:solidFill>
                <a:effectLst/>
                <a:latin typeface="+mj-lt"/>
              </a:rPr>
              <a:t>LOINC</a:t>
            </a:r>
          </a:p>
          <a:p>
            <a:pPr algn="l"/>
            <a:r>
              <a:rPr lang="es-ES" b="0" i="0" dirty="0">
                <a:solidFill>
                  <a:schemeClr val="bg1"/>
                </a:solidFill>
                <a:effectLst/>
                <a:latin typeface="+mj-lt"/>
              </a:rPr>
              <a:t>El estándar universal </a:t>
            </a:r>
            <a:r>
              <a:rPr lang="es-ES" b="0" i="1" dirty="0" err="1">
                <a:solidFill>
                  <a:schemeClr val="bg1"/>
                </a:solidFill>
                <a:effectLst/>
                <a:latin typeface="+mj-lt"/>
              </a:rPr>
              <a:t>Logical</a:t>
            </a:r>
            <a:r>
              <a:rPr lang="es-ES" b="0" i="1" dirty="0">
                <a:solidFill>
                  <a:schemeClr val="bg1"/>
                </a:solidFill>
                <a:effectLst/>
                <a:latin typeface="+mj-lt"/>
              </a:rPr>
              <a:t> </a:t>
            </a:r>
            <a:r>
              <a:rPr lang="es-ES" b="0" i="1" dirty="0" err="1">
                <a:solidFill>
                  <a:schemeClr val="bg1"/>
                </a:solidFill>
                <a:effectLst/>
                <a:latin typeface="+mj-lt"/>
              </a:rPr>
              <a:t>Observation</a:t>
            </a:r>
            <a:r>
              <a:rPr lang="es-ES" b="0" i="1" dirty="0">
                <a:solidFill>
                  <a:schemeClr val="bg1"/>
                </a:solidFill>
                <a:effectLst/>
                <a:latin typeface="+mj-lt"/>
              </a:rPr>
              <a:t> </a:t>
            </a:r>
            <a:r>
              <a:rPr lang="es-ES" b="0" i="1" dirty="0" err="1">
                <a:solidFill>
                  <a:schemeClr val="bg1"/>
                </a:solidFill>
                <a:effectLst/>
                <a:latin typeface="+mj-lt"/>
              </a:rPr>
              <a:t>Identifiers</a:t>
            </a:r>
            <a:r>
              <a:rPr lang="es-ES" b="0" i="1" dirty="0">
                <a:solidFill>
                  <a:schemeClr val="bg1"/>
                </a:solidFill>
                <a:effectLst/>
                <a:latin typeface="+mj-lt"/>
              </a:rPr>
              <a:t> </a:t>
            </a:r>
            <a:r>
              <a:rPr lang="es-ES" b="0" i="1" dirty="0" err="1">
                <a:solidFill>
                  <a:schemeClr val="bg1"/>
                </a:solidFill>
                <a:effectLst/>
                <a:latin typeface="+mj-lt"/>
              </a:rPr>
              <a:t>Names</a:t>
            </a:r>
            <a:r>
              <a:rPr lang="es-ES" b="0" i="1" dirty="0">
                <a:solidFill>
                  <a:schemeClr val="bg1"/>
                </a:solidFill>
                <a:effectLst/>
                <a:latin typeface="+mj-lt"/>
              </a:rPr>
              <a:t> and Codes</a:t>
            </a:r>
            <a:r>
              <a:rPr lang="es-ES" b="0" i="0" dirty="0">
                <a:solidFill>
                  <a:schemeClr val="bg1"/>
                </a:solidFill>
                <a:effectLst/>
                <a:latin typeface="+mj-lt"/>
              </a:rPr>
              <a:t> (LOINC) proporciona una clasificación completa de observaciones clínicas para determinar los resultados de laboratorios médicos.</a:t>
            </a:r>
          </a:p>
          <a:p>
            <a:pPr algn="l"/>
            <a:r>
              <a:rPr lang="es-ES" b="0" i="0" dirty="0">
                <a:solidFill>
                  <a:schemeClr val="bg1"/>
                </a:solidFill>
                <a:effectLst/>
                <a:latin typeface="+mj-lt"/>
              </a:rPr>
              <a:t>contiene dos partes principales: LOINC laboratorio y LOINC clínico. Los objetivos principales de dicho estándar son:</a:t>
            </a:r>
          </a:p>
          <a:p>
            <a:pPr algn="l">
              <a:buFont typeface="Arial" panose="020B0604020202020204" pitchFamily="34" charset="0"/>
              <a:buChar char="•"/>
            </a:pPr>
            <a:r>
              <a:rPr lang="es-ES" b="0" i="0" dirty="0">
                <a:solidFill>
                  <a:schemeClr val="bg1"/>
                </a:solidFill>
                <a:effectLst/>
                <a:latin typeface="+mj-lt"/>
              </a:rPr>
              <a:t>El intercambio de datos de resultados de laboratorios y observaciones clínicas.</a:t>
            </a:r>
          </a:p>
          <a:p>
            <a:pPr algn="l">
              <a:buFont typeface="Arial" panose="020B0604020202020204" pitchFamily="34" charset="0"/>
              <a:buChar char="•"/>
            </a:pPr>
            <a:r>
              <a:rPr lang="es-ES" b="0" i="0" dirty="0">
                <a:solidFill>
                  <a:schemeClr val="bg1"/>
                </a:solidFill>
                <a:effectLst/>
                <a:latin typeface="+mj-lt"/>
              </a:rPr>
              <a:t>El agrupamiento de prácticas.</a:t>
            </a:r>
          </a:p>
          <a:p>
            <a:pPr algn="l">
              <a:buFont typeface="Arial" panose="020B0604020202020204" pitchFamily="34" charset="0"/>
              <a:buChar char="•"/>
            </a:pPr>
            <a:r>
              <a:rPr lang="es-ES" b="0" i="0" dirty="0">
                <a:solidFill>
                  <a:schemeClr val="bg1"/>
                </a:solidFill>
                <a:effectLst/>
                <a:latin typeface="+mj-lt"/>
              </a:rPr>
              <a:t>Procesamiento de los resultados.</a:t>
            </a:r>
          </a:p>
        </p:txBody>
      </p:sp>
      <p:sp>
        <p:nvSpPr>
          <p:cNvPr id="4" name="Marcador de contenido 3">
            <a:extLst>
              <a:ext uri="{FF2B5EF4-FFF2-40B4-BE49-F238E27FC236}">
                <a16:creationId xmlns:a16="http://schemas.microsoft.com/office/drawing/2014/main" id="{7ACB452F-0D48-46F1-8241-6319A8D33A6D}"/>
              </a:ext>
            </a:extLst>
          </p:cNvPr>
          <p:cNvSpPr>
            <a:spLocks noGrp="1"/>
          </p:cNvSpPr>
          <p:nvPr>
            <p:ph sz="half" idx="2"/>
          </p:nvPr>
        </p:nvSpPr>
        <p:spPr/>
        <p:txBody>
          <a:bodyPr>
            <a:normAutofit fontScale="85000" lnSpcReduction="10000"/>
          </a:bodyPr>
          <a:lstStyle/>
          <a:p>
            <a:endParaRPr lang="es-US" dirty="0"/>
          </a:p>
        </p:txBody>
      </p:sp>
    </p:spTree>
    <p:extLst>
      <p:ext uri="{BB962C8B-B14F-4D97-AF65-F5344CB8AC3E}">
        <p14:creationId xmlns:p14="http://schemas.microsoft.com/office/powerpoint/2010/main" val="21194956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BBDFD2-AA38-4C3F-8F39-7E6A3AF215F8}"/>
              </a:ext>
            </a:extLst>
          </p:cNvPr>
          <p:cNvSpPr>
            <a:spLocks noGrp="1"/>
          </p:cNvSpPr>
          <p:nvPr>
            <p:ph type="title"/>
          </p:nvPr>
        </p:nvSpPr>
        <p:spPr/>
        <p:txBody>
          <a:bodyPr/>
          <a:lstStyle/>
          <a:p>
            <a:r>
              <a:rPr lang="es-ES" dirty="0"/>
              <a:t>La Telecirugía</a:t>
            </a:r>
            <a:endParaRPr lang="es-US" dirty="0"/>
          </a:p>
        </p:txBody>
      </p:sp>
      <p:sp>
        <p:nvSpPr>
          <p:cNvPr id="6" name="CuadroTexto 5">
            <a:extLst>
              <a:ext uri="{FF2B5EF4-FFF2-40B4-BE49-F238E27FC236}">
                <a16:creationId xmlns:a16="http://schemas.microsoft.com/office/drawing/2014/main" id="{A2F6EDEA-170E-4E9D-98A7-4B99B32EE2D2}"/>
              </a:ext>
            </a:extLst>
          </p:cNvPr>
          <p:cNvSpPr txBox="1"/>
          <p:nvPr/>
        </p:nvSpPr>
        <p:spPr>
          <a:xfrm>
            <a:off x="481083" y="2350533"/>
            <a:ext cx="10450773" cy="1200329"/>
          </a:xfrm>
          <a:prstGeom prst="rect">
            <a:avLst/>
          </a:prstGeom>
          <a:noFill/>
        </p:spPr>
        <p:txBody>
          <a:bodyPr wrap="square">
            <a:spAutoFit/>
          </a:bodyPr>
          <a:lstStyle/>
          <a:p>
            <a:r>
              <a:rPr lang="es-US" dirty="0">
                <a:solidFill>
                  <a:schemeClr val="bg1"/>
                </a:solidFill>
              </a:rPr>
              <a:t>La Telecirugía es aquella cirugía que se realiza a kilómetros de distancia, de un país a otro o de un continente a otro, usando las vías de telecomunicación (satélites, internet, </a:t>
            </a:r>
            <a:r>
              <a:rPr lang="es-US" dirty="0" err="1">
                <a:solidFill>
                  <a:schemeClr val="bg1"/>
                </a:solidFill>
              </a:rPr>
              <a:t>etc</a:t>
            </a:r>
            <a:r>
              <a:rPr lang="es-US" dirty="0">
                <a:solidFill>
                  <a:schemeClr val="bg1"/>
                </a:solidFill>
              </a:rPr>
              <a:t>) actuales. Para esta cirugía se utilizan cámaras de televisión, telecomunicación permanente y se puede asociar con la robótica.</a:t>
            </a:r>
          </a:p>
        </p:txBody>
      </p:sp>
      <p:sp>
        <p:nvSpPr>
          <p:cNvPr id="8" name="CuadroTexto 7">
            <a:extLst>
              <a:ext uri="{FF2B5EF4-FFF2-40B4-BE49-F238E27FC236}">
                <a16:creationId xmlns:a16="http://schemas.microsoft.com/office/drawing/2014/main" id="{B3BE2E53-546A-4153-8F93-527F6F10956B}"/>
              </a:ext>
            </a:extLst>
          </p:cNvPr>
          <p:cNvSpPr txBox="1"/>
          <p:nvPr/>
        </p:nvSpPr>
        <p:spPr>
          <a:xfrm>
            <a:off x="481083" y="3728956"/>
            <a:ext cx="10450772" cy="1200329"/>
          </a:xfrm>
          <a:prstGeom prst="rect">
            <a:avLst/>
          </a:prstGeom>
          <a:noFill/>
        </p:spPr>
        <p:txBody>
          <a:bodyPr wrap="square">
            <a:spAutoFit/>
          </a:bodyPr>
          <a:lstStyle/>
          <a:p>
            <a:r>
              <a:rPr lang="es-US" dirty="0">
                <a:solidFill>
                  <a:schemeClr val="bg1"/>
                </a:solidFill>
              </a:rPr>
              <a:t>Cuando se presenta una urgencia médica que implica cirugía el tiempo es un factor importante ya el consumo de mucho tiempo implica la muerte de una persona. Por tal razón no se debe perder dicho tiempo en el traslado del paciente a una unidad médica especializada o del doctor a lugar donde se encuentra el paciente. </a:t>
            </a:r>
          </a:p>
        </p:txBody>
      </p:sp>
      <p:sp>
        <p:nvSpPr>
          <p:cNvPr id="10" name="CuadroTexto 9">
            <a:extLst>
              <a:ext uri="{FF2B5EF4-FFF2-40B4-BE49-F238E27FC236}">
                <a16:creationId xmlns:a16="http://schemas.microsoft.com/office/drawing/2014/main" id="{CD94BA36-7DC0-4076-9966-C3C5C1EA2963}"/>
              </a:ext>
            </a:extLst>
          </p:cNvPr>
          <p:cNvSpPr txBox="1"/>
          <p:nvPr/>
        </p:nvSpPr>
        <p:spPr>
          <a:xfrm>
            <a:off x="481083" y="5107379"/>
            <a:ext cx="10218762" cy="923330"/>
          </a:xfrm>
          <a:prstGeom prst="rect">
            <a:avLst/>
          </a:prstGeom>
          <a:noFill/>
        </p:spPr>
        <p:txBody>
          <a:bodyPr wrap="square">
            <a:spAutoFit/>
          </a:bodyPr>
          <a:lstStyle/>
          <a:p>
            <a:r>
              <a:rPr lang="es-US" dirty="0">
                <a:solidFill>
                  <a:schemeClr val="bg1"/>
                </a:solidFill>
              </a:rPr>
              <a:t>La Telecirugía tiene la virtud de llevar la atención médica a áreas remotas donde se puede efectuar consultas quirúrgicas en tiempo real desde cualquier parte de la Tierra, incluso a través de conexiones vía satélite.</a:t>
            </a:r>
          </a:p>
        </p:txBody>
      </p:sp>
    </p:spTree>
    <p:extLst>
      <p:ext uri="{BB962C8B-B14F-4D97-AF65-F5344CB8AC3E}">
        <p14:creationId xmlns:p14="http://schemas.microsoft.com/office/powerpoint/2010/main" val="379588284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A718BC-F314-4134-82ED-3D490EC81E29}"/>
              </a:ext>
            </a:extLst>
          </p:cNvPr>
          <p:cNvSpPr>
            <a:spLocks noGrp="1"/>
          </p:cNvSpPr>
          <p:nvPr>
            <p:ph type="title"/>
          </p:nvPr>
        </p:nvSpPr>
        <p:spPr/>
        <p:txBody>
          <a:bodyPr/>
          <a:lstStyle/>
          <a:p>
            <a:r>
              <a:rPr lang="es-ES" dirty="0"/>
              <a:t>Tipos de Telecirugía</a:t>
            </a:r>
            <a:endParaRPr lang="es-US" dirty="0"/>
          </a:p>
        </p:txBody>
      </p:sp>
      <p:sp>
        <p:nvSpPr>
          <p:cNvPr id="7" name="CuadroTexto 6">
            <a:extLst>
              <a:ext uri="{FF2B5EF4-FFF2-40B4-BE49-F238E27FC236}">
                <a16:creationId xmlns:a16="http://schemas.microsoft.com/office/drawing/2014/main" id="{0E9C6A8D-1446-42DA-8586-B1D7B8FF8D66}"/>
              </a:ext>
            </a:extLst>
          </p:cNvPr>
          <p:cNvSpPr txBox="1"/>
          <p:nvPr/>
        </p:nvSpPr>
        <p:spPr>
          <a:xfrm>
            <a:off x="680321" y="2413337"/>
            <a:ext cx="5100851" cy="2308324"/>
          </a:xfrm>
          <a:prstGeom prst="rect">
            <a:avLst/>
          </a:prstGeom>
          <a:noFill/>
        </p:spPr>
        <p:txBody>
          <a:bodyPr wrap="square">
            <a:spAutoFit/>
          </a:bodyPr>
          <a:lstStyle/>
          <a:p>
            <a:r>
              <a:rPr lang="es-ES" b="1" i="0" dirty="0">
                <a:solidFill>
                  <a:srgbClr val="000000"/>
                </a:solidFill>
                <a:effectLst/>
                <a:latin typeface="Times New Roman" panose="02020603050405020304" pitchFamily="18" charset="0"/>
              </a:rPr>
              <a:t>La telecirugía asistida </a:t>
            </a:r>
            <a:r>
              <a:rPr lang="es-ES" b="0" i="0" dirty="0">
                <a:solidFill>
                  <a:srgbClr val="000000"/>
                </a:solidFill>
                <a:effectLst/>
                <a:latin typeface="Times New Roman" panose="02020603050405020304" pitchFamily="18" charset="0"/>
              </a:rPr>
              <a:t>permite, mediante una comunicación permanente por televisión entre el experto y el cirujano que está realizando la operación, aconsejar y dirigir los gestos que se han de realizar en cada momento para el buen éxito de la operación. Permite utilizar como ayudante mediante sus consejos, a un cirujano prestigiado al cual no tendríamos posibilidad de utilizar.</a:t>
            </a:r>
            <a:endParaRPr lang="es-US" dirty="0"/>
          </a:p>
        </p:txBody>
      </p:sp>
      <p:sp>
        <p:nvSpPr>
          <p:cNvPr id="9" name="CuadroTexto 8">
            <a:extLst>
              <a:ext uri="{FF2B5EF4-FFF2-40B4-BE49-F238E27FC236}">
                <a16:creationId xmlns:a16="http://schemas.microsoft.com/office/drawing/2014/main" id="{6D8B2A13-0204-435A-A5D2-0A211AAF1906}"/>
              </a:ext>
            </a:extLst>
          </p:cNvPr>
          <p:cNvSpPr txBox="1"/>
          <p:nvPr/>
        </p:nvSpPr>
        <p:spPr>
          <a:xfrm>
            <a:off x="6778388" y="2413337"/>
            <a:ext cx="4590197" cy="2554545"/>
          </a:xfrm>
          <a:prstGeom prst="rect">
            <a:avLst/>
          </a:prstGeom>
          <a:noFill/>
        </p:spPr>
        <p:txBody>
          <a:bodyPr wrap="square">
            <a:spAutoFit/>
          </a:bodyPr>
          <a:lstStyle/>
          <a:p>
            <a:r>
              <a:rPr lang="es-ES" sz="2000" b="1" i="0" dirty="0">
                <a:solidFill>
                  <a:srgbClr val="000000"/>
                </a:solidFill>
                <a:effectLst/>
                <a:latin typeface="Times New Roman" panose="02020603050405020304" pitchFamily="18" charset="0"/>
              </a:rPr>
              <a:t>La telerrobótica</a:t>
            </a:r>
            <a:r>
              <a:rPr lang="es-ES" sz="2000" b="0" i="0" dirty="0">
                <a:solidFill>
                  <a:srgbClr val="000000"/>
                </a:solidFill>
                <a:effectLst/>
                <a:latin typeface="Times New Roman" panose="02020603050405020304" pitchFamily="18" charset="0"/>
              </a:rPr>
              <a:t>, permite a un cirujano situado a miles de kilómetros, dar las órdenes precisas a un robot para que realice la operación que se requiere. El robot reproduce en cada momento los gestos que el cirujano le está indicando. La telecirugía permite realizar operaciones a distancia.</a:t>
            </a:r>
            <a:endParaRPr lang="es-US" sz="2000" dirty="0"/>
          </a:p>
        </p:txBody>
      </p:sp>
    </p:spTree>
    <p:extLst>
      <p:ext uri="{BB962C8B-B14F-4D97-AF65-F5344CB8AC3E}">
        <p14:creationId xmlns:p14="http://schemas.microsoft.com/office/powerpoint/2010/main" val="60053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7C8D3D-0E41-4906-9796-645C4A7E047A}"/>
              </a:ext>
            </a:extLst>
          </p:cNvPr>
          <p:cNvSpPr>
            <a:spLocks noGrp="1"/>
          </p:cNvSpPr>
          <p:nvPr>
            <p:ph type="title"/>
          </p:nvPr>
        </p:nvSpPr>
        <p:spPr/>
        <p:txBody>
          <a:bodyPr/>
          <a:lstStyle/>
          <a:p>
            <a:r>
              <a:rPr lang="es-US" b="1" i="0" dirty="0">
                <a:effectLst/>
              </a:rPr>
              <a:t>Ventajas de la </a:t>
            </a:r>
            <a:r>
              <a:rPr lang="es-US" b="1" i="0" dirty="0" err="1">
                <a:effectLst/>
              </a:rPr>
              <a:t>Telecirugia</a:t>
            </a:r>
            <a:br>
              <a:rPr lang="es-US" b="1" i="0" dirty="0">
                <a:effectLst/>
              </a:rPr>
            </a:br>
            <a:endParaRPr lang="es-US" dirty="0"/>
          </a:p>
        </p:txBody>
      </p:sp>
      <p:sp>
        <p:nvSpPr>
          <p:cNvPr id="6" name="CuadroTexto 5">
            <a:extLst>
              <a:ext uri="{FF2B5EF4-FFF2-40B4-BE49-F238E27FC236}">
                <a16:creationId xmlns:a16="http://schemas.microsoft.com/office/drawing/2014/main" id="{99C9B091-D399-477F-8AE9-9DEBE7CA7730}"/>
              </a:ext>
            </a:extLst>
          </p:cNvPr>
          <p:cNvSpPr txBox="1"/>
          <p:nvPr/>
        </p:nvSpPr>
        <p:spPr>
          <a:xfrm>
            <a:off x="576617" y="2513296"/>
            <a:ext cx="11146810" cy="3785652"/>
          </a:xfrm>
          <a:prstGeom prst="rect">
            <a:avLst/>
          </a:prstGeom>
          <a:noFill/>
        </p:spPr>
        <p:txBody>
          <a:bodyPr wrap="square">
            <a:spAutoFit/>
          </a:bodyPr>
          <a:lstStyle/>
          <a:p>
            <a:pPr marL="285750" indent="-285750">
              <a:buFont typeface="Arial" panose="020B0604020202020204" pitchFamily="34" charset="0"/>
              <a:buChar char="•"/>
            </a:pPr>
            <a:r>
              <a:rPr lang="es-ES" sz="1600" b="0" i="0" dirty="0">
                <a:solidFill>
                  <a:srgbClr val="000000"/>
                </a:solidFill>
                <a:effectLst/>
                <a:latin typeface="+mj-lt"/>
              </a:rPr>
              <a:t> Se sustituyen las técnicas convencionales por técnicas menos invasivas. </a:t>
            </a:r>
            <a:endParaRPr lang="es-ES" sz="1600" dirty="0">
              <a:solidFill>
                <a:srgbClr val="000000"/>
              </a:solidFill>
              <a:latin typeface="+mj-lt"/>
            </a:endParaRPr>
          </a:p>
          <a:p>
            <a:pPr marL="285750" indent="-285750">
              <a:buFont typeface="Arial" panose="020B0604020202020204" pitchFamily="34" charset="0"/>
              <a:buChar char="•"/>
            </a:pPr>
            <a:r>
              <a:rPr lang="es-ES" sz="1600" b="0" i="0" dirty="0">
                <a:solidFill>
                  <a:srgbClr val="000000"/>
                </a:solidFill>
                <a:effectLst/>
                <a:latin typeface="+mj-lt"/>
              </a:rPr>
              <a:t> El paciente corre menos riesgos en el momento de la operación. </a:t>
            </a:r>
          </a:p>
          <a:p>
            <a:pPr marL="285750" indent="-285750">
              <a:buFont typeface="Arial" panose="020B0604020202020204" pitchFamily="34" charset="0"/>
              <a:buChar char="•"/>
            </a:pPr>
            <a:r>
              <a:rPr lang="es-ES" sz="1600" b="0" i="0" dirty="0">
                <a:solidFill>
                  <a:srgbClr val="000000"/>
                </a:solidFill>
                <a:effectLst/>
                <a:latin typeface="+mj-lt"/>
              </a:rPr>
              <a:t> Se reduce la pérdida de sangre y las cicatrices son más pequeñas.</a:t>
            </a:r>
          </a:p>
          <a:p>
            <a:pPr marL="285750" indent="-285750">
              <a:buFont typeface="Arial" panose="020B0604020202020204" pitchFamily="34" charset="0"/>
              <a:buChar char="•"/>
            </a:pPr>
            <a:r>
              <a:rPr lang="es-ES" sz="1600" b="0" i="0" dirty="0">
                <a:solidFill>
                  <a:srgbClr val="000000"/>
                </a:solidFill>
                <a:effectLst/>
                <a:latin typeface="+mj-lt"/>
              </a:rPr>
              <a:t> El uso de medicamentos para el dolor se reduce, y por ende los efectos secundarios sobre el paciente.</a:t>
            </a:r>
          </a:p>
          <a:p>
            <a:pPr marL="285750" indent="-285750">
              <a:buFont typeface="Arial" panose="020B0604020202020204" pitchFamily="34" charset="0"/>
              <a:buChar char="•"/>
            </a:pPr>
            <a:r>
              <a:rPr lang="es-ES" sz="1600" b="0" i="0" dirty="0">
                <a:solidFill>
                  <a:srgbClr val="000000"/>
                </a:solidFill>
                <a:effectLst/>
                <a:latin typeface="+mj-lt"/>
              </a:rPr>
              <a:t> Las molestias postoperatorias son menores, reduciendo así la estancia del paciente en el hospital y acelerando la recuperación y la vuelta a la normalidad del paciente en su vida diaria.</a:t>
            </a:r>
          </a:p>
          <a:p>
            <a:pPr marL="285750" indent="-285750">
              <a:buFont typeface="Arial" panose="020B0604020202020204" pitchFamily="34" charset="0"/>
              <a:buChar char="•"/>
            </a:pPr>
            <a:r>
              <a:rPr lang="es-ES" sz="1600" b="0" i="0" dirty="0">
                <a:solidFill>
                  <a:srgbClr val="000000"/>
                </a:solidFill>
                <a:effectLst/>
                <a:latin typeface="+mj-lt"/>
              </a:rPr>
              <a:t>La reproductividad mecánica de los gestos, la precisión en los mismos</a:t>
            </a:r>
            <a:r>
              <a:rPr lang="es-US" sz="1600" dirty="0">
                <a:solidFill>
                  <a:srgbClr val="000000"/>
                </a:solidFill>
                <a:latin typeface="+mj-lt"/>
              </a:rPr>
              <a:t>, </a:t>
            </a:r>
            <a:r>
              <a:rPr lang="es-ES" sz="1600" b="0" i="0" dirty="0">
                <a:solidFill>
                  <a:srgbClr val="000000"/>
                </a:solidFill>
                <a:effectLst/>
                <a:latin typeface="+mj-lt"/>
              </a:rPr>
              <a:t>sincronizado de los movimientos del robot con el ritmo de corazón del paciente, lo que permite realizar operaciones a corazón abierto sin tener que parar y posteriormente tener que volver a poner en marcha el corazón del paciente, eliminando uno de los riesgos de la cirugía cardíaca por ejemplo.</a:t>
            </a:r>
          </a:p>
          <a:p>
            <a:pPr marL="285750" indent="-285750">
              <a:buFont typeface="Arial" panose="020B0604020202020204" pitchFamily="34" charset="0"/>
              <a:buChar char="•"/>
            </a:pPr>
            <a:r>
              <a:rPr lang="es-ES" sz="1600" b="0" i="0" dirty="0">
                <a:solidFill>
                  <a:srgbClr val="000000"/>
                </a:solidFill>
                <a:effectLst/>
                <a:latin typeface="+mj-lt"/>
              </a:rPr>
              <a:t>la eliminación del cansancio o fatiga corporal del cirujano en largas intervenciones.</a:t>
            </a:r>
          </a:p>
          <a:p>
            <a:pPr marL="285750" indent="-285750">
              <a:buFont typeface="Arial" panose="020B0604020202020204" pitchFamily="34" charset="0"/>
              <a:buChar char="•"/>
            </a:pPr>
            <a:endParaRPr lang="es-ES" sz="1400" b="1" dirty="0">
              <a:solidFill>
                <a:srgbClr val="000000"/>
              </a:solidFill>
              <a:latin typeface="+mj-lt"/>
            </a:endParaRPr>
          </a:p>
          <a:p>
            <a:r>
              <a:rPr lang="es-ES" sz="1400" b="1" i="0" dirty="0">
                <a:solidFill>
                  <a:srgbClr val="000000"/>
                </a:solidFill>
                <a:effectLst/>
                <a:latin typeface="Times New Roman" panose="02020603050405020304" pitchFamily="18" charset="0"/>
              </a:rPr>
              <a:t>La aplicación de los sensores de calor y de color a la detección y localización de células tumorales, su posterior eliminación selectiva por sistemas de vibración, vaporización, por microondas o drogas, utilizando la microcirugía o cirugía si abrir, revolucionarán el concepto de la cirugía oncológica en los próximos años.</a:t>
            </a:r>
            <a:endParaRPr lang="es-ES" sz="1400" b="1" i="0" dirty="0">
              <a:solidFill>
                <a:srgbClr val="000000"/>
              </a:solidFill>
              <a:effectLst/>
              <a:latin typeface="+mj-lt"/>
            </a:endParaRPr>
          </a:p>
        </p:txBody>
      </p:sp>
    </p:spTree>
    <p:extLst>
      <p:ext uri="{BB962C8B-B14F-4D97-AF65-F5344CB8AC3E}">
        <p14:creationId xmlns:p14="http://schemas.microsoft.com/office/powerpoint/2010/main" val="92442713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41EEB5-7603-4C41-A1FB-704A9504B658}"/>
              </a:ext>
            </a:extLst>
          </p:cNvPr>
          <p:cNvSpPr>
            <a:spLocks noGrp="1"/>
          </p:cNvSpPr>
          <p:nvPr>
            <p:ph type="title"/>
          </p:nvPr>
        </p:nvSpPr>
        <p:spPr/>
        <p:txBody>
          <a:bodyPr/>
          <a:lstStyle/>
          <a:p>
            <a:r>
              <a:rPr lang="es-ES" dirty="0"/>
              <a:t>La telerrobótica en el ambiente académico</a:t>
            </a:r>
            <a:br>
              <a:rPr lang="es-ES" dirty="0"/>
            </a:br>
            <a:endParaRPr lang="es-US" dirty="0"/>
          </a:p>
        </p:txBody>
      </p:sp>
      <p:sp>
        <p:nvSpPr>
          <p:cNvPr id="6" name="CuadroTexto 5">
            <a:extLst>
              <a:ext uri="{FF2B5EF4-FFF2-40B4-BE49-F238E27FC236}">
                <a16:creationId xmlns:a16="http://schemas.microsoft.com/office/drawing/2014/main" id="{C584B042-D5D9-42A4-BA15-E58A1487E1C3}"/>
              </a:ext>
            </a:extLst>
          </p:cNvPr>
          <p:cNvSpPr txBox="1"/>
          <p:nvPr/>
        </p:nvSpPr>
        <p:spPr>
          <a:xfrm>
            <a:off x="535675" y="2160432"/>
            <a:ext cx="10614546" cy="1908215"/>
          </a:xfrm>
          <a:prstGeom prst="rect">
            <a:avLst/>
          </a:prstGeom>
          <a:noFill/>
        </p:spPr>
        <p:txBody>
          <a:bodyPr wrap="square">
            <a:spAutoFit/>
          </a:bodyPr>
          <a:lstStyle/>
          <a:p>
            <a:r>
              <a:rPr lang="es-US" b="1" dirty="0">
                <a:solidFill>
                  <a:schemeClr val="bg1"/>
                </a:solidFill>
              </a:rPr>
              <a:t>La cirugía robótica está cambiando la forma de enseñar y aprender a operar ya que permite la práctica con modelos virtuales tridimensionales en lugar de pacientes. </a:t>
            </a:r>
          </a:p>
          <a:p>
            <a:endParaRPr lang="es-US" b="1" dirty="0">
              <a:solidFill>
                <a:schemeClr val="bg1"/>
              </a:solidFill>
            </a:endParaRPr>
          </a:p>
          <a:p>
            <a:r>
              <a:rPr lang="es-ES" sz="1600" dirty="0">
                <a:solidFill>
                  <a:schemeClr val="bg1"/>
                </a:solidFill>
              </a:rPr>
              <a:t>Es decir los cirujanos pueden usar robots quirúrgicos para practicar operaciones con simuladores tridimensionales de realidad virtual, de tal manera que así como los pilotos entrenan en simuladores virtuales antes de tomar la responsabilidad de volar un avión lleno de pasajeros, los cirujanos ahora pueden practicar varias veces una cirugía hasta lograr hacerla mejor y más segura.</a:t>
            </a:r>
            <a:endParaRPr lang="es-US" sz="1600" dirty="0">
              <a:solidFill>
                <a:schemeClr val="bg1"/>
              </a:solidFill>
            </a:endParaRPr>
          </a:p>
        </p:txBody>
      </p:sp>
      <p:pic>
        <p:nvPicPr>
          <p:cNvPr id="12290" name="Picture 2" descr="Una modalidad de “telementoring” médico se expande por América Latina -  Diario Salud">
            <a:extLst>
              <a:ext uri="{FF2B5EF4-FFF2-40B4-BE49-F238E27FC236}">
                <a16:creationId xmlns:a16="http://schemas.microsoft.com/office/drawing/2014/main" id="{87DAFFB8-938C-43BB-956C-91CB1A00B6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9216" y="4264002"/>
            <a:ext cx="4762500" cy="2124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890591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57E6BA-82BF-4C47-B902-4923F33F8947}"/>
              </a:ext>
            </a:extLst>
          </p:cNvPr>
          <p:cNvSpPr>
            <a:spLocks noGrp="1"/>
          </p:cNvSpPr>
          <p:nvPr>
            <p:ph type="title"/>
          </p:nvPr>
        </p:nvSpPr>
        <p:spPr/>
        <p:txBody>
          <a:bodyPr/>
          <a:lstStyle/>
          <a:p>
            <a:r>
              <a:rPr lang="es-ES" dirty="0"/>
              <a:t>Historia </a:t>
            </a:r>
            <a:endParaRPr lang="es-US" dirty="0"/>
          </a:p>
        </p:txBody>
      </p:sp>
      <p:sp>
        <p:nvSpPr>
          <p:cNvPr id="7" name="AutoShape 2" descr="ZEUS y Da Vinci: Presente y futuro de la cirugía – CUADERNOS DE ROBÓTICA">
            <a:extLst>
              <a:ext uri="{FF2B5EF4-FFF2-40B4-BE49-F238E27FC236}">
                <a16:creationId xmlns:a16="http://schemas.microsoft.com/office/drawing/2014/main" id="{9802D90F-1BF7-447F-B2E8-1FFFCACE2E5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US"/>
          </a:p>
        </p:txBody>
      </p:sp>
      <p:pic>
        <p:nvPicPr>
          <p:cNvPr id="3" name="Imagen 2">
            <a:extLst>
              <a:ext uri="{FF2B5EF4-FFF2-40B4-BE49-F238E27FC236}">
                <a16:creationId xmlns:a16="http://schemas.microsoft.com/office/drawing/2014/main" id="{921257C4-BA6B-43BC-8F4B-E1BE0CCB7FD2}"/>
              </a:ext>
            </a:extLst>
          </p:cNvPr>
          <p:cNvPicPr>
            <a:picLocks noChangeAspect="1"/>
          </p:cNvPicPr>
          <p:nvPr/>
        </p:nvPicPr>
        <p:blipFill>
          <a:blip r:embed="rId2"/>
          <a:stretch>
            <a:fillRect/>
          </a:stretch>
        </p:blipFill>
        <p:spPr>
          <a:xfrm>
            <a:off x="1028700" y="2559310"/>
            <a:ext cx="10439400" cy="3895725"/>
          </a:xfrm>
          <a:prstGeom prst="rect">
            <a:avLst/>
          </a:prstGeom>
        </p:spPr>
      </p:pic>
    </p:spTree>
    <p:extLst>
      <p:ext uri="{BB962C8B-B14F-4D97-AF65-F5344CB8AC3E}">
        <p14:creationId xmlns:p14="http://schemas.microsoft.com/office/powerpoint/2010/main" val="94147117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57E6BA-82BF-4C47-B902-4923F33F8947}"/>
              </a:ext>
            </a:extLst>
          </p:cNvPr>
          <p:cNvSpPr>
            <a:spLocks noGrp="1"/>
          </p:cNvSpPr>
          <p:nvPr>
            <p:ph type="title"/>
          </p:nvPr>
        </p:nvSpPr>
        <p:spPr/>
        <p:txBody>
          <a:bodyPr/>
          <a:lstStyle/>
          <a:p>
            <a:r>
              <a:rPr lang="es-ES" dirty="0"/>
              <a:t>Historia </a:t>
            </a:r>
            <a:endParaRPr lang="es-US" dirty="0"/>
          </a:p>
        </p:txBody>
      </p:sp>
      <p:sp>
        <p:nvSpPr>
          <p:cNvPr id="6" name="CuadroTexto 5">
            <a:extLst>
              <a:ext uri="{FF2B5EF4-FFF2-40B4-BE49-F238E27FC236}">
                <a16:creationId xmlns:a16="http://schemas.microsoft.com/office/drawing/2014/main" id="{D57167AE-FCC3-4F7F-8C43-B651268B8158}"/>
              </a:ext>
            </a:extLst>
          </p:cNvPr>
          <p:cNvSpPr txBox="1"/>
          <p:nvPr/>
        </p:nvSpPr>
        <p:spPr>
          <a:xfrm>
            <a:off x="680321" y="2405062"/>
            <a:ext cx="7549279" cy="830997"/>
          </a:xfrm>
          <a:prstGeom prst="rect">
            <a:avLst/>
          </a:prstGeom>
          <a:noFill/>
        </p:spPr>
        <p:txBody>
          <a:bodyPr wrap="square">
            <a:spAutoFit/>
          </a:bodyPr>
          <a:lstStyle/>
          <a:p>
            <a:r>
              <a:rPr lang="es-ES" sz="1600" b="0" i="0" dirty="0">
                <a:solidFill>
                  <a:srgbClr val="232323"/>
                </a:solidFill>
                <a:effectLst/>
                <a:latin typeface="+mj-lt"/>
              </a:rPr>
              <a:t>El primer uso documentado de un robot de asistencia en la técnica quirúrgica ocurrió en 1985 cuando el brazo robótico del PUMA 560, fue utilizado en una biopsia delicada neurocirugía, la cirugía non-laparoscópica.</a:t>
            </a:r>
            <a:endParaRPr lang="es-US" sz="1600" dirty="0">
              <a:latin typeface="+mj-lt"/>
            </a:endParaRPr>
          </a:p>
        </p:txBody>
      </p:sp>
      <p:sp>
        <p:nvSpPr>
          <p:cNvPr id="7" name="AutoShape 2" descr="ZEUS y Da Vinci: Presente y futuro de la cirugía – CUADERNOS DE ROBÓTICA">
            <a:extLst>
              <a:ext uri="{FF2B5EF4-FFF2-40B4-BE49-F238E27FC236}">
                <a16:creationId xmlns:a16="http://schemas.microsoft.com/office/drawing/2014/main" id="{9802D90F-1BF7-447F-B2E8-1FFFCACE2E5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US"/>
          </a:p>
        </p:txBody>
      </p:sp>
      <p:pic>
        <p:nvPicPr>
          <p:cNvPr id="13316" name="Picture 4" descr="ZEUS y Da Vinci: Presente y futuro de la cirugía – CUADERNOS DE ROBÓTICA">
            <a:extLst>
              <a:ext uri="{FF2B5EF4-FFF2-40B4-BE49-F238E27FC236}">
                <a16:creationId xmlns:a16="http://schemas.microsoft.com/office/drawing/2014/main" id="{DB3F318E-9E22-48FC-9690-999FDFDBF4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89573" y="2405062"/>
            <a:ext cx="2619375" cy="1743075"/>
          </a:xfrm>
          <a:prstGeom prst="rect">
            <a:avLst/>
          </a:prstGeom>
          <a:noFill/>
          <a:extLst>
            <a:ext uri="{909E8E84-426E-40DD-AFC4-6F175D3DCCD1}">
              <a14:hiddenFill xmlns:a14="http://schemas.microsoft.com/office/drawing/2010/main">
                <a:solidFill>
                  <a:srgbClr val="FFFFFF"/>
                </a:solidFill>
              </a14:hiddenFill>
            </a:ext>
          </a:extLst>
        </p:spPr>
      </p:pic>
      <p:sp>
        <p:nvSpPr>
          <p:cNvPr id="10" name="CuadroTexto 9">
            <a:extLst>
              <a:ext uri="{FF2B5EF4-FFF2-40B4-BE49-F238E27FC236}">
                <a16:creationId xmlns:a16="http://schemas.microsoft.com/office/drawing/2014/main" id="{F607E712-6010-4D7F-80D3-3B3F6967C5F1}"/>
              </a:ext>
            </a:extLst>
          </p:cNvPr>
          <p:cNvSpPr txBox="1"/>
          <p:nvPr/>
        </p:nvSpPr>
        <p:spPr>
          <a:xfrm>
            <a:off x="680320" y="4747182"/>
            <a:ext cx="7549279" cy="830997"/>
          </a:xfrm>
          <a:prstGeom prst="rect">
            <a:avLst/>
          </a:prstGeom>
          <a:noFill/>
        </p:spPr>
        <p:txBody>
          <a:bodyPr wrap="square">
            <a:spAutoFit/>
          </a:bodyPr>
          <a:lstStyle/>
          <a:p>
            <a:r>
              <a:rPr lang="es-ES" sz="1600" i="0" dirty="0">
                <a:solidFill>
                  <a:srgbClr val="232323"/>
                </a:solidFill>
                <a:effectLst/>
                <a:latin typeface="+mj-lt"/>
              </a:rPr>
              <a:t>En 1992 el sistema AESOP producido por </a:t>
            </a:r>
            <a:r>
              <a:rPr lang="es-ES" sz="1600" i="0" dirty="0" err="1">
                <a:solidFill>
                  <a:srgbClr val="232323"/>
                </a:solidFill>
                <a:effectLst/>
                <a:latin typeface="+mj-lt"/>
              </a:rPr>
              <a:t>Computer</a:t>
            </a:r>
            <a:r>
              <a:rPr lang="es-ES" sz="1600" i="0" dirty="0">
                <a:solidFill>
                  <a:srgbClr val="232323"/>
                </a:solidFill>
                <a:effectLst/>
                <a:latin typeface="+mj-lt"/>
              </a:rPr>
              <a:t> </a:t>
            </a:r>
            <a:r>
              <a:rPr lang="es-ES" sz="1600" i="0" dirty="0" err="1">
                <a:solidFill>
                  <a:srgbClr val="232323"/>
                </a:solidFill>
                <a:effectLst/>
                <a:latin typeface="+mj-lt"/>
              </a:rPr>
              <a:t>Motion</a:t>
            </a:r>
            <a:r>
              <a:rPr lang="es-ES" sz="1600" i="0" dirty="0">
                <a:solidFill>
                  <a:srgbClr val="232323"/>
                </a:solidFill>
                <a:effectLst/>
                <a:latin typeface="+mj-lt"/>
              </a:rPr>
              <a:t> se convirtió en el primer sistema aprobado por la Administración de Alimentos y Medicamentos (FDA) para su procedimiento quirúrgico endoscópico.</a:t>
            </a:r>
            <a:endParaRPr lang="es-US" sz="1600" dirty="0">
              <a:latin typeface="+mj-lt"/>
            </a:endParaRPr>
          </a:p>
        </p:txBody>
      </p:sp>
      <p:sp>
        <p:nvSpPr>
          <p:cNvPr id="12" name="CuadroTexto 11">
            <a:extLst>
              <a:ext uri="{FF2B5EF4-FFF2-40B4-BE49-F238E27FC236}">
                <a16:creationId xmlns:a16="http://schemas.microsoft.com/office/drawing/2014/main" id="{63E5E1AF-30E1-43CA-8F2C-6AA615FD1AF1}"/>
              </a:ext>
            </a:extLst>
          </p:cNvPr>
          <p:cNvSpPr txBox="1"/>
          <p:nvPr/>
        </p:nvSpPr>
        <p:spPr>
          <a:xfrm>
            <a:off x="680320" y="3806955"/>
            <a:ext cx="6093724" cy="584775"/>
          </a:xfrm>
          <a:prstGeom prst="rect">
            <a:avLst/>
          </a:prstGeom>
          <a:noFill/>
        </p:spPr>
        <p:txBody>
          <a:bodyPr wrap="square">
            <a:spAutoFit/>
          </a:bodyPr>
          <a:lstStyle/>
          <a:p>
            <a:r>
              <a:rPr lang="es-US" sz="1600" dirty="0">
                <a:solidFill>
                  <a:schemeClr val="bg1"/>
                </a:solidFill>
              </a:rPr>
              <a:t>1988: El Imperial </a:t>
            </a:r>
            <a:r>
              <a:rPr lang="es-US" sz="1600" dirty="0" err="1">
                <a:solidFill>
                  <a:schemeClr val="bg1"/>
                </a:solidFill>
              </a:rPr>
              <a:t>College</a:t>
            </a:r>
            <a:r>
              <a:rPr lang="es-US" sz="1600" dirty="0">
                <a:solidFill>
                  <a:schemeClr val="bg1"/>
                </a:solidFill>
              </a:rPr>
              <a:t> London desarrolla el PROBOT, que sería utilizado en una cirugía prostática.</a:t>
            </a:r>
          </a:p>
        </p:txBody>
      </p:sp>
      <p:pic>
        <p:nvPicPr>
          <p:cNvPr id="14338" name="Picture 2" descr="Probot | Research groups | Imperial College London">
            <a:extLst>
              <a:ext uri="{FF2B5EF4-FFF2-40B4-BE49-F238E27FC236}">
                <a16:creationId xmlns:a16="http://schemas.microsoft.com/office/drawing/2014/main" id="{BAD4ABCF-2D56-404B-926D-3E3EBCF6DA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9135" y="4379622"/>
            <a:ext cx="2000250" cy="228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693069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57E6BA-82BF-4C47-B902-4923F33F8947}"/>
              </a:ext>
            </a:extLst>
          </p:cNvPr>
          <p:cNvSpPr>
            <a:spLocks noGrp="1"/>
          </p:cNvSpPr>
          <p:nvPr>
            <p:ph type="title"/>
          </p:nvPr>
        </p:nvSpPr>
        <p:spPr/>
        <p:txBody>
          <a:bodyPr/>
          <a:lstStyle/>
          <a:p>
            <a:r>
              <a:rPr lang="es-ES" dirty="0"/>
              <a:t>Historia </a:t>
            </a:r>
            <a:endParaRPr lang="es-US" dirty="0"/>
          </a:p>
        </p:txBody>
      </p:sp>
      <p:sp>
        <p:nvSpPr>
          <p:cNvPr id="7" name="AutoShape 2" descr="ZEUS y Da Vinci: Presente y futuro de la cirugía – CUADERNOS DE ROBÓTICA">
            <a:extLst>
              <a:ext uri="{FF2B5EF4-FFF2-40B4-BE49-F238E27FC236}">
                <a16:creationId xmlns:a16="http://schemas.microsoft.com/office/drawing/2014/main" id="{9802D90F-1BF7-447F-B2E8-1FFFCACE2E5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US"/>
          </a:p>
        </p:txBody>
      </p:sp>
      <p:sp>
        <p:nvSpPr>
          <p:cNvPr id="16" name="CuadroTexto 15">
            <a:extLst>
              <a:ext uri="{FF2B5EF4-FFF2-40B4-BE49-F238E27FC236}">
                <a16:creationId xmlns:a16="http://schemas.microsoft.com/office/drawing/2014/main" id="{B49B03AB-C51D-440B-8383-7DCF31DB4FF2}"/>
              </a:ext>
            </a:extLst>
          </p:cNvPr>
          <p:cNvSpPr txBox="1"/>
          <p:nvPr/>
        </p:nvSpPr>
        <p:spPr>
          <a:xfrm>
            <a:off x="680321" y="2383388"/>
            <a:ext cx="5966139" cy="3662541"/>
          </a:xfrm>
          <a:prstGeom prst="rect">
            <a:avLst/>
          </a:prstGeom>
          <a:noFill/>
        </p:spPr>
        <p:txBody>
          <a:bodyPr wrap="square">
            <a:spAutoFit/>
          </a:bodyPr>
          <a:lstStyle/>
          <a:p>
            <a:r>
              <a:rPr lang="es-US" dirty="0">
                <a:solidFill>
                  <a:schemeClr val="bg1"/>
                </a:solidFill>
              </a:rPr>
              <a:t>1998: Se lanza el sistema ZEUS, con el cual se introdujo el concepto de </a:t>
            </a:r>
            <a:r>
              <a:rPr lang="es-US" dirty="0" err="1">
                <a:solidFill>
                  <a:schemeClr val="bg1"/>
                </a:solidFill>
              </a:rPr>
              <a:t>telerobótica</a:t>
            </a:r>
            <a:r>
              <a:rPr lang="es-US" dirty="0">
                <a:solidFill>
                  <a:schemeClr val="bg1"/>
                </a:solidFill>
              </a:rPr>
              <a:t> o telepresencia en la cirugía robótica, está compuesto de: </a:t>
            </a:r>
          </a:p>
          <a:p>
            <a:endParaRPr lang="es-US" dirty="0">
              <a:solidFill>
                <a:schemeClr val="bg1"/>
              </a:solidFill>
            </a:endParaRPr>
          </a:p>
          <a:p>
            <a:pPr marL="285750" indent="-285750">
              <a:buFont typeface="Arial" panose="020B0604020202020204" pitchFamily="34" charset="0"/>
              <a:buChar char="•"/>
            </a:pPr>
            <a:r>
              <a:rPr lang="es-US" sz="1600" dirty="0">
                <a:solidFill>
                  <a:schemeClr val="bg1"/>
                </a:solidFill>
              </a:rPr>
              <a:t>Una consola de control para el cirujano con un sistema de video tridimensional que proyecta imágenes desde una determinada distancia  </a:t>
            </a:r>
          </a:p>
          <a:p>
            <a:pPr marL="285750" indent="-285750">
              <a:buFont typeface="Arial" panose="020B0604020202020204" pitchFamily="34" charset="0"/>
              <a:buChar char="•"/>
            </a:pPr>
            <a:endParaRPr lang="es-US" sz="1600" dirty="0">
              <a:solidFill>
                <a:schemeClr val="bg1"/>
              </a:solidFill>
            </a:endParaRPr>
          </a:p>
          <a:p>
            <a:pPr marL="285750" indent="-285750">
              <a:buFont typeface="Arial" panose="020B0604020202020204" pitchFamily="34" charset="0"/>
              <a:buChar char="•"/>
            </a:pPr>
            <a:r>
              <a:rPr lang="es-US" sz="1600" dirty="0">
                <a:solidFill>
                  <a:schemeClr val="bg1"/>
                </a:solidFill>
              </a:rPr>
              <a:t>Una mesa operatoria con tres brazos robóticos con cuatro rangos de movimiento. </a:t>
            </a:r>
          </a:p>
          <a:p>
            <a:pPr marL="285750" indent="-285750">
              <a:buFont typeface="Arial" panose="020B0604020202020204" pitchFamily="34" charset="0"/>
              <a:buChar char="•"/>
            </a:pPr>
            <a:endParaRPr lang="es-US" sz="1600" dirty="0">
              <a:solidFill>
                <a:schemeClr val="bg1"/>
              </a:solidFill>
            </a:endParaRPr>
          </a:p>
          <a:p>
            <a:pPr marL="285750" indent="-285750">
              <a:buFont typeface="Arial" panose="020B0604020202020204" pitchFamily="34" charset="0"/>
              <a:buChar char="•"/>
            </a:pPr>
            <a:r>
              <a:rPr lang="es-US" sz="1600" dirty="0">
                <a:solidFill>
                  <a:schemeClr val="bg1"/>
                </a:solidFill>
              </a:rPr>
              <a:t> Los brazos derecho e izquierdo simulan los brazos del cirujano, mientras que el tercer brazo es un endoscopio robótico AESOP controlado por voz.</a:t>
            </a:r>
          </a:p>
        </p:txBody>
      </p:sp>
      <p:sp>
        <p:nvSpPr>
          <p:cNvPr id="15" name="AutoShape 6" descr="1: Zeus Robotic Surgical System [1] | Download Scientific Diagram">
            <a:extLst>
              <a:ext uri="{FF2B5EF4-FFF2-40B4-BE49-F238E27FC236}">
                <a16:creationId xmlns:a16="http://schemas.microsoft.com/office/drawing/2014/main" id="{B591F2BE-AF16-461F-A237-C4D98D095555}"/>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US"/>
          </a:p>
        </p:txBody>
      </p:sp>
      <p:pic>
        <p:nvPicPr>
          <p:cNvPr id="13320" name="Picture 8" descr="1: Zeus Robotic Surgical System [1] | Download Scientific Diagram">
            <a:extLst>
              <a:ext uri="{FF2B5EF4-FFF2-40B4-BE49-F238E27FC236}">
                <a16:creationId xmlns:a16="http://schemas.microsoft.com/office/drawing/2014/main" id="{FB5568CB-F327-477F-9082-56416AF254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565" y="2383388"/>
            <a:ext cx="4973914" cy="3767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111734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57E6BA-82BF-4C47-B902-4923F33F8947}"/>
              </a:ext>
            </a:extLst>
          </p:cNvPr>
          <p:cNvSpPr>
            <a:spLocks noGrp="1"/>
          </p:cNvSpPr>
          <p:nvPr>
            <p:ph type="title"/>
          </p:nvPr>
        </p:nvSpPr>
        <p:spPr/>
        <p:txBody>
          <a:bodyPr/>
          <a:lstStyle/>
          <a:p>
            <a:r>
              <a:rPr lang="es-ES" dirty="0"/>
              <a:t>Historia </a:t>
            </a:r>
            <a:endParaRPr lang="es-US" dirty="0"/>
          </a:p>
        </p:txBody>
      </p:sp>
      <p:sp>
        <p:nvSpPr>
          <p:cNvPr id="7" name="AutoShape 2" descr="ZEUS y Da Vinci: Presente y futuro de la cirugía – CUADERNOS DE ROBÓTICA">
            <a:extLst>
              <a:ext uri="{FF2B5EF4-FFF2-40B4-BE49-F238E27FC236}">
                <a16:creationId xmlns:a16="http://schemas.microsoft.com/office/drawing/2014/main" id="{9802D90F-1BF7-447F-B2E8-1FFFCACE2E5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US"/>
          </a:p>
        </p:txBody>
      </p:sp>
      <p:sp>
        <p:nvSpPr>
          <p:cNvPr id="16" name="CuadroTexto 15">
            <a:extLst>
              <a:ext uri="{FF2B5EF4-FFF2-40B4-BE49-F238E27FC236}">
                <a16:creationId xmlns:a16="http://schemas.microsoft.com/office/drawing/2014/main" id="{B49B03AB-C51D-440B-8383-7DCF31DB4FF2}"/>
              </a:ext>
            </a:extLst>
          </p:cNvPr>
          <p:cNvSpPr txBox="1"/>
          <p:nvPr/>
        </p:nvSpPr>
        <p:spPr>
          <a:xfrm>
            <a:off x="692549" y="2864962"/>
            <a:ext cx="5966139" cy="2923877"/>
          </a:xfrm>
          <a:prstGeom prst="rect">
            <a:avLst/>
          </a:prstGeom>
          <a:noFill/>
        </p:spPr>
        <p:txBody>
          <a:bodyPr wrap="square">
            <a:spAutoFit/>
          </a:bodyPr>
          <a:lstStyle/>
          <a:p>
            <a:r>
              <a:rPr lang="es-ES" dirty="0">
                <a:solidFill>
                  <a:schemeClr val="bg1"/>
                </a:solidFill>
              </a:rPr>
              <a:t> 2000: La empresa norteamericana </a:t>
            </a:r>
            <a:r>
              <a:rPr lang="es-ES" dirty="0" err="1">
                <a:solidFill>
                  <a:schemeClr val="bg1"/>
                </a:solidFill>
              </a:rPr>
              <a:t>Intuitive</a:t>
            </a:r>
            <a:r>
              <a:rPr lang="es-ES" dirty="0">
                <a:solidFill>
                  <a:schemeClr val="bg1"/>
                </a:solidFill>
              </a:rPr>
              <a:t> </a:t>
            </a:r>
            <a:r>
              <a:rPr lang="es-ES" dirty="0" err="1">
                <a:solidFill>
                  <a:schemeClr val="bg1"/>
                </a:solidFill>
              </a:rPr>
              <a:t>Surgical</a:t>
            </a:r>
            <a:r>
              <a:rPr lang="es-ES" dirty="0">
                <a:solidFill>
                  <a:schemeClr val="bg1"/>
                </a:solidFill>
              </a:rPr>
              <a:t> introdujo el sistema quirúrgico Da Vinci que consta de tres componentes: </a:t>
            </a:r>
          </a:p>
          <a:p>
            <a:endParaRPr lang="es-ES" dirty="0">
              <a:solidFill>
                <a:schemeClr val="bg1"/>
              </a:solidFill>
            </a:endParaRPr>
          </a:p>
          <a:p>
            <a:pPr marL="285750" indent="-285750">
              <a:buFont typeface="Arial" panose="020B0604020202020204" pitchFamily="34" charset="0"/>
              <a:buChar char="•"/>
            </a:pPr>
            <a:r>
              <a:rPr lang="es-ES" sz="1600" dirty="0">
                <a:solidFill>
                  <a:schemeClr val="bg1"/>
                </a:solidFill>
              </a:rPr>
              <a:t>El carro de visualización: Aloja un equipo de iluminación dual y cámaras dobles de tres chips. </a:t>
            </a:r>
          </a:p>
          <a:p>
            <a:pPr marL="285750" indent="-285750">
              <a:buFont typeface="Arial" panose="020B0604020202020204" pitchFamily="34" charset="0"/>
              <a:buChar char="•"/>
            </a:pPr>
            <a:r>
              <a:rPr lang="es-ES" sz="1600" dirty="0">
                <a:solidFill>
                  <a:schemeClr val="bg1"/>
                </a:solidFill>
              </a:rPr>
              <a:t>La consola del cirujano: Se compone de dos mandos que controlan brazos robóticos con 7 rangos de movimiento, una computadora y un sistema de imágenes en 3D. </a:t>
            </a:r>
          </a:p>
          <a:p>
            <a:pPr marL="285750" indent="-285750">
              <a:buFont typeface="Arial" panose="020B0604020202020204" pitchFamily="34" charset="0"/>
              <a:buChar char="•"/>
            </a:pPr>
            <a:r>
              <a:rPr lang="es-ES" sz="1600" dirty="0">
                <a:solidFill>
                  <a:schemeClr val="bg1"/>
                </a:solidFill>
              </a:rPr>
              <a:t>El carro móvil: Contiene tres brazos para instrumentos y otro brazo para la cámara.</a:t>
            </a:r>
            <a:endParaRPr lang="es-US" sz="1400" dirty="0">
              <a:solidFill>
                <a:schemeClr val="bg1"/>
              </a:solidFill>
            </a:endParaRPr>
          </a:p>
        </p:txBody>
      </p:sp>
      <p:sp>
        <p:nvSpPr>
          <p:cNvPr id="15" name="AutoShape 6" descr="1: Zeus Robotic Surgical System [1] | Download Scientific Diagram">
            <a:extLst>
              <a:ext uri="{FF2B5EF4-FFF2-40B4-BE49-F238E27FC236}">
                <a16:creationId xmlns:a16="http://schemas.microsoft.com/office/drawing/2014/main" id="{B591F2BE-AF16-461F-A237-C4D98D095555}"/>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US"/>
          </a:p>
        </p:txBody>
      </p:sp>
      <p:pic>
        <p:nvPicPr>
          <p:cNvPr id="16386" name="Picture 2" descr="Can Da Vinci Robotic Surgery Be Regard As Significant Milestone? | by  Madison Fletcher | Tincture">
            <a:extLst>
              <a:ext uri="{FF2B5EF4-FFF2-40B4-BE49-F238E27FC236}">
                <a16:creationId xmlns:a16="http://schemas.microsoft.com/office/drawing/2014/main" id="{31F76553-0856-4320-86E6-A88A8BA7D1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16576" y="2794293"/>
            <a:ext cx="4595103" cy="29945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905118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5FB58F-13DF-470B-9FF8-59B4525AEFE6}"/>
              </a:ext>
            </a:extLst>
          </p:cNvPr>
          <p:cNvSpPr>
            <a:spLocks noGrp="1"/>
          </p:cNvSpPr>
          <p:nvPr>
            <p:ph type="title"/>
          </p:nvPr>
        </p:nvSpPr>
        <p:spPr/>
        <p:txBody>
          <a:bodyPr/>
          <a:lstStyle/>
          <a:p>
            <a:r>
              <a:rPr lang="es-ES" dirty="0"/>
              <a:t>Historia</a:t>
            </a:r>
            <a:endParaRPr lang="es-US" dirty="0"/>
          </a:p>
        </p:txBody>
      </p:sp>
      <p:sp>
        <p:nvSpPr>
          <p:cNvPr id="6" name="CuadroTexto 5">
            <a:extLst>
              <a:ext uri="{FF2B5EF4-FFF2-40B4-BE49-F238E27FC236}">
                <a16:creationId xmlns:a16="http://schemas.microsoft.com/office/drawing/2014/main" id="{F0DB8CD0-CACB-4A53-BB28-B6953B29B256}"/>
              </a:ext>
            </a:extLst>
          </p:cNvPr>
          <p:cNvSpPr txBox="1"/>
          <p:nvPr/>
        </p:nvSpPr>
        <p:spPr>
          <a:xfrm>
            <a:off x="399197" y="2319698"/>
            <a:ext cx="6093724" cy="369332"/>
          </a:xfrm>
          <a:prstGeom prst="rect">
            <a:avLst/>
          </a:prstGeom>
          <a:noFill/>
        </p:spPr>
        <p:txBody>
          <a:bodyPr wrap="square">
            <a:spAutoFit/>
          </a:bodyPr>
          <a:lstStyle/>
          <a:p>
            <a:pPr algn="l"/>
            <a:r>
              <a:rPr lang="es-US" b="1" i="0" dirty="0">
                <a:solidFill>
                  <a:srgbClr val="1A1A1A"/>
                </a:solidFill>
                <a:effectLst/>
                <a:latin typeface="Merriweather"/>
              </a:rPr>
              <a:t>ZEUS Y da Vinci</a:t>
            </a:r>
          </a:p>
        </p:txBody>
      </p:sp>
      <p:sp>
        <p:nvSpPr>
          <p:cNvPr id="8" name="CuadroTexto 7">
            <a:extLst>
              <a:ext uri="{FF2B5EF4-FFF2-40B4-BE49-F238E27FC236}">
                <a16:creationId xmlns:a16="http://schemas.microsoft.com/office/drawing/2014/main" id="{DE3D6FAB-DFD1-4227-972D-886A75B4B15D}"/>
              </a:ext>
            </a:extLst>
          </p:cNvPr>
          <p:cNvSpPr txBox="1"/>
          <p:nvPr/>
        </p:nvSpPr>
        <p:spPr>
          <a:xfrm>
            <a:off x="399197" y="2764093"/>
            <a:ext cx="6093724" cy="2031325"/>
          </a:xfrm>
          <a:prstGeom prst="rect">
            <a:avLst/>
          </a:prstGeom>
          <a:noFill/>
        </p:spPr>
        <p:txBody>
          <a:bodyPr wrap="square">
            <a:spAutoFit/>
          </a:bodyPr>
          <a:lstStyle/>
          <a:p>
            <a:pPr algn="just"/>
            <a:r>
              <a:rPr lang="es-ES" b="0" i="0" dirty="0">
                <a:solidFill>
                  <a:srgbClr val="1A1A1A"/>
                </a:solidFill>
                <a:effectLst/>
                <a:latin typeface="Merriweather"/>
              </a:rPr>
              <a:t>Ambos se caracterizan por la incorporación del sistema de cirugía a control remoto, mediante el cual los cirujanos manejan los mandos del robot a través de una consola, que dota a la operación de una mayor exactitud y una mejor visión y percepción de todo lo que pueda acontecer en ésta.</a:t>
            </a:r>
          </a:p>
          <a:p>
            <a:br>
              <a:rPr lang="es-ES" dirty="0"/>
            </a:br>
            <a:endParaRPr lang="es-US" dirty="0"/>
          </a:p>
        </p:txBody>
      </p:sp>
      <p:sp>
        <p:nvSpPr>
          <p:cNvPr id="10" name="CuadroTexto 9">
            <a:extLst>
              <a:ext uri="{FF2B5EF4-FFF2-40B4-BE49-F238E27FC236}">
                <a16:creationId xmlns:a16="http://schemas.microsoft.com/office/drawing/2014/main" id="{B79715F6-1E2D-4BEF-BCAF-EB9A0E51AFBA}"/>
              </a:ext>
            </a:extLst>
          </p:cNvPr>
          <p:cNvSpPr txBox="1"/>
          <p:nvPr/>
        </p:nvSpPr>
        <p:spPr>
          <a:xfrm>
            <a:off x="399197" y="4450266"/>
            <a:ext cx="6093724" cy="2031325"/>
          </a:xfrm>
          <a:prstGeom prst="rect">
            <a:avLst/>
          </a:prstGeom>
          <a:noFill/>
        </p:spPr>
        <p:txBody>
          <a:bodyPr wrap="square">
            <a:spAutoFit/>
          </a:bodyPr>
          <a:lstStyle/>
          <a:p>
            <a:r>
              <a:rPr lang="es-ES" dirty="0">
                <a:solidFill>
                  <a:srgbClr val="1A1A1A"/>
                </a:solidFill>
                <a:latin typeface="Merriweather"/>
              </a:rPr>
              <a:t>El </a:t>
            </a:r>
            <a:r>
              <a:rPr lang="es-ES" b="0" i="0" dirty="0">
                <a:solidFill>
                  <a:srgbClr val="1A1A1A"/>
                </a:solidFill>
                <a:effectLst/>
                <a:latin typeface="Merriweather"/>
              </a:rPr>
              <a:t>hito más destacado tiene de Zeus tiene lugar en el año 2001, cuando se realizó la primera operación transoceánica. ZEUS operó a una mujer de 68 años en el Hospital Civil del Este de Francia, Estrasburgo, pero el equipo de cirujanos que controlaba la consola estaba situado en el Mount Sinaí Medical Center de Nueva York, a aproximadamente 7000km de distancia de la ciudad francesa.</a:t>
            </a:r>
            <a:endParaRPr lang="es-US" dirty="0"/>
          </a:p>
        </p:txBody>
      </p:sp>
      <p:sp>
        <p:nvSpPr>
          <p:cNvPr id="16" name="CuadroTexto 15">
            <a:extLst>
              <a:ext uri="{FF2B5EF4-FFF2-40B4-BE49-F238E27FC236}">
                <a16:creationId xmlns:a16="http://schemas.microsoft.com/office/drawing/2014/main" id="{E10BBE15-DA8B-4CF8-B134-2FCCAA12D9EE}"/>
              </a:ext>
            </a:extLst>
          </p:cNvPr>
          <p:cNvSpPr txBox="1"/>
          <p:nvPr/>
        </p:nvSpPr>
        <p:spPr>
          <a:xfrm>
            <a:off x="7496033" y="2504364"/>
            <a:ext cx="3886200" cy="3139321"/>
          </a:xfrm>
          <a:prstGeom prst="rect">
            <a:avLst/>
          </a:prstGeom>
          <a:noFill/>
        </p:spPr>
        <p:txBody>
          <a:bodyPr wrap="square">
            <a:spAutoFit/>
          </a:bodyPr>
          <a:lstStyle/>
          <a:p>
            <a:r>
              <a:rPr lang="es-ES" b="0" i="0" dirty="0">
                <a:solidFill>
                  <a:srgbClr val="1A1A1A"/>
                </a:solidFill>
                <a:effectLst/>
                <a:latin typeface="Merriweather"/>
              </a:rPr>
              <a:t>No obstante, las últimas novedades en robótica quirúrgica vienen de la mano del robot da Vinci, el cual lleva aportando perfeccionamientos y mejoras a la disciplina desde 1997.Sin ir más lejos, en los últimos 6 años, ha sido capaz de efectuar intervenciones de tal rango como un </a:t>
            </a:r>
            <a:r>
              <a:rPr lang="es-ES" b="0" i="0" dirty="0" err="1">
                <a:solidFill>
                  <a:srgbClr val="1A1A1A"/>
                </a:solidFill>
                <a:effectLst/>
                <a:latin typeface="Merriweather"/>
              </a:rPr>
              <a:t>by-pass</a:t>
            </a:r>
            <a:r>
              <a:rPr lang="es-ES" b="0" i="0" dirty="0">
                <a:solidFill>
                  <a:srgbClr val="1A1A1A"/>
                </a:solidFill>
                <a:effectLst/>
                <a:latin typeface="Merriweather"/>
              </a:rPr>
              <a:t> </a:t>
            </a:r>
            <a:r>
              <a:rPr lang="es-ES" b="0" i="0" dirty="0" err="1">
                <a:solidFill>
                  <a:srgbClr val="1A1A1A"/>
                </a:solidFill>
                <a:effectLst/>
                <a:latin typeface="Merriweather"/>
              </a:rPr>
              <a:t>aorto</a:t>
            </a:r>
            <a:r>
              <a:rPr lang="es-ES" b="0" i="0" dirty="0">
                <a:solidFill>
                  <a:srgbClr val="1A1A1A"/>
                </a:solidFill>
                <a:effectLst/>
                <a:latin typeface="Merriweather"/>
              </a:rPr>
              <a:t>-coronario, una de las cirugías cardíacas más complejas, obteniendo con exitosos resultados.</a:t>
            </a:r>
            <a:endParaRPr lang="es-US" dirty="0"/>
          </a:p>
        </p:txBody>
      </p:sp>
    </p:spTree>
    <p:extLst>
      <p:ext uri="{BB962C8B-B14F-4D97-AF65-F5344CB8AC3E}">
        <p14:creationId xmlns:p14="http://schemas.microsoft.com/office/powerpoint/2010/main" val="300620260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592D66-7CCE-4AF0-9A13-63D404D91C26}"/>
              </a:ext>
            </a:extLst>
          </p:cNvPr>
          <p:cNvSpPr>
            <a:spLocks noGrp="1"/>
          </p:cNvSpPr>
          <p:nvPr>
            <p:ph type="title"/>
          </p:nvPr>
        </p:nvSpPr>
        <p:spPr/>
        <p:txBody>
          <a:bodyPr/>
          <a:lstStyle/>
          <a:p>
            <a:br>
              <a:rPr lang="es-ES" dirty="0"/>
            </a:br>
            <a:r>
              <a:rPr lang="es-US" dirty="0"/>
              <a:t>Historia</a:t>
            </a:r>
          </a:p>
        </p:txBody>
      </p:sp>
      <p:sp>
        <p:nvSpPr>
          <p:cNvPr id="6" name="CuadroTexto 5">
            <a:extLst>
              <a:ext uri="{FF2B5EF4-FFF2-40B4-BE49-F238E27FC236}">
                <a16:creationId xmlns:a16="http://schemas.microsoft.com/office/drawing/2014/main" id="{71D419F9-4974-43C2-9D67-EF73943B8D16}"/>
              </a:ext>
            </a:extLst>
          </p:cNvPr>
          <p:cNvSpPr txBox="1"/>
          <p:nvPr/>
        </p:nvSpPr>
        <p:spPr>
          <a:xfrm>
            <a:off x="6446296" y="2533516"/>
            <a:ext cx="5121525" cy="3139321"/>
          </a:xfrm>
          <a:prstGeom prst="rect">
            <a:avLst/>
          </a:prstGeom>
          <a:noFill/>
        </p:spPr>
        <p:txBody>
          <a:bodyPr wrap="square">
            <a:spAutoFit/>
          </a:bodyPr>
          <a:lstStyle/>
          <a:p>
            <a:r>
              <a:rPr lang="es-US" dirty="0">
                <a:solidFill>
                  <a:schemeClr val="bg1"/>
                </a:solidFill>
              </a:rPr>
              <a:t>2016: Un robot autónomo, llamado "STAR" (Smart </a:t>
            </a:r>
            <a:r>
              <a:rPr lang="es-US" dirty="0" err="1">
                <a:solidFill>
                  <a:schemeClr val="bg1"/>
                </a:solidFill>
              </a:rPr>
              <a:t>Tissue</a:t>
            </a:r>
            <a:r>
              <a:rPr lang="es-US" dirty="0">
                <a:solidFill>
                  <a:schemeClr val="bg1"/>
                </a:solidFill>
              </a:rPr>
              <a:t> </a:t>
            </a:r>
            <a:r>
              <a:rPr lang="es-US" dirty="0" err="1">
                <a:solidFill>
                  <a:schemeClr val="bg1"/>
                </a:solidFill>
              </a:rPr>
              <a:t>Autonomous</a:t>
            </a:r>
            <a:r>
              <a:rPr lang="es-US" dirty="0">
                <a:solidFill>
                  <a:schemeClr val="bg1"/>
                </a:solidFill>
              </a:rPr>
              <a:t> Robot - Robot autónomo inteligente para tejidos), logró unir, bajo la supervisión de un cirujano, dos partes del intestino de un cerdo, un gran avance en la delicada cirugía de tejidos blandos del organismo, donde el riesgo de complicaciones es elevado. ○ La máquina maneja sutura por sí misma, superando los resultados obtenidos por médicos veteranos, e incluso otros ayudantes robóticos, como el robot médico Da Vinci.</a:t>
            </a:r>
          </a:p>
        </p:txBody>
      </p:sp>
      <p:sp>
        <p:nvSpPr>
          <p:cNvPr id="8" name="CuadroTexto 7">
            <a:extLst>
              <a:ext uri="{FF2B5EF4-FFF2-40B4-BE49-F238E27FC236}">
                <a16:creationId xmlns:a16="http://schemas.microsoft.com/office/drawing/2014/main" id="{6BD104BF-03F1-44E1-92C5-204BCB434ED6}"/>
              </a:ext>
            </a:extLst>
          </p:cNvPr>
          <p:cNvSpPr txBox="1"/>
          <p:nvPr/>
        </p:nvSpPr>
        <p:spPr>
          <a:xfrm>
            <a:off x="863221" y="2533516"/>
            <a:ext cx="4882485" cy="3139321"/>
          </a:xfrm>
          <a:prstGeom prst="rect">
            <a:avLst/>
          </a:prstGeom>
          <a:noFill/>
        </p:spPr>
        <p:txBody>
          <a:bodyPr wrap="square">
            <a:spAutoFit/>
          </a:bodyPr>
          <a:lstStyle/>
          <a:p>
            <a:r>
              <a:rPr lang="es-US" dirty="0">
                <a:solidFill>
                  <a:schemeClr val="bg1"/>
                </a:solidFill>
              </a:rPr>
              <a:t>2015: Estudiantes de la Universidad de Washington en Seattle logran comprometer un </a:t>
            </a:r>
            <a:r>
              <a:rPr lang="es-US" dirty="0" err="1">
                <a:solidFill>
                  <a:schemeClr val="bg1"/>
                </a:solidFill>
              </a:rPr>
              <a:t>telerobot</a:t>
            </a:r>
            <a:r>
              <a:rPr lang="es-US" dirty="0">
                <a:solidFill>
                  <a:schemeClr val="bg1"/>
                </a:solidFill>
              </a:rPr>
              <a:t> médico durante una operación simulada a </a:t>
            </a:r>
            <a:r>
              <a:rPr lang="es-US" dirty="0" err="1">
                <a:solidFill>
                  <a:schemeClr val="bg1"/>
                </a:solidFill>
              </a:rPr>
              <a:t>ﬁn</a:t>
            </a:r>
            <a:r>
              <a:rPr lang="es-US" dirty="0">
                <a:solidFill>
                  <a:schemeClr val="bg1"/>
                </a:solidFill>
              </a:rPr>
              <a:t> de examinar los peligros especiales asociados con la tecnología de comunicaciones que se usa en la telecirugía. ○ En particular, muestran cómo un atacante malicioso es capaz de alterar el comportamiento de un </a:t>
            </a:r>
            <a:r>
              <a:rPr lang="es-US" dirty="0" err="1">
                <a:solidFill>
                  <a:schemeClr val="bg1"/>
                </a:solidFill>
              </a:rPr>
              <a:t>telerobot</a:t>
            </a:r>
            <a:r>
              <a:rPr lang="es-US" dirty="0">
                <a:solidFill>
                  <a:schemeClr val="bg1"/>
                </a:solidFill>
              </a:rPr>
              <a:t> durante la cirugía e incluso hacerse con el control de un robot de este tipo. </a:t>
            </a:r>
          </a:p>
        </p:txBody>
      </p:sp>
    </p:spTree>
    <p:extLst>
      <p:ext uri="{BB962C8B-B14F-4D97-AF65-F5344CB8AC3E}">
        <p14:creationId xmlns:p14="http://schemas.microsoft.com/office/powerpoint/2010/main" val="126321642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E18FD2F7-4B53-4173-AF00-A92AF145A56F}"/>
              </a:ext>
            </a:extLst>
          </p:cNvPr>
          <p:cNvSpPr txBox="1"/>
          <p:nvPr/>
        </p:nvSpPr>
        <p:spPr>
          <a:xfrm>
            <a:off x="775079" y="2703983"/>
            <a:ext cx="10860207" cy="2862322"/>
          </a:xfrm>
          <a:prstGeom prst="rect">
            <a:avLst/>
          </a:prstGeom>
          <a:noFill/>
        </p:spPr>
        <p:txBody>
          <a:bodyPr wrap="square">
            <a:spAutoFit/>
          </a:bodyPr>
          <a:lstStyle/>
          <a:p>
            <a:r>
              <a:rPr lang="es-ES" sz="2000" b="0" i="0" dirty="0">
                <a:solidFill>
                  <a:srgbClr val="1A1A1A"/>
                </a:solidFill>
                <a:effectLst>
                  <a:outerShdw blurRad="38100" dist="38100" dir="2700000" algn="tl">
                    <a:srgbClr val="000000">
                      <a:alpha val="43137"/>
                    </a:srgbClr>
                  </a:outerShdw>
                </a:effectLst>
                <a:latin typeface="Merriweather"/>
              </a:rPr>
              <a:t>Parece claro que el futuro a largo plazo de la cirugía depende en gran medida del uso generalizado de robots para la ejecución de las mismas.</a:t>
            </a:r>
          </a:p>
          <a:p>
            <a:endParaRPr lang="es-ES" sz="2000" dirty="0">
              <a:solidFill>
                <a:srgbClr val="1A1A1A"/>
              </a:solidFill>
              <a:effectLst>
                <a:outerShdw blurRad="38100" dist="38100" dir="2700000" algn="tl">
                  <a:srgbClr val="000000">
                    <a:alpha val="43137"/>
                  </a:srgbClr>
                </a:outerShdw>
              </a:effectLst>
              <a:latin typeface="Merriweather"/>
            </a:endParaRPr>
          </a:p>
          <a:p>
            <a:r>
              <a:rPr lang="es-ES" sz="2000" b="0" i="0" dirty="0">
                <a:solidFill>
                  <a:srgbClr val="1A1A1A"/>
                </a:solidFill>
                <a:effectLst>
                  <a:outerShdw blurRad="38100" dist="38100" dir="2700000" algn="tl">
                    <a:srgbClr val="000000">
                      <a:alpha val="43137"/>
                    </a:srgbClr>
                  </a:outerShdw>
                </a:effectLst>
                <a:latin typeface="Merriweather"/>
              </a:rPr>
              <a:t> Aunque ya van más de treinta años desde que el primer robot intervino quirúrgicamente a una persona, solo se han dado los primeros pasos. </a:t>
            </a:r>
          </a:p>
          <a:p>
            <a:endParaRPr lang="es-ES" sz="2000" dirty="0">
              <a:solidFill>
                <a:srgbClr val="1A1A1A"/>
              </a:solidFill>
              <a:effectLst>
                <a:outerShdw blurRad="38100" dist="38100" dir="2700000" algn="tl">
                  <a:srgbClr val="000000">
                    <a:alpha val="43137"/>
                  </a:srgbClr>
                </a:outerShdw>
              </a:effectLst>
              <a:latin typeface="Merriweather"/>
            </a:endParaRPr>
          </a:p>
          <a:p>
            <a:r>
              <a:rPr lang="es-ES" sz="2000" b="0" i="0" dirty="0">
                <a:solidFill>
                  <a:srgbClr val="1A1A1A"/>
                </a:solidFill>
                <a:effectLst>
                  <a:outerShdw blurRad="38100" dist="38100" dir="2700000" algn="tl">
                    <a:srgbClr val="000000">
                      <a:alpha val="43137"/>
                    </a:srgbClr>
                  </a:outerShdw>
                </a:effectLst>
                <a:latin typeface="Merriweather"/>
              </a:rPr>
              <a:t>De momento, la realización de cirugía entre estaciones de trabajo remotas es una realidad. Los robots, como se ha venido diciendo hasta ahora, contribuyen a facilitar las vidas de las personas. Pero además, en este caso, a salvarlas.</a:t>
            </a:r>
            <a:endParaRPr lang="es-US" sz="20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683033211"/>
      </p:ext>
    </p:extLst>
  </p:cSld>
  <p:clrMapOvr>
    <a:masterClrMapping/>
  </p:clrMapOvr>
</p:sld>
</file>

<file path=ppt/theme/theme1.xml><?xml version="1.0" encoding="utf-8"?>
<a:theme xmlns:a="http://schemas.openxmlformats.org/drawingml/2006/main" name="Berlín">
  <a:themeElements>
    <a:clrScheme name="Berlin">
      <a:dk1>
        <a:sysClr val="windowText" lastClr="000000"/>
      </a:dk1>
      <a:lt1>
        <a:sysClr val="window" lastClr="FFFFFF"/>
      </a:lt1>
      <a:dk2>
        <a:srgbClr val="6A9C41"/>
      </a:dk2>
      <a:lt2>
        <a:srgbClr val="E7E6E6"/>
      </a:lt2>
      <a:accent1>
        <a:srgbClr val="A7D535"/>
      </a:accent1>
      <a:accent2>
        <a:srgbClr val="EACA4F"/>
      </a:accent2>
      <a:accent3>
        <a:srgbClr val="FD9850"/>
      </a:accent3>
      <a:accent4>
        <a:srgbClr val="F46442"/>
      </a:accent4>
      <a:accent5>
        <a:srgbClr val="54D289"/>
      </a:accent5>
      <a:accent6>
        <a:srgbClr val="6AD8CB"/>
      </a:accent6>
      <a:hlink>
        <a:srgbClr val="CAFB50"/>
      </a:hlink>
      <a:folHlink>
        <a:srgbClr val="DEFF8B"/>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92000"/>
                <a:satMod val="200000"/>
                <a:lumMod val="138000"/>
              </a:schemeClr>
            </a:gs>
            <a:gs pos="50000">
              <a:schemeClr val="phClr">
                <a:shade val="100000"/>
                <a:hueMod val="100000"/>
                <a:satMod val="110000"/>
                <a:lumMod val="130000"/>
              </a:schemeClr>
            </a:gs>
            <a:gs pos="100000">
              <a:schemeClr val="phClr">
                <a:shade val="78000"/>
                <a:hueMod val="106000"/>
                <a:satMod val="120000"/>
                <a:lumMod val="7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B587E4A9-1405-4B4F-8BC3-512EE08D2EBF}"/>
    </a:ext>
  </a:extLst>
</a:theme>
</file>

<file path=docProps/app.xml><?xml version="1.0" encoding="utf-8"?>
<Properties xmlns="http://schemas.openxmlformats.org/officeDocument/2006/extended-properties" xmlns:vt="http://schemas.openxmlformats.org/officeDocument/2006/docPropsVTypes">
  <Template>TM04033917[[fn=Berlín]]</Template>
  <TotalTime>787</TotalTime>
  <Words>7550</Words>
  <Application>Microsoft Office PowerPoint</Application>
  <PresentationFormat>Panorámica</PresentationFormat>
  <Paragraphs>381</Paragraphs>
  <Slides>64</Slides>
  <Notes>0</Notes>
  <HiddenSlides>0</HiddenSlides>
  <MMClips>0</MMClips>
  <ScaleCrop>false</ScaleCrop>
  <HeadingPairs>
    <vt:vector size="6" baseType="variant">
      <vt:variant>
        <vt:lpstr>Fuentes usadas</vt:lpstr>
      </vt:variant>
      <vt:variant>
        <vt:i4>14</vt:i4>
      </vt:variant>
      <vt:variant>
        <vt:lpstr>Tema</vt:lpstr>
      </vt:variant>
      <vt:variant>
        <vt:i4>1</vt:i4>
      </vt:variant>
      <vt:variant>
        <vt:lpstr>Títulos de diapositiva</vt:lpstr>
      </vt:variant>
      <vt:variant>
        <vt:i4>64</vt:i4>
      </vt:variant>
    </vt:vector>
  </HeadingPairs>
  <TitlesOfParts>
    <vt:vector size="79" baseType="lpstr">
      <vt:lpstr>Arial</vt:lpstr>
      <vt:lpstr>Arial</vt:lpstr>
      <vt:lpstr>Calibri</vt:lpstr>
      <vt:lpstr>ff3</vt:lpstr>
      <vt:lpstr>Inika</vt:lpstr>
      <vt:lpstr>louis_george_caferegular</vt:lpstr>
      <vt:lpstr>Merriweather</vt:lpstr>
      <vt:lpstr>Roboto</vt:lpstr>
      <vt:lpstr>Segoe UI Historic</vt:lpstr>
      <vt:lpstr>Tahoma</vt:lpstr>
      <vt:lpstr>Times New Roman</vt:lpstr>
      <vt:lpstr>Trebuchet MS</vt:lpstr>
      <vt:lpstr>Verdana</vt:lpstr>
      <vt:lpstr>Verdana</vt:lpstr>
      <vt:lpstr>Berlín</vt:lpstr>
      <vt:lpstr>Telemedicina Tema #4</vt:lpstr>
      <vt:lpstr>INDICE DE CONTENIDOS</vt:lpstr>
      <vt:lpstr>¿Qué son los sistemas de telemedicina? </vt:lpstr>
      <vt:lpstr>Como operan básicamente  </vt:lpstr>
      <vt:lpstr>Beneﬁcios de un sistema de telemedicina: </vt:lpstr>
      <vt:lpstr>Beneﬁcios de un sistema de telemedicina: </vt:lpstr>
      <vt:lpstr>Beneﬁcios de un sistema de telemedicina: </vt:lpstr>
      <vt:lpstr>Objetivos de los sistemas de telemedicina: </vt:lpstr>
      <vt:lpstr>Requerimientos que debe cubrir un sistema de telemedicina:</vt:lpstr>
      <vt:lpstr>Elementos que componen a un sistema de telemedicina: </vt:lpstr>
      <vt:lpstr>Estándares Internacionales de Sistemas de                           telemedicina             </vt:lpstr>
      <vt:lpstr>Estándares Internacionales de Sistemas de                           telemedicina </vt:lpstr>
      <vt:lpstr>Estándares Internacionales de Sistemas de                           telemedicina </vt:lpstr>
      <vt:lpstr>Estándares Internacionales de Sistemas de                           telemedicina </vt:lpstr>
      <vt:lpstr>Estándares Internacionales de Sistemas de                           telemedicina </vt:lpstr>
      <vt:lpstr>Estándares Internacionales de Sistemas de                           telemedicina </vt:lpstr>
      <vt:lpstr>Presentación de PowerPoint</vt:lpstr>
      <vt:lpstr>Presentación de PowerPoint</vt:lpstr>
      <vt:lpstr>Presentación de PowerPoint</vt:lpstr>
      <vt:lpstr>            Desarrollo de Sistemas de telemedicina            Principios de desarrollo de los sistemas de telemedicina</vt:lpstr>
      <vt:lpstr>Presentación de PowerPoint</vt:lpstr>
      <vt:lpstr>Desarrollo de Sistemas de telemedicina Principios de desarrollo de los sistemas de telemedicina</vt:lpstr>
      <vt:lpstr>Desarrollo de Sistemas de telemedicina Principios de desarrollo de los sistemas de telemedicina</vt:lpstr>
      <vt:lpstr>Barreras a la implementación de un               sistema de telemedicina:  </vt:lpstr>
      <vt:lpstr>Barreras a la implementación de un               sistema de telemedicina:  </vt:lpstr>
      <vt:lpstr>Barreras a la implementación de un               sistema de telemedicina:</vt:lpstr>
      <vt:lpstr>Barreras a la implementación de un               sistema de telemedicina:</vt:lpstr>
      <vt:lpstr>Facilitadores para el desarrollo de un sistema de telemedicina</vt:lpstr>
      <vt:lpstr>Facilitadores para el desarrollo de un sistema de telemedicina</vt:lpstr>
      <vt:lpstr>Aspectos legales, regulatorios y de seguridad de los sistemas de telemedicina </vt:lpstr>
      <vt:lpstr>Aspectos tecnológicos y de infraestructura de los sistemas de telemedicina</vt:lpstr>
      <vt:lpstr>Aspectos tecnológicos y de infraestructura de los sistemas de telemedicina</vt:lpstr>
      <vt:lpstr>Aspectos de recursos humanos sobre los sistemas de telemedicina</vt:lpstr>
      <vt:lpstr>Aspectos ﬁnancieros de los sistemas de telemedicina </vt:lpstr>
      <vt:lpstr>Seguridad sobre los servicios de sistemas de telemedicina </vt:lpstr>
      <vt:lpstr>Análisis de vulnerabilidades y riesgos de los sistemas de telemedicina</vt:lpstr>
      <vt:lpstr>Análisis de vulnerabilidades y riesgos de los sistemas de telemedicina</vt:lpstr>
      <vt:lpstr>Análisis de vulnerabilidades y riesgos de los sistemas de telemedicina</vt:lpstr>
      <vt:lpstr>Modelos de evaluación útiles para los sistemas de telemedicina</vt:lpstr>
      <vt:lpstr>Modelos de evaluación útiles para los sistemas de telemedicina</vt:lpstr>
      <vt:lpstr>Historia clínicas electrónicas</vt:lpstr>
      <vt:lpstr>Historia clínicas electrónicas</vt:lpstr>
      <vt:lpstr>Historia clínicas electrónicas</vt:lpstr>
      <vt:lpstr>Historia clínicas electrónicas</vt:lpstr>
      <vt:lpstr>Amenazas a las historias clínicas electrónicas</vt:lpstr>
      <vt:lpstr>Responsabilidad legal en historias clínicas electrónicas</vt:lpstr>
      <vt:lpstr>Ejemplos de historias clínicas electrónicas</vt:lpstr>
      <vt:lpstr>Ejemplos de historias clínicas electrónicas</vt:lpstr>
      <vt:lpstr>Ejemplos de historias clínicas electrónicas</vt:lpstr>
      <vt:lpstr>Estándares de las historias clínicas electrónicas</vt:lpstr>
      <vt:lpstr>Estándares de las historias clínicas electrónicas</vt:lpstr>
      <vt:lpstr>Estándares de las historias clínicas electrónicas</vt:lpstr>
      <vt:lpstr>Estándares de las historias clínicas electrónicas</vt:lpstr>
      <vt:lpstr>La Telecirugía</vt:lpstr>
      <vt:lpstr>Tipos de Telecirugía</vt:lpstr>
      <vt:lpstr>Ventajas de la Telecirugia </vt:lpstr>
      <vt:lpstr>La telerrobótica en el ambiente académico </vt:lpstr>
      <vt:lpstr>Historia </vt:lpstr>
      <vt:lpstr>Historia </vt:lpstr>
      <vt:lpstr>Historia </vt:lpstr>
      <vt:lpstr>Historia </vt:lpstr>
      <vt:lpstr>Historia</vt:lpstr>
      <vt:lpstr> Historia</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Telemedicina Tema #4</dc:title>
  <dc:creator>usuario</dc:creator>
  <cp:lastModifiedBy>usuario</cp:lastModifiedBy>
  <cp:revision>66</cp:revision>
  <dcterms:created xsi:type="dcterms:W3CDTF">2020-11-22T16:24:01Z</dcterms:created>
  <dcterms:modified xsi:type="dcterms:W3CDTF">2020-11-23T05:31:59Z</dcterms:modified>
</cp:coreProperties>
</file>